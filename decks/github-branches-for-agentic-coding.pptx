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58499ad-4a3e-46f8-5c2f-a4596e56cf85}">
          <p14:sldIdLst>
            <p14:sldId id="256"/>
          </p14:sldIdLst>
        </p14:section>
        <p14:section name="Foundations" id="{b23c91e4-c729-b494-a501-aa914dad2856}">
          <p14:sldIdLst>
            <p14:sldId id="257"/>
            <p14:sldId id="258"/>
          </p14:sldIdLst>
        </p14:section>
        <p14:section name="The workflow" id="{0681a731-1b2e-b2e6-dd45-aa9f541f4b1b}">
          <p14:sldIdLst>
            <p14:sldId id="259"/>
            <p14:sldId id="260"/>
            <p14:sldId id="261"/>
            <p14:sldId id="262"/>
          </p14:sldIdLst>
        </p14:section>
        <p14:section name="Review and agents" id="{55703447-07d8-77a3-a387-3f8eea865311}">
          <p14:sldIdLst>
            <p14:sldId id="263"/>
            <p14:sldId id="264"/>
            <p14:sldId id="265"/>
          </p14:sldIdLst>
        </p14:section>
        <p14:section name="Automation" id="{4956869e-0f61-b57e-81f9-ee5d409ede57}">
          <p14:sldIdLst>
            <p14:sldId id="266"/>
          </p14:sldIdLst>
        </p14:section>
        <p14:section name="Close" id="{d621e332-155e-08ae-c090-1cb1c6abf7d7}">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deck assumes you have already cloned a repo, made commits, and pushed and pulled. Today we add one concept, branches, and connect it to the way you will work with Claude Code. By the end you should be able to start every agentic coding task on its own branch, review what the agent did, and merge or throw it away with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pain. Ask: has a notebook ever worked yesterday and not today? On a single line of history there is no safe place to experiment, and when an agent can rewrite twenty files in a minute, that risk is real. Branches solve all three problems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insight: a branch is a label, not a copy. Demonstrate live with git switch -c and then git log --oneline --graph --all; nothing changes except a new label. HEAD is simply the label you are standing on, which is why the next commit extends that branch and no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loop students will run dozens of times. Walk through it live on a toy repo. Emphasize step one: always branch from a fresh main, or you will merge stale code later. Step five matters too; a merged branch that is never deleted becomes clutter.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reference slide; students will come back to it. The two to drill are git switch -c and git diff main...feature/x, because that diff is the review step for agent-written code. Point out the three-dot form: it shows only what the branch added, not what main gained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Demystify conflicts: they are not errors, they are Git asking a question it cannot answer. Show one live. The three-step fix is the same every time. Note that an agent is a good partner here: ask it to explain the intent of both sides before deciding, but make the decision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habits prevent most of the misery people associate with Git. The naming convention is especially useful with agents: when Claude Code lists or creates branches, the prefix tells both of you what kind of work it holds. Rebasing is a cleaner alternative to merging main in; mention it, but do not teach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pull request is a conversation wrapped around a diff. Students often think PRs are only for teams; reframe them as the moment of review, which matters most when an agent wrote the code. The gh CLI makes the whole PR lifecycle scriptable, and Claude Code can drive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deck builds toward. The loop is the ordinary branch workflow with an agent doing the typing. Two things change: review becomes mandatory rather than optional, and discard becomes a normal outcome rather than a failure. Worktrees are how you run two Claude Code sessions on two tasks without them stepping on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fear Git because they fear losing work. Show them the four situations and the four fixes. The rule of thumb: anything not yet pushed can be rewritten freely; anything already on GitHub gets a revert, not a rewrite. git status before every destructive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CI/CD is the reason branches matter beyond personal tidiness. Once main is protected and checks are required, the branch-and-PR workflow is enforced by the platform, not by discipline. For data science projects, the checks might be pytest, a linter, and a quick data-validation script. Claude Code can write the workflow; students should read it like any other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a task, not a summary. The exercise takes about fifteen minutes and exercises every command in the deck. If time allows, have students pair up and review each other's pull request on GitHub before merging. The next session can add branch protection and a real GitHub Actions workflow to their project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in the order to read them. The GitHub Docs branches reference covers concepts and protected branches; GitHub Flow is the step-by-step collaboration workflow this deck follows; Pro Git chapter 3 is the deeper mechanical explanation, starting from the same movable-pointer idea as slide 3. All three are free and current.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6949440" cy="16459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731520" y="3886200"/>
            <a:ext cx="6583680" cy="9144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txBox="1"/>
          <p:nvPr/>
        </p:nvSpPr>
        <p:spPr>
          <a:xfrm>
            <a:off x="548640" y="6382512"/>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GitHub Branches for Agentic Coding</a:t>
            </a:r>
            <a:endParaRPr lang="en-US" sz="10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cs.github.com/en/pull-requests/reference/branches" TargetMode="External"/><Relationship Id="rId2" Type="http://schemas.openxmlformats.org/officeDocument/2006/relationships/hyperlink" Target="https://docs.github.com/en/get-started/using-github/github-flow" TargetMode="External"/><Relationship Id="rId3" Type="http://schemas.openxmlformats.org/officeDocument/2006/relationships/hyperlink" Target="https://git-scm.com/book/en/v2/Git-Branching-Branches-in-a-Nutshell" TargetMode="Externa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txBox="1"/>
          <p:nvPr/>
        </p:nvSpPr>
        <p:spPr>
          <a:xfrm>
            <a:off x="731520" y="1691640"/>
            <a:ext cx="6949440" cy="320040"/>
          </a:xfrm>
          <a:prstGeom prst="rect">
            <a:avLst/>
          </a:prstGeom>
          <a:noFill/>
          <a:ln/>
        </p:spPr>
        <p:txBody>
          <a:bodyPr wrap="square" lIns="0" tIns="0" rIns="0" bIns="0" rtlCol="0" anchor="ctr"/>
          <a:lstStyle/>
          <a:p>
            <a:pPr indent="0" marL="0">
              <a:buNone/>
            </a:pPr>
            <a:r>
              <a:rPr lang="en-US" sz="1200" b="1" spc="200" kern="0" dirty="0">
                <a:solidFill>
                  <a:schemeClr val="accent3"/>
                </a:solidFill>
              </a:rPr>
              <a:t>A TUTORIAL FOR DATA SCIENCE STUDENTS WORKING WITH CLAUDE CODE</a:t>
            </a:r>
            <a:endParaRPr lang="en-US" sz="1200" dirty="0"/>
          </a:p>
        </p:txBody>
      </p:sp>
      <p:sp>
        <p:nvSpPr>
          <p:cNvPr id="3" name="Text 0"/>
          <p:cNvSpPr/>
          <p:nvPr>
            <p:ph idx="100" type="title" hasCustomPrompt="1"/>
          </p:nvPr>
        </p:nvSpPr>
        <p:spPr>
          <a:xfrm>
            <a:off x="731520" y="2103120"/>
            <a:ext cx="6949440" cy="1645920"/>
          </a:xfrm>
          <a:prstGeom prst="rect">
            <a:avLst/>
          </a:prstGeom>
          <a:noFill/>
          <a:ln/>
        </p:spPr>
        <p:txBody>
          <a:bodyPr wrap="square" lIns="0" tIns="0" rIns="0" bIns="0" rtlCol="0" anchor="b"/>
          <a:lstStyle/>
          <a:p>
            <a:pPr algn="l" indent="0" marL="0">
              <a:buNone/>
            </a:pPr>
            <a:r>
              <a:rPr lang="en-US" sz="4400" b="1" dirty="0">
                <a:solidFill>
                  <a:schemeClr val="tx1"/>
                </a:solidFill>
              </a:rPr>
              <a:t>GitHub Branches for Agentic Coding</a:t>
            </a:r>
            <a:endParaRPr lang="en-US" sz="4400" dirty="0"/>
          </a:p>
        </p:txBody>
      </p:sp>
      <p:sp>
        <p:nvSpPr>
          <p:cNvPr id="4" name="Text 0"/>
          <p:cNvSpPr/>
          <p:nvPr>
            <p:ph idx="101" type="body" hasCustomPrompt="1"/>
          </p:nvPr>
        </p:nvSpPr>
        <p:spPr>
          <a:xfrm>
            <a:off x="731520" y="3886200"/>
            <a:ext cx="6583680" cy="914400"/>
          </a:xfrm>
          <a:prstGeom prst="rect">
            <a:avLst/>
          </a:prstGeom>
          <a:noFill/>
          <a:ln/>
        </p:spPr>
        <p:txBody>
          <a:bodyPr wrap="square" lIns="0" tIns="0" rIns="0" bIns="0" rtlCol="0" anchor="t"/>
          <a:lstStyle/>
          <a:p>
            <a:pPr algn="l" indent="0" marL="0">
              <a:buNone/>
            </a:pPr>
            <a:r>
              <a:rPr lang="en-US" sz="2000" dirty="0">
                <a:solidFill>
                  <a:schemeClr val="tx2"/>
                </a:solidFill>
              </a:rPr>
              <a:t>Work in parallel, experiment safely, and keep main as the version you trust</a:t>
            </a:r>
            <a:endParaRPr lang="en-US" sz="2000" dirty="0"/>
          </a:p>
        </p:txBody>
      </p:sp>
      <p:sp>
        <p:nvSpPr>
          <p:cNvPr id="5" name="text 2"/>
          <p:cNvSpPr txBox="1"/>
          <p:nvPr/>
        </p:nvSpPr>
        <p:spPr>
          <a:xfrm>
            <a:off x="731520" y="5806440"/>
            <a:ext cx="6400800" cy="320040"/>
          </a:xfrm>
          <a:prstGeom prst="rect">
            <a:avLst/>
          </a:prstGeom>
          <a:noFill/>
          <a:ln/>
        </p:spPr>
        <p:txBody>
          <a:bodyPr wrap="square" lIns="0" tIns="0" rIns="0" bIns="0" rtlCol="0" anchor="ctr"/>
          <a:lstStyle/>
          <a:p>
            <a:pPr indent="0" marL="0">
              <a:buNone/>
            </a:pPr>
            <a:r>
              <a:rPr lang="en-US" sz="1200" i="1" dirty="0">
                <a:solidFill>
                  <a:schemeClr val="accent4"/>
                </a:solidFill>
              </a:rPr>
              <a:t>Assumes you can already clone, commit, push, and pull.</a:t>
            </a:r>
            <a:endParaRPr lang="en-US" sz="1200" dirty="0"/>
          </a:p>
        </p:txBody>
      </p:sp>
      <p:sp>
        <p:nvSpPr>
          <p:cNvPr id="6" name="line 3"/>
          <p:cNvSpPr/>
          <p:nvPr/>
        </p:nvSpPr>
        <p:spPr>
          <a:xfrm>
            <a:off x="8138160" y="4114800"/>
            <a:ext cx="3611880" cy="0"/>
          </a:xfrm>
          <a:prstGeom prst="line">
            <a:avLst/>
          </a:prstGeom>
          <a:noFill/>
          <a:ln w="44450">
            <a:solidFill>
              <a:schemeClr val="accent1"/>
            </a:solidFill>
            <a:prstDash val="solid"/>
          </a:ln>
        </p:spPr>
      </p:sp>
      <p:sp>
        <p:nvSpPr>
          <p:cNvPr id="7" name="line 4"/>
          <p:cNvSpPr/>
          <p:nvPr/>
        </p:nvSpPr>
        <p:spPr>
          <a:xfrm flipV="1">
            <a:off x="9235440" y="2788920"/>
            <a:ext cx="685800" cy="1325880"/>
          </a:xfrm>
          <a:prstGeom prst="line">
            <a:avLst/>
          </a:prstGeom>
          <a:noFill/>
          <a:ln w="44450">
            <a:solidFill>
              <a:schemeClr val="accent3"/>
            </a:solidFill>
            <a:prstDash val="solid"/>
          </a:ln>
        </p:spPr>
      </p:sp>
      <p:sp>
        <p:nvSpPr>
          <p:cNvPr id="8" name="line 5"/>
          <p:cNvSpPr/>
          <p:nvPr/>
        </p:nvSpPr>
        <p:spPr>
          <a:xfrm>
            <a:off x="9921240" y="2788920"/>
            <a:ext cx="960120" cy="0"/>
          </a:xfrm>
          <a:prstGeom prst="line">
            <a:avLst/>
          </a:prstGeom>
          <a:noFill/>
          <a:ln w="44450">
            <a:solidFill>
              <a:schemeClr val="accent3"/>
            </a:solidFill>
            <a:prstDash val="solid"/>
          </a:ln>
        </p:spPr>
      </p:sp>
      <p:sp>
        <p:nvSpPr>
          <p:cNvPr id="9" name="line 6"/>
          <p:cNvSpPr/>
          <p:nvPr/>
        </p:nvSpPr>
        <p:spPr>
          <a:xfrm>
            <a:off x="10881360" y="2788920"/>
            <a:ext cx="594360" cy="1325880"/>
          </a:xfrm>
          <a:prstGeom prst="line">
            <a:avLst/>
          </a:prstGeom>
          <a:noFill/>
          <a:ln w="44450">
            <a:solidFill>
              <a:schemeClr val="accent3"/>
            </a:solidFill>
            <a:prstDash val="solid"/>
          </a:ln>
        </p:spPr>
      </p:sp>
      <p:sp>
        <p:nvSpPr>
          <p:cNvPr id="10" name="line 7"/>
          <p:cNvSpPr/>
          <p:nvPr/>
        </p:nvSpPr>
        <p:spPr>
          <a:xfrm>
            <a:off x="10058400" y="4114800"/>
            <a:ext cx="731520" cy="1234440"/>
          </a:xfrm>
          <a:prstGeom prst="line">
            <a:avLst/>
          </a:prstGeom>
          <a:noFill/>
          <a:ln w="44450">
            <a:solidFill>
              <a:schemeClr val="accent2"/>
            </a:solidFill>
            <a:prstDash val="dash"/>
          </a:ln>
        </p:spPr>
      </p:sp>
      <p:sp>
        <p:nvSpPr>
          <p:cNvPr id="11" name="commit 8"/>
          <p:cNvSpPr/>
          <p:nvPr/>
        </p:nvSpPr>
        <p:spPr>
          <a:xfrm>
            <a:off x="8366760" y="3977640"/>
            <a:ext cx="274320" cy="274320"/>
          </a:xfrm>
          <a:prstGeom prst="ellipse">
            <a:avLst/>
          </a:prstGeom>
          <a:solidFill>
            <a:schemeClr val="accent1"/>
          </a:solidFill>
          <a:ln w="6350">
            <a:solidFill>
              <a:schemeClr val="accent1"/>
            </a:solidFill>
            <a:prstDash val="solid"/>
          </a:ln>
        </p:spPr>
      </p:sp>
      <p:sp>
        <p:nvSpPr>
          <p:cNvPr id="12" name="commit 9"/>
          <p:cNvSpPr/>
          <p:nvPr/>
        </p:nvSpPr>
        <p:spPr>
          <a:xfrm>
            <a:off x="9098280" y="3977640"/>
            <a:ext cx="274320" cy="274320"/>
          </a:xfrm>
          <a:prstGeom prst="ellipse">
            <a:avLst/>
          </a:prstGeom>
          <a:solidFill>
            <a:schemeClr val="accent1"/>
          </a:solidFill>
          <a:ln w="6350">
            <a:solidFill>
              <a:schemeClr val="accent1"/>
            </a:solidFill>
            <a:prstDash val="solid"/>
          </a:ln>
        </p:spPr>
      </p:sp>
      <p:sp>
        <p:nvSpPr>
          <p:cNvPr id="13" name="commit 10"/>
          <p:cNvSpPr/>
          <p:nvPr/>
        </p:nvSpPr>
        <p:spPr>
          <a:xfrm>
            <a:off x="9921240" y="3977640"/>
            <a:ext cx="274320" cy="274320"/>
          </a:xfrm>
          <a:prstGeom prst="ellipse">
            <a:avLst/>
          </a:prstGeom>
          <a:solidFill>
            <a:schemeClr val="accent1"/>
          </a:solidFill>
          <a:ln w="6350">
            <a:solidFill>
              <a:schemeClr val="accent1"/>
            </a:solidFill>
            <a:prstDash val="solid"/>
          </a:ln>
        </p:spPr>
      </p:sp>
      <p:sp>
        <p:nvSpPr>
          <p:cNvPr id="14" name="commit 11"/>
          <p:cNvSpPr/>
          <p:nvPr/>
        </p:nvSpPr>
        <p:spPr>
          <a:xfrm>
            <a:off x="10607040" y="3977640"/>
            <a:ext cx="274320" cy="274320"/>
          </a:xfrm>
          <a:prstGeom prst="ellipse">
            <a:avLst/>
          </a:prstGeom>
          <a:solidFill>
            <a:schemeClr val="accent1"/>
          </a:solidFill>
          <a:ln w="6350">
            <a:solidFill>
              <a:schemeClr val="accent1"/>
            </a:solidFill>
            <a:prstDash val="solid"/>
          </a:ln>
        </p:spPr>
      </p:sp>
      <p:sp>
        <p:nvSpPr>
          <p:cNvPr id="15" name="commit 12"/>
          <p:cNvSpPr/>
          <p:nvPr/>
        </p:nvSpPr>
        <p:spPr>
          <a:xfrm>
            <a:off x="11338560" y="3977640"/>
            <a:ext cx="274320" cy="274320"/>
          </a:xfrm>
          <a:prstGeom prst="ellipse">
            <a:avLst/>
          </a:prstGeom>
          <a:solidFill>
            <a:schemeClr val="accent1"/>
          </a:solidFill>
          <a:ln w="6350">
            <a:solidFill>
              <a:schemeClr val="accent1"/>
            </a:solidFill>
            <a:prstDash val="solid"/>
          </a:ln>
        </p:spPr>
      </p:sp>
      <p:sp>
        <p:nvSpPr>
          <p:cNvPr id="16" name="commit 13"/>
          <p:cNvSpPr/>
          <p:nvPr/>
        </p:nvSpPr>
        <p:spPr>
          <a:xfrm>
            <a:off x="9784080" y="2651760"/>
            <a:ext cx="274320" cy="274320"/>
          </a:xfrm>
          <a:prstGeom prst="ellipse">
            <a:avLst/>
          </a:prstGeom>
          <a:solidFill>
            <a:schemeClr val="accent3"/>
          </a:solidFill>
          <a:ln w="6350">
            <a:solidFill>
              <a:schemeClr val="accent3"/>
            </a:solidFill>
            <a:prstDash val="solid"/>
          </a:ln>
        </p:spPr>
      </p:sp>
      <p:sp>
        <p:nvSpPr>
          <p:cNvPr id="17" name="commit 14"/>
          <p:cNvSpPr/>
          <p:nvPr/>
        </p:nvSpPr>
        <p:spPr>
          <a:xfrm>
            <a:off x="10744200" y="2651760"/>
            <a:ext cx="274320" cy="274320"/>
          </a:xfrm>
          <a:prstGeom prst="ellipse">
            <a:avLst/>
          </a:prstGeom>
          <a:solidFill>
            <a:schemeClr val="accent3"/>
          </a:solidFill>
          <a:ln w="6350">
            <a:solidFill>
              <a:schemeClr val="accent3"/>
            </a:solidFill>
            <a:prstDash val="solid"/>
          </a:ln>
        </p:spPr>
      </p:sp>
      <p:sp>
        <p:nvSpPr>
          <p:cNvPr id="18" name="commit 15"/>
          <p:cNvSpPr/>
          <p:nvPr/>
        </p:nvSpPr>
        <p:spPr>
          <a:xfrm>
            <a:off x="10652760" y="5212080"/>
            <a:ext cx="274320" cy="274320"/>
          </a:xfrm>
          <a:prstGeom prst="ellipse">
            <a:avLst/>
          </a:prstGeom>
          <a:solidFill>
            <a:schemeClr val="bg1"/>
          </a:solidFill>
          <a:ln w="28575">
            <a:solidFill>
              <a:schemeClr val="accent2"/>
            </a:solidFill>
            <a:prstDash val="dash"/>
          </a:ln>
        </p:spPr>
      </p:sp>
      <p:sp>
        <p:nvSpPr>
          <p:cNvPr id="19" name="tag 16"/>
          <p:cNvSpPr/>
          <p:nvPr/>
        </p:nvSpPr>
        <p:spPr>
          <a:xfrm>
            <a:off x="8165592" y="4553712"/>
            <a:ext cx="676656" cy="310896"/>
          </a:xfrm>
          <a:prstGeom prst="roundRect">
            <a:avLst>
              <a:gd name="adj" fmla="val 50000"/>
            </a:avLst>
          </a:prstGeom>
          <a:solidFill>
            <a:schemeClr val="accent1"/>
          </a:solidFill>
          <a:ln w="6350">
            <a:solidFill>
              <a:schemeClr val="accent1"/>
            </a:solidFill>
            <a:prstDash val="solid"/>
          </a:ln>
        </p:spPr>
      </p:sp>
      <p:sp>
        <p:nvSpPr>
          <p:cNvPr id="20" name="text 17"/>
          <p:cNvSpPr txBox="1"/>
          <p:nvPr/>
        </p:nvSpPr>
        <p:spPr>
          <a:xfrm>
            <a:off x="8165592" y="4553712"/>
            <a:ext cx="676656" cy="310896"/>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main</a:t>
            </a:r>
            <a:endParaRPr lang="en-US" sz="1000" dirty="0"/>
          </a:p>
        </p:txBody>
      </p:sp>
      <p:sp>
        <p:nvSpPr>
          <p:cNvPr id="21" name="tag 18"/>
          <p:cNvSpPr/>
          <p:nvPr/>
        </p:nvSpPr>
        <p:spPr>
          <a:xfrm>
            <a:off x="9541764" y="2084832"/>
            <a:ext cx="1764792" cy="310896"/>
          </a:xfrm>
          <a:prstGeom prst="roundRect">
            <a:avLst>
              <a:gd name="adj" fmla="val 50000"/>
            </a:avLst>
          </a:prstGeom>
          <a:solidFill>
            <a:schemeClr val="accent3"/>
          </a:solidFill>
          <a:ln w="6350">
            <a:solidFill>
              <a:schemeClr val="accent3"/>
            </a:solidFill>
            <a:prstDash val="solid"/>
          </a:ln>
        </p:spPr>
      </p:sp>
      <p:sp>
        <p:nvSpPr>
          <p:cNvPr id="22" name="text 19"/>
          <p:cNvSpPr txBox="1"/>
          <p:nvPr/>
        </p:nvSpPr>
        <p:spPr>
          <a:xfrm>
            <a:off x="9541764" y="2084832"/>
            <a:ext cx="1764792" cy="310896"/>
          </a:xfrm>
          <a:prstGeom prst="rect">
            <a:avLst/>
          </a:prstGeom>
          <a:noFill/>
          <a:ln/>
        </p:spPr>
        <p:txBody>
          <a:bodyPr wrap="square" lIns="0" tIns="0" rIns="0" bIns="0" rtlCol="0" anchor="ctr"/>
          <a:lstStyle/>
          <a:p>
            <a:pPr algn="ctr" indent="0" marL="0">
              <a:buNone/>
            </a:pPr>
            <a:r>
              <a:rPr lang="en-US" sz="1000" b="1" dirty="0">
                <a:solidFill>
                  <a:schemeClr val="bg1"/>
                </a:solidFill>
                <a:latin typeface="Courier New" pitchFamily="34" charset="0"/>
                <a:ea typeface="Courier New" pitchFamily="34" charset="-122"/>
                <a:cs typeface="Courier New" pitchFamily="34" charset="-120"/>
              </a:rPr>
              <a:t>feature/clean-data</a:t>
            </a:r>
            <a:endParaRPr lang="en-US" sz="1000" dirty="0"/>
          </a:p>
        </p:txBody>
      </p:sp>
      <p:sp>
        <p:nvSpPr>
          <p:cNvPr id="23" name="tag 20"/>
          <p:cNvSpPr/>
          <p:nvPr/>
        </p:nvSpPr>
        <p:spPr>
          <a:xfrm>
            <a:off x="9953244" y="5696712"/>
            <a:ext cx="1764792" cy="310896"/>
          </a:xfrm>
          <a:prstGeom prst="roundRect">
            <a:avLst>
              <a:gd name="adj" fmla="val 50000"/>
            </a:avLst>
          </a:prstGeom>
          <a:solidFill>
            <a:schemeClr val="bg1"/>
          </a:solidFill>
          <a:ln w="19050">
            <a:solidFill>
              <a:schemeClr val="accent2"/>
            </a:solidFill>
            <a:prstDash val="solid"/>
          </a:ln>
        </p:spPr>
      </p:sp>
      <p:sp>
        <p:nvSpPr>
          <p:cNvPr id="24" name="text 21"/>
          <p:cNvSpPr txBox="1"/>
          <p:nvPr/>
        </p:nvSpPr>
        <p:spPr>
          <a:xfrm>
            <a:off x="9953244" y="5696712"/>
            <a:ext cx="1764792" cy="310896"/>
          </a:xfrm>
          <a:prstGeom prst="rect">
            <a:avLst/>
          </a:prstGeom>
          <a:noFill/>
          <a:ln/>
        </p:spPr>
        <p:txBody>
          <a:bodyPr wrap="square" lIns="0" tIns="0" rIns="0" bIns="0" rtlCol="0" anchor="ctr"/>
          <a:lstStyle/>
          <a:p>
            <a:pPr algn="ctr" indent="0" marL="0">
              <a:buNone/>
            </a:pPr>
            <a:r>
              <a:rPr lang="en-US" sz="1000" b="1" dirty="0">
                <a:solidFill>
                  <a:schemeClr val="accent2"/>
                </a:solidFill>
                <a:latin typeface="Courier New" pitchFamily="34" charset="0"/>
                <a:ea typeface="Courier New" pitchFamily="34" charset="-122"/>
                <a:cs typeface="Courier New" pitchFamily="34" charset="-120"/>
              </a:rPr>
              <a:t>experiment/xgboost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Why branches: one line of history is a liability</a:t>
            </a:r>
            <a:endParaRPr lang="en-US" sz="3000" dirty="0"/>
          </a:p>
        </p:txBody>
      </p:sp>
      <p:sp>
        <p:nvSpPr>
          <p:cNvPr id="3" name="icon circle 22"/>
          <p:cNvSpPr/>
          <p:nvPr/>
        </p:nvSpPr>
        <p:spPr>
          <a:xfrm>
            <a:off x="594360" y="1481328"/>
            <a:ext cx="548640" cy="548640"/>
          </a:xfrm>
          <a:prstGeom prst="ellipse">
            <a:avLst/>
          </a:prstGeom>
          <a:solidFill>
            <a:schemeClr val="accent1"/>
          </a:solidFill>
          <a:ln w="6350">
            <a:solidFill>
              <a:schemeClr val="accent1"/>
            </a:solidFill>
            <a:prstDash val="solid"/>
          </a:ln>
        </p:spPr>
      </p:sp>
      <p:pic>
        <p:nvPicPr>
          <p:cNvPr id="4" name="icon 23" descr="preencoded.png">    </p:cNvPr>
          <p:cNvPicPr>
            <a:picLocks noChangeAspect="1"/>
          </p:cNvPicPr>
          <p:nvPr/>
        </p:nvPicPr>
        <p:blipFill>
          <a:blip r:embed="rId1"/>
          <a:stretch>
            <a:fillRect/>
          </a:stretch>
        </p:blipFill>
        <p:spPr>
          <a:xfrm>
            <a:off x="726034" y="1613002"/>
            <a:ext cx="285293" cy="285293"/>
          </a:xfrm>
          <a:prstGeom prst="rect">
            <a:avLst/>
          </a:prstGeom>
        </p:spPr>
      </p:pic>
      <p:sp>
        <p:nvSpPr>
          <p:cNvPr id="5" name="text 24"/>
          <p:cNvSpPr txBox="1"/>
          <p:nvPr/>
        </p:nvSpPr>
        <p:spPr>
          <a:xfrm>
            <a:off x="1371600" y="1463040"/>
            <a:ext cx="5120640" cy="365760"/>
          </a:xfrm>
          <a:prstGeom prst="rect">
            <a:avLst/>
          </a:prstGeom>
          <a:noFill/>
          <a:ln/>
        </p:spPr>
        <p:txBody>
          <a:bodyPr wrap="square" lIns="0" tIns="0" rIns="0" bIns="0" rtlCol="0" anchor="ctr"/>
          <a:lstStyle/>
          <a:p>
            <a:pPr indent="0" marL="0">
              <a:buNone/>
            </a:pPr>
            <a:r>
              <a:rPr lang="en-US" sz="1700" b="1" dirty="0">
                <a:solidFill>
                  <a:schemeClr val="tx1"/>
                </a:solidFill>
              </a:rPr>
              <a:t>Experiments break the working copy</a:t>
            </a:r>
            <a:endParaRPr lang="en-US" sz="1700" dirty="0"/>
          </a:p>
        </p:txBody>
      </p:sp>
      <p:sp>
        <p:nvSpPr>
          <p:cNvPr id="6" name="text 25"/>
          <p:cNvSpPr txBox="1"/>
          <p:nvPr/>
        </p:nvSpPr>
        <p:spPr>
          <a:xfrm>
            <a:off x="1371600" y="1874520"/>
            <a:ext cx="5120640" cy="731520"/>
          </a:xfrm>
          <a:prstGeom prst="rect">
            <a:avLst/>
          </a:prstGeom>
          <a:noFill/>
          <a:ln/>
        </p:spPr>
        <p:txBody>
          <a:bodyPr wrap="square" lIns="0" tIns="0" rIns="0" bIns="0" rtlCol="0" anchor="t"/>
          <a:lstStyle/>
          <a:p>
            <a:pPr indent="0" marL="0">
              <a:buNone/>
            </a:pPr>
            <a:r>
              <a:rPr lang="en-US" sz="1400" dirty="0">
                <a:solidFill>
                  <a:schemeClr val="tx2"/>
                </a:solidFill>
              </a:rPr>
              <a:t>One bad change to the pipeline and the version that ran yesterday is gone from your working tree.</a:t>
            </a:r>
            <a:endParaRPr lang="en-US" sz="1400" dirty="0"/>
          </a:p>
        </p:txBody>
      </p:sp>
      <p:sp>
        <p:nvSpPr>
          <p:cNvPr id="7" name="icon circle 26"/>
          <p:cNvSpPr/>
          <p:nvPr/>
        </p:nvSpPr>
        <p:spPr>
          <a:xfrm>
            <a:off x="594360" y="2761488"/>
            <a:ext cx="548640" cy="548640"/>
          </a:xfrm>
          <a:prstGeom prst="ellipse">
            <a:avLst/>
          </a:prstGeom>
          <a:solidFill>
            <a:schemeClr val="accent1"/>
          </a:solidFill>
          <a:ln w="6350">
            <a:solidFill>
              <a:schemeClr val="accent1"/>
            </a:solidFill>
            <a:prstDash val="solid"/>
          </a:ln>
        </p:spPr>
      </p:sp>
      <p:pic>
        <p:nvPicPr>
          <p:cNvPr id="8" name="icon 27" descr="preencoded.png">    </p:cNvPr>
          <p:cNvPicPr>
            <a:picLocks noChangeAspect="1"/>
          </p:cNvPicPr>
          <p:nvPr/>
        </p:nvPicPr>
        <p:blipFill>
          <a:blip r:embed="rId2"/>
          <a:stretch>
            <a:fillRect/>
          </a:stretch>
        </p:blipFill>
        <p:spPr>
          <a:xfrm>
            <a:off x="726034" y="2893162"/>
            <a:ext cx="285293" cy="285293"/>
          </a:xfrm>
          <a:prstGeom prst="rect">
            <a:avLst/>
          </a:prstGeom>
        </p:spPr>
      </p:pic>
      <p:sp>
        <p:nvSpPr>
          <p:cNvPr id="9" name="text 28"/>
          <p:cNvSpPr txBox="1"/>
          <p:nvPr/>
        </p:nvSpPr>
        <p:spPr>
          <a:xfrm>
            <a:off x="1371600" y="2743200"/>
            <a:ext cx="5120640" cy="365760"/>
          </a:xfrm>
          <a:prstGeom prst="rect">
            <a:avLst/>
          </a:prstGeom>
          <a:noFill/>
          <a:ln/>
        </p:spPr>
        <p:txBody>
          <a:bodyPr wrap="square" lIns="0" tIns="0" rIns="0" bIns="0" rtlCol="0" anchor="ctr"/>
          <a:lstStyle/>
          <a:p>
            <a:pPr indent="0" marL="0">
              <a:buNone/>
            </a:pPr>
            <a:r>
              <a:rPr lang="en-US" sz="1700" b="1" dirty="0">
                <a:solidFill>
                  <a:schemeClr val="tx1"/>
                </a:solidFill>
              </a:rPr>
              <a:t>There is no place to review</a:t>
            </a:r>
            <a:endParaRPr lang="en-US" sz="1700" dirty="0"/>
          </a:p>
        </p:txBody>
      </p:sp>
      <p:sp>
        <p:nvSpPr>
          <p:cNvPr id="10" name="text 29"/>
          <p:cNvSpPr txBox="1"/>
          <p:nvPr/>
        </p:nvSpPr>
        <p:spPr>
          <a:xfrm>
            <a:off x="1371600" y="3154680"/>
            <a:ext cx="5120640" cy="731520"/>
          </a:xfrm>
          <a:prstGeom prst="rect">
            <a:avLst/>
          </a:prstGeom>
          <a:noFill/>
          <a:ln/>
        </p:spPr>
        <p:txBody>
          <a:bodyPr wrap="square" lIns="0" tIns="0" rIns="0" bIns="0" rtlCol="0" anchor="t"/>
          <a:lstStyle/>
          <a:p>
            <a:pPr indent="0" marL="0">
              <a:buNone/>
            </a:pPr>
            <a:r>
              <a:rPr lang="en-US" sz="1400" dirty="0">
                <a:solidFill>
                  <a:schemeClr val="tx2"/>
                </a:solidFill>
              </a:rPr>
              <a:t>Claude Code can edit twenty files in a minute. On main, every one of those edits lands immediately.</a:t>
            </a:r>
            <a:endParaRPr lang="en-US" sz="1400" dirty="0"/>
          </a:p>
        </p:txBody>
      </p:sp>
      <p:sp>
        <p:nvSpPr>
          <p:cNvPr id="11" name="icon circle 30"/>
          <p:cNvSpPr/>
          <p:nvPr/>
        </p:nvSpPr>
        <p:spPr>
          <a:xfrm>
            <a:off x="594360" y="4041648"/>
            <a:ext cx="548640" cy="548640"/>
          </a:xfrm>
          <a:prstGeom prst="ellipse">
            <a:avLst/>
          </a:prstGeom>
          <a:solidFill>
            <a:schemeClr val="accent1"/>
          </a:solidFill>
          <a:ln w="6350">
            <a:solidFill>
              <a:schemeClr val="accent1"/>
            </a:solidFill>
            <a:prstDash val="solid"/>
          </a:ln>
        </p:spPr>
      </p:sp>
      <p:pic>
        <p:nvPicPr>
          <p:cNvPr id="12" name="icon 31" descr="preencoded.png">    </p:cNvPr>
          <p:cNvPicPr>
            <a:picLocks noChangeAspect="1"/>
          </p:cNvPicPr>
          <p:nvPr/>
        </p:nvPicPr>
        <p:blipFill>
          <a:blip r:embed="rId3"/>
          <a:stretch>
            <a:fillRect/>
          </a:stretch>
        </p:blipFill>
        <p:spPr>
          <a:xfrm>
            <a:off x="726034" y="4173322"/>
            <a:ext cx="285293" cy="285293"/>
          </a:xfrm>
          <a:prstGeom prst="rect">
            <a:avLst/>
          </a:prstGeom>
        </p:spPr>
      </p:pic>
      <p:sp>
        <p:nvSpPr>
          <p:cNvPr id="13" name="text 32"/>
          <p:cNvSpPr txBox="1"/>
          <p:nvPr/>
        </p:nvSpPr>
        <p:spPr>
          <a:xfrm>
            <a:off x="1371600" y="4023360"/>
            <a:ext cx="5120640" cy="365760"/>
          </a:xfrm>
          <a:prstGeom prst="rect">
            <a:avLst/>
          </a:prstGeom>
          <a:noFill/>
          <a:ln/>
        </p:spPr>
        <p:txBody>
          <a:bodyPr wrap="square" lIns="0" tIns="0" rIns="0" bIns="0" rtlCol="0" anchor="ctr"/>
          <a:lstStyle/>
          <a:p>
            <a:pPr indent="0" marL="0">
              <a:buNone/>
            </a:pPr>
            <a:r>
              <a:rPr lang="en-US" sz="1700" b="1" dirty="0">
                <a:solidFill>
                  <a:schemeClr val="tx1"/>
                </a:solidFill>
              </a:rPr>
              <a:t>You cannot work on two things at once</a:t>
            </a:r>
            <a:endParaRPr lang="en-US" sz="1700" dirty="0"/>
          </a:p>
        </p:txBody>
      </p:sp>
      <p:sp>
        <p:nvSpPr>
          <p:cNvPr id="14" name="text 33"/>
          <p:cNvSpPr txBox="1"/>
          <p:nvPr/>
        </p:nvSpPr>
        <p:spPr>
          <a:xfrm>
            <a:off x="1371600" y="4434840"/>
            <a:ext cx="5120640" cy="731520"/>
          </a:xfrm>
          <a:prstGeom prst="rect">
            <a:avLst/>
          </a:prstGeom>
          <a:noFill/>
          <a:ln/>
        </p:spPr>
        <p:txBody>
          <a:bodyPr wrap="square" lIns="0" tIns="0" rIns="0" bIns="0" rtlCol="0" anchor="t"/>
          <a:lstStyle/>
          <a:p>
            <a:pPr indent="0" marL="0">
              <a:buNone/>
            </a:pPr>
            <a:r>
              <a:rPr lang="en-US" sz="1400" dirty="0">
                <a:solidFill>
                  <a:schemeClr val="tx2"/>
                </a:solidFill>
              </a:rPr>
              <a:t>A bug fix and a new model end up tangled in the same commits, so neither can ship on its own.</a:t>
            </a:r>
            <a:endParaRPr lang="en-US" sz="1400" dirty="0"/>
          </a:p>
        </p:txBody>
      </p:sp>
      <p:sp>
        <p:nvSpPr>
          <p:cNvPr id="15" name="tag 34"/>
          <p:cNvSpPr/>
          <p:nvPr/>
        </p:nvSpPr>
        <p:spPr>
          <a:xfrm>
            <a:off x="7525512" y="3483864"/>
            <a:ext cx="676656" cy="310896"/>
          </a:xfrm>
          <a:prstGeom prst="roundRect">
            <a:avLst>
              <a:gd name="adj" fmla="val 50000"/>
            </a:avLst>
          </a:prstGeom>
          <a:solidFill>
            <a:schemeClr val="accent1"/>
          </a:solidFill>
          <a:ln w="6350">
            <a:solidFill>
              <a:schemeClr val="accent1"/>
            </a:solidFill>
            <a:prstDash val="solid"/>
          </a:ln>
        </p:spPr>
      </p:sp>
      <p:sp>
        <p:nvSpPr>
          <p:cNvPr id="16" name="text 35"/>
          <p:cNvSpPr txBox="1"/>
          <p:nvPr/>
        </p:nvSpPr>
        <p:spPr>
          <a:xfrm>
            <a:off x="7525512" y="3483864"/>
            <a:ext cx="676656" cy="310896"/>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main</a:t>
            </a:r>
            <a:endParaRPr lang="en-US" sz="1000" dirty="0"/>
          </a:p>
        </p:txBody>
      </p:sp>
      <p:sp>
        <p:nvSpPr>
          <p:cNvPr id="17" name="line 36"/>
          <p:cNvSpPr/>
          <p:nvPr/>
        </p:nvSpPr>
        <p:spPr>
          <a:xfrm>
            <a:off x="7315200" y="3154680"/>
            <a:ext cx="4206240" cy="0"/>
          </a:xfrm>
          <a:prstGeom prst="line">
            <a:avLst/>
          </a:prstGeom>
          <a:noFill/>
          <a:ln w="44450">
            <a:solidFill>
              <a:schemeClr val="accent1"/>
            </a:solidFill>
            <a:prstDash val="solid"/>
          </a:ln>
        </p:spPr>
      </p:sp>
      <p:sp>
        <p:nvSpPr>
          <p:cNvPr id="18" name="commit 37"/>
          <p:cNvSpPr/>
          <p:nvPr/>
        </p:nvSpPr>
        <p:spPr>
          <a:xfrm>
            <a:off x="7726680" y="3017520"/>
            <a:ext cx="274320" cy="274320"/>
          </a:xfrm>
          <a:prstGeom prst="ellipse">
            <a:avLst/>
          </a:prstGeom>
          <a:solidFill>
            <a:schemeClr val="accent1"/>
          </a:solidFill>
          <a:ln w="6350">
            <a:solidFill>
              <a:schemeClr val="accent1"/>
            </a:solidFill>
            <a:prstDash val="solid"/>
          </a:ln>
        </p:spPr>
      </p:sp>
      <p:sp>
        <p:nvSpPr>
          <p:cNvPr id="19" name="text 38"/>
          <p:cNvSpPr txBox="1"/>
          <p:nvPr/>
        </p:nvSpPr>
        <p:spPr>
          <a:xfrm>
            <a:off x="7406640" y="2587752"/>
            <a:ext cx="914400" cy="274320"/>
          </a:xfrm>
          <a:prstGeom prst="rect">
            <a:avLst/>
          </a:prstGeom>
          <a:noFill/>
          <a:ln/>
        </p:spPr>
        <p:txBody>
          <a:bodyPr wrap="square" lIns="0" tIns="0" rIns="0" bIns="0" rtlCol="0" anchor="b"/>
          <a:lstStyle/>
          <a:p>
            <a:pPr algn="ctr" indent="0" marL="0">
              <a:buNone/>
            </a:pPr>
            <a:r>
              <a:rPr lang="en-US" sz="1100" dirty="0">
                <a:solidFill>
                  <a:schemeClr val="accent4"/>
                </a:solidFill>
              </a:rPr>
              <a:t>you</a:t>
            </a:r>
            <a:endParaRPr lang="en-US" sz="1100" dirty="0"/>
          </a:p>
        </p:txBody>
      </p:sp>
      <p:sp>
        <p:nvSpPr>
          <p:cNvPr id="20" name="commit 39"/>
          <p:cNvSpPr/>
          <p:nvPr/>
        </p:nvSpPr>
        <p:spPr>
          <a:xfrm>
            <a:off x="8549640" y="3017520"/>
            <a:ext cx="274320" cy="274320"/>
          </a:xfrm>
          <a:prstGeom prst="ellipse">
            <a:avLst/>
          </a:prstGeom>
          <a:solidFill>
            <a:schemeClr val="accent1"/>
          </a:solidFill>
          <a:ln w="6350">
            <a:solidFill>
              <a:schemeClr val="accent1"/>
            </a:solidFill>
            <a:prstDash val="solid"/>
          </a:ln>
        </p:spPr>
      </p:sp>
      <p:sp>
        <p:nvSpPr>
          <p:cNvPr id="21" name="text 40"/>
          <p:cNvSpPr txBox="1"/>
          <p:nvPr/>
        </p:nvSpPr>
        <p:spPr>
          <a:xfrm>
            <a:off x="8229600" y="2587752"/>
            <a:ext cx="914400" cy="274320"/>
          </a:xfrm>
          <a:prstGeom prst="rect">
            <a:avLst/>
          </a:prstGeom>
          <a:noFill/>
          <a:ln/>
        </p:spPr>
        <p:txBody>
          <a:bodyPr wrap="square" lIns="0" tIns="0" rIns="0" bIns="0" rtlCol="0" anchor="b"/>
          <a:lstStyle/>
          <a:p>
            <a:pPr algn="ctr" indent="0" marL="0">
              <a:buNone/>
            </a:pPr>
            <a:r>
              <a:rPr lang="en-US" sz="1100" dirty="0">
                <a:solidFill>
                  <a:schemeClr val="accent4"/>
                </a:solidFill>
              </a:rPr>
              <a:t>Claude</a:t>
            </a:r>
            <a:endParaRPr lang="en-US" sz="1100" dirty="0"/>
          </a:p>
        </p:txBody>
      </p:sp>
      <p:sp>
        <p:nvSpPr>
          <p:cNvPr id="22" name="commit 41"/>
          <p:cNvSpPr/>
          <p:nvPr/>
        </p:nvSpPr>
        <p:spPr>
          <a:xfrm>
            <a:off x="9372600" y="3017520"/>
            <a:ext cx="274320" cy="274320"/>
          </a:xfrm>
          <a:prstGeom prst="ellipse">
            <a:avLst/>
          </a:prstGeom>
          <a:solidFill>
            <a:schemeClr val="accent1"/>
          </a:solidFill>
          <a:ln w="6350">
            <a:solidFill>
              <a:schemeClr val="accent1"/>
            </a:solidFill>
            <a:prstDash val="solid"/>
          </a:ln>
        </p:spPr>
      </p:sp>
      <p:sp>
        <p:nvSpPr>
          <p:cNvPr id="23" name="text 42"/>
          <p:cNvSpPr txBox="1"/>
          <p:nvPr/>
        </p:nvSpPr>
        <p:spPr>
          <a:xfrm>
            <a:off x="9052560" y="2587752"/>
            <a:ext cx="914400" cy="274320"/>
          </a:xfrm>
          <a:prstGeom prst="rect">
            <a:avLst/>
          </a:prstGeom>
          <a:noFill/>
          <a:ln/>
        </p:spPr>
        <p:txBody>
          <a:bodyPr wrap="square" lIns="0" tIns="0" rIns="0" bIns="0" rtlCol="0" anchor="b"/>
          <a:lstStyle/>
          <a:p>
            <a:pPr algn="ctr" indent="0" marL="0">
              <a:buNone/>
            </a:pPr>
            <a:r>
              <a:rPr lang="en-US" sz="1100" dirty="0">
                <a:solidFill>
                  <a:schemeClr val="accent4"/>
                </a:solidFill>
              </a:rPr>
              <a:t>you</a:t>
            </a:r>
            <a:endParaRPr lang="en-US" sz="1100" dirty="0"/>
          </a:p>
        </p:txBody>
      </p:sp>
      <p:sp>
        <p:nvSpPr>
          <p:cNvPr id="24" name="commit 43"/>
          <p:cNvSpPr/>
          <p:nvPr/>
        </p:nvSpPr>
        <p:spPr>
          <a:xfrm>
            <a:off x="10195560" y="3017520"/>
            <a:ext cx="274320" cy="274320"/>
          </a:xfrm>
          <a:prstGeom prst="ellipse">
            <a:avLst/>
          </a:prstGeom>
          <a:solidFill>
            <a:schemeClr val="accent1"/>
          </a:solidFill>
          <a:ln w="6350">
            <a:solidFill>
              <a:schemeClr val="accent1"/>
            </a:solidFill>
            <a:prstDash val="solid"/>
          </a:ln>
        </p:spPr>
      </p:sp>
      <p:sp>
        <p:nvSpPr>
          <p:cNvPr id="25" name="text 44"/>
          <p:cNvSpPr txBox="1"/>
          <p:nvPr/>
        </p:nvSpPr>
        <p:spPr>
          <a:xfrm>
            <a:off x="9875520" y="2587752"/>
            <a:ext cx="914400" cy="274320"/>
          </a:xfrm>
          <a:prstGeom prst="rect">
            <a:avLst/>
          </a:prstGeom>
          <a:noFill/>
          <a:ln/>
        </p:spPr>
        <p:txBody>
          <a:bodyPr wrap="square" lIns="0" tIns="0" rIns="0" bIns="0" rtlCol="0" anchor="b"/>
          <a:lstStyle/>
          <a:p>
            <a:pPr algn="ctr" indent="0" marL="0">
              <a:buNone/>
            </a:pPr>
            <a:r>
              <a:rPr lang="en-US" sz="1100" dirty="0">
                <a:solidFill>
                  <a:schemeClr val="accent4"/>
                </a:solidFill>
              </a:rPr>
              <a:t>Claude</a:t>
            </a:r>
            <a:endParaRPr lang="en-US" sz="1100" dirty="0"/>
          </a:p>
        </p:txBody>
      </p:sp>
      <p:sp>
        <p:nvSpPr>
          <p:cNvPr id="26" name="commit 45"/>
          <p:cNvSpPr/>
          <p:nvPr/>
        </p:nvSpPr>
        <p:spPr>
          <a:xfrm>
            <a:off x="11018520" y="3017520"/>
            <a:ext cx="274320" cy="274320"/>
          </a:xfrm>
          <a:prstGeom prst="ellipse">
            <a:avLst/>
          </a:prstGeom>
          <a:solidFill>
            <a:schemeClr val="accent6"/>
          </a:solidFill>
          <a:ln w="6350">
            <a:solidFill>
              <a:schemeClr val="accent6"/>
            </a:solidFill>
            <a:prstDash val="solid"/>
          </a:ln>
        </p:spPr>
      </p:sp>
      <p:sp>
        <p:nvSpPr>
          <p:cNvPr id="27" name="text 46"/>
          <p:cNvSpPr txBox="1"/>
          <p:nvPr/>
        </p:nvSpPr>
        <p:spPr>
          <a:xfrm>
            <a:off x="10698480" y="2587752"/>
            <a:ext cx="914400" cy="274320"/>
          </a:xfrm>
          <a:prstGeom prst="rect">
            <a:avLst/>
          </a:prstGeom>
          <a:noFill/>
          <a:ln/>
        </p:spPr>
        <p:txBody>
          <a:bodyPr wrap="square" lIns="0" tIns="0" rIns="0" bIns="0" rtlCol="0" anchor="b"/>
          <a:lstStyle/>
          <a:p>
            <a:pPr algn="ctr" indent="0" marL="0">
              <a:buNone/>
            </a:pPr>
            <a:r>
              <a:rPr lang="en-US" sz="1100" dirty="0">
                <a:solidFill>
                  <a:schemeClr val="accent4"/>
                </a:solidFill>
              </a:rPr>
              <a:t>Claude</a:t>
            </a:r>
            <a:endParaRPr lang="en-US" sz="1100" dirty="0"/>
          </a:p>
        </p:txBody>
      </p:sp>
      <p:sp>
        <p:nvSpPr>
          <p:cNvPr id="28" name="text 47"/>
          <p:cNvSpPr txBox="1"/>
          <p:nvPr/>
        </p:nvSpPr>
        <p:spPr>
          <a:xfrm>
            <a:off x="10241280" y="3429000"/>
            <a:ext cx="1828800" cy="274320"/>
          </a:xfrm>
          <a:prstGeom prst="rect">
            <a:avLst/>
          </a:prstGeom>
          <a:noFill/>
          <a:ln/>
        </p:spPr>
        <p:txBody>
          <a:bodyPr wrap="square" lIns="0" tIns="0" rIns="0" bIns="0" rtlCol="0" anchor="ctr"/>
          <a:lstStyle/>
          <a:p>
            <a:pPr algn="ctr" indent="0" marL="0">
              <a:buNone/>
            </a:pPr>
            <a:r>
              <a:rPr lang="en-US" sz="1200" b="1" dirty="0">
                <a:solidFill>
                  <a:schemeClr val="accent6"/>
                </a:solidFill>
              </a:rPr>
              <a:t>broke the pipeline</a:t>
            </a:r>
            <a:endParaRPr lang="en-US" sz="1200" dirty="0"/>
          </a:p>
        </p:txBody>
      </p:sp>
      <p:sp>
        <p:nvSpPr>
          <p:cNvPr id="29" name="text 48"/>
          <p:cNvSpPr txBox="1"/>
          <p:nvPr/>
        </p:nvSpPr>
        <p:spPr>
          <a:xfrm>
            <a:off x="7315200" y="4069080"/>
            <a:ext cx="4297680" cy="365760"/>
          </a:xfrm>
          <a:prstGeom prst="rect">
            <a:avLst/>
          </a:prstGeom>
          <a:noFill/>
          <a:ln/>
        </p:spPr>
        <p:txBody>
          <a:bodyPr wrap="square" lIns="0" tIns="0" rIns="0" bIns="0" rtlCol="0" anchor="ctr"/>
          <a:lstStyle/>
          <a:p>
            <a:pPr algn="ctr" indent="0" marL="0">
              <a:buNone/>
            </a:pPr>
            <a:r>
              <a:rPr lang="en-US" sz="1400" i="1" dirty="0">
                <a:solidFill>
                  <a:schemeClr val="tx2"/>
                </a:solidFill>
              </a:rPr>
              <a:t>...and it is the only version you have.</a:t>
            </a:r>
            <a:endParaRPr lang="en-US" sz="1400" dirty="0"/>
          </a:p>
        </p:txBody>
      </p:sp>
      <p:sp>
        <p:nvSpPr>
          <p:cNvPr id="30" name="card 49"/>
          <p:cNvSpPr/>
          <p:nvPr/>
        </p:nvSpPr>
        <p:spPr>
          <a:xfrm>
            <a:off x="548640" y="5394960"/>
            <a:ext cx="11064240" cy="731520"/>
          </a:xfrm>
          <a:prstGeom prst="roundRect">
            <a:avLst>
              <a:gd name="adj" fmla="val 12500"/>
            </a:avLst>
          </a:prstGeom>
          <a:solidFill>
            <a:schemeClr val="accent3"/>
          </a:solidFill>
          <a:ln w="9525">
            <a:solidFill>
              <a:schemeClr val="accent3"/>
            </a:solidFill>
            <a:prstDash val="solid"/>
          </a:ln>
        </p:spPr>
      </p:sp>
      <p:sp>
        <p:nvSpPr>
          <p:cNvPr id="31" name="text 50"/>
          <p:cNvSpPr txBox="1"/>
          <p:nvPr/>
        </p:nvSpPr>
        <p:spPr>
          <a:xfrm>
            <a:off x="822960" y="5394960"/>
            <a:ext cx="10515600" cy="731520"/>
          </a:xfrm>
          <a:prstGeom prst="rect">
            <a:avLst/>
          </a:prstGeom>
          <a:noFill/>
          <a:ln/>
        </p:spPr>
        <p:txBody>
          <a:bodyPr wrap="square" lIns="0" tIns="0" rIns="0" bIns="0" rtlCol="0" anchor="ctr"/>
          <a:lstStyle/>
          <a:p>
            <a:pPr indent="0" marL="0">
              <a:buNone/>
            </a:pPr>
            <a:r>
              <a:rPr lang="en-US" sz="1600" b="1" dirty="0">
                <a:solidFill>
                  <a:schemeClr val="bg1"/>
                </a:solidFill>
              </a:rPr>
              <a:t>A branch gives each piece of work its own timeline, and keeps main as the version you trust.</a:t>
            </a:r>
            <a:endParaRPr lang="en-US" sz="16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A branch is a movable pointer to a commit</a:t>
            </a:r>
            <a:endParaRPr lang="en-US" sz="3000" dirty="0"/>
          </a:p>
        </p:txBody>
      </p:sp>
      <p:sp>
        <p:nvSpPr>
          <p:cNvPr id="3" name="line 51"/>
          <p:cNvSpPr/>
          <p:nvPr/>
        </p:nvSpPr>
        <p:spPr>
          <a:xfrm>
            <a:off x="1097280" y="3246120"/>
            <a:ext cx="4937760" cy="0"/>
          </a:xfrm>
          <a:prstGeom prst="line">
            <a:avLst/>
          </a:prstGeom>
          <a:noFill/>
          <a:ln w="44450">
            <a:solidFill>
              <a:schemeClr val="accent1"/>
            </a:solidFill>
            <a:prstDash val="solid"/>
          </a:ln>
        </p:spPr>
      </p:sp>
      <p:sp>
        <p:nvSpPr>
          <p:cNvPr id="4" name="line 52"/>
          <p:cNvSpPr/>
          <p:nvPr/>
        </p:nvSpPr>
        <p:spPr>
          <a:xfrm flipV="1">
            <a:off x="3291840" y="2148840"/>
            <a:ext cx="1645920" cy="1097280"/>
          </a:xfrm>
          <a:prstGeom prst="line">
            <a:avLst/>
          </a:prstGeom>
          <a:noFill/>
          <a:ln w="44450">
            <a:solidFill>
              <a:schemeClr val="accent3"/>
            </a:solidFill>
            <a:prstDash val="solid"/>
          </a:ln>
        </p:spPr>
      </p:sp>
      <p:sp>
        <p:nvSpPr>
          <p:cNvPr id="5" name="line 53"/>
          <p:cNvSpPr/>
          <p:nvPr/>
        </p:nvSpPr>
        <p:spPr>
          <a:xfrm>
            <a:off x="4937760" y="2148840"/>
            <a:ext cx="1463040" cy="0"/>
          </a:xfrm>
          <a:prstGeom prst="line">
            <a:avLst/>
          </a:prstGeom>
          <a:noFill/>
          <a:ln w="44450">
            <a:solidFill>
              <a:schemeClr val="accent3"/>
            </a:solidFill>
            <a:prstDash val="solid"/>
          </a:ln>
        </p:spPr>
      </p:sp>
      <p:sp>
        <p:nvSpPr>
          <p:cNvPr id="6" name="commit 54"/>
          <p:cNvSpPr/>
          <p:nvPr/>
        </p:nvSpPr>
        <p:spPr>
          <a:xfrm>
            <a:off x="1645920" y="3063240"/>
            <a:ext cx="365760" cy="365760"/>
          </a:xfrm>
          <a:prstGeom prst="ellipse">
            <a:avLst/>
          </a:prstGeom>
          <a:solidFill>
            <a:schemeClr val="accent1"/>
          </a:solidFill>
          <a:ln w="6350">
            <a:solidFill>
              <a:schemeClr val="accent1"/>
            </a:solidFill>
            <a:prstDash val="solid"/>
          </a:ln>
        </p:spPr>
      </p:sp>
      <p:sp>
        <p:nvSpPr>
          <p:cNvPr id="7" name="text 55"/>
          <p:cNvSpPr txBox="1"/>
          <p:nvPr/>
        </p:nvSpPr>
        <p:spPr>
          <a:xfrm>
            <a:off x="1645920" y="3063240"/>
            <a:ext cx="365760" cy="365760"/>
          </a:xfrm>
          <a:prstGeom prst="rect">
            <a:avLst/>
          </a:prstGeom>
          <a:noFill/>
          <a:ln/>
        </p:spPr>
        <p:txBody>
          <a:bodyPr wrap="square" lIns="0" tIns="0" rIns="0" bIns="0" rtlCol="0" anchor="ctr"/>
          <a:lstStyle/>
          <a:p>
            <a:pPr algn="ctr" indent="0" marL="0">
              <a:buNone/>
            </a:pPr>
            <a:r>
              <a:rPr lang="en-US" sz="900" b="1" dirty="0">
                <a:solidFill>
                  <a:schemeClr val="tx1"/>
                </a:solidFill>
              </a:rPr>
              <a:t>C1</a:t>
            </a:r>
            <a:endParaRPr lang="en-US" sz="900" dirty="0"/>
          </a:p>
        </p:txBody>
      </p:sp>
      <p:sp>
        <p:nvSpPr>
          <p:cNvPr id="8" name="commit 56"/>
          <p:cNvSpPr/>
          <p:nvPr/>
        </p:nvSpPr>
        <p:spPr>
          <a:xfrm>
            <a:off x="3108960" y="3063240"/>
            <a:ext cx="365760" cy="365760"/>
          </a:xfrm>
          <a:prstGeom prst="ellipse">
            <a:avLst/>
          </a:prstGeom>
          <a:solidFill>
            <a:schemeClr val="accent1"/>
          </a:solidFill>
          <a:ln w="6350">
            <a:solidFill>
              <a:schemeClr val="accent1"/>
            </a:solidFill>
            <a:prstDash val="solid"/>
          </a:ln>
        </p:spPr>
      </p:sp>
      <p:sp>
        <p:nvSpPr>
          <p:cNvPr id="9" name="text 57"/>
          <p:cNvSpPr txBox="1"/>
          <p:nvPr/>
        </p:nvSpPr>
        <p:spPr>
          <a:xfrm>
            <a:off x="3108960" y="3063240"/>
            <a:ext cx="365760" cy="365760"/>
          </a:xfrm>
          <a:prstGeom prst="rect">
            <a:avLst/>
          </a:prstGeom>
          <a:noFill/>
          <a:ln/>
        </p:spPr>
        <p:txBody>
          <a:bodyPr wrap="square" lIns="0" tIns="0" rIns="0" bIns="0" rtlCol="0" anchor="ctr"/>
          <a:lstStyle/>
          <a:p>
            <a:pPr algn="ctr" indent="0" marL="0">
              <a:buNone/>
            </a:pPr>
            <a:r>
              <a:rPr lang="en-US" sz="900" b="1" dirty="0">
                <a:solidFill>
                  <a:schemeClr val="tx1"/>
                </a:solidFill>
              </a:rPr>
              <a:t>C2</a:t>
            </a:r>
            <a:endParaRPr lang="en-US" sz="900" dirty="0"/>
          </a:p>
        </p:txBody>
      </p:sp>
      <p:sp>
        <p:nvSpPr>
          <p:cNvPr id="10" name="commit 58"/>
          <p:cNvSpPr/>
          <p:nvPr/>
        </p:nvSpPr>
        <p:spPr>
          <a:xfrm>
            <a:off x="4572000" y="3063240"/>
            <a:ext cx="365760" cy="365760"/>
          </a:xfrm>
          <a:prstGeom prst="ellipse">
            <a:avLst/>
          </a:prstGeom>
          <a:solidFill>
            <a:schemeClr val="accent1"/>
          </a:solidFill>
          <a:ln w="6350">
            <a:solidFill>
              <a:schemeClr val="accent1"/>
            </a:solidFill>
            <a:prstDash val="solid"/>
          </a:ln>
        </p:spPr>
      </p:sp>
      <p:sp>
        <p:nvSpPr>
          <p:cNvPr id="11" name="text 59"/>
          <p:cNvSpPr txBox="1"/>
          <p:nvPr/>
        </p:nvSpPr>
        <p:spPr>
          <a:xfrm>
            <a:off x="4572000" y="3063240"/>
            <a:ext cx="365760" cy="365760"/>
          </a:xfrm>
          <a:prstGeom prst="rect">
            <a:avLst/>
          </a:prstGeom>
          <a:noFill/>
          <a:ln/>
        </p:spPr>
        <p:txBody>
          <a:bodyPr wrap="square" lIns="0" tIns="0" rIns="0" bIns="0" rtlCol="0" anchor="ctr"/>
          <a:lstStyle/>
          <a:p>
            <a:pPr algn="ctr" indent="0" marL="0">
              <a:buNone/>
            </a:pPr>
            <a:r>
              <a:rPr lang="en-US" sz="900" b="1" dirty="0">
                <a:solidFill>
                  <a:schemeClr val="tx1"/>
                </a:solidFill>
              </a:rPr>
              <a:t>C3</a:t>
            </a:r>
            <a:endParaRPr lang="en-US" sz="900" dirty="0"/>
          </a:p>
        </p:txBody>
      </p:sp>
      <p:sp>
        <p:nvSpPr>
          <p:cNvPr id="12" name="commit 60"/>
          <p:cNvSpPr/>
          <p:nvPr/>
        </p:nvSpPr>
        <p:spPr>
          <a:xfrm>
            <a:off x="4754880" y="1965960"/>
            <a:ext cx="365760" cy="365760"/>
          </a:xfrm>
          <a:prstGeom prst="ellipse">
            <a:avLst/>
          </a:prstGeom>
          <a:solidFill>
            <a:schemeClr val="accent3"/>
          </a:solidFill>
          <a:ln w="6350">
            <a:solidFill>
              <a:schemeClr val="accent3"/>
            </a:solidFill>
            <a:prstDash val="solid"/>
          </a:ln>
        </p:spPr>
      </p:sp>
      <p:sp>
        <p:nvSpPr>
          <p:cNvPr id="13" name="text 61"/>
          <p:cNvSpPr txBox="1"/>
          <p:nvPr/>
        </p:nvSpPr>
        <p:spPr>
          <a:xfrm>
            <a:off x="4754880" y="1965960"/>
            <a:ext cx="365760" cy="365760"/>
          </a:xfrm>
          <a:prstGeom prst="rect">
            <a:avLst/>
          </a:prstGeom>
          <a:noFill/>
          <a:ln/>
        </p:spPr>
        <p:txBody>
          <a:bodyPr wrap="square" lIns="0" tIns="0" rIns="0" bIns="0" rtlCol="0" anchor="ctr"/>
          <a:lstStyle/>
          <a:p>
            <a:pPr algn="ctr" indent="0" marL="0">
              <a:buNone/>
            </a:pPr>
            <a:r>
              <a:rPr lang="en-US" sz="900" b="1" dirty="0">
                <a:solidFill>
                  <a:schemeClr val="tx1"/>
                </a:solidFill>
              </a:rPr>
              <a:t>C4</a:t>
            </a:r>
            <a:endParaRPr lang="en-US" sz="900" dirty="0"/>
          </a:p>
        </p:txBody>
      </p:sp>
      <p:sp>
        <p:nvSpPr>
          <p:cNvPr id="14" name="commit 62"/>
          <p:cNvSpPr/>
          <p:nvPr/>
        </p:nvSpPr>
        <p:spPr>
          <a:xfrm>
            <a:off x="6217920" y="1965960"/>
            <a:ext cx="365760" cy="365760"/>
          </a:xfrm>
          <a:prstGeom prst="ellipse">
            <a:avLst/>
          </a:prstGeom>
          <a:solidFill>
            <a:schemeClr val="accent3"/>
          </a:solidFill>
          <a:ln w="6350">
            <a:solidFill>
              <a:schemeClr val="accent3"/>
            </a:solidFill>
            <a:prstDash val="solid"/>
          </a:ln>
        </p:spPr>
      </p:sp>
      <p:sp>
        <p:nvSpPr>
          <p:cNvPr id="15" name="text 63"/>
          <p:cNvSpPr txBox="1"/>
          <p:nvPr/>
        </p:nvSpPr>
        <p:spPr>
          <a:xfrm>
            <a:off x="6217920" y="1965960"/>
            <a:ext cx="365760" cy="365760"/>
          </a:xfrm>
          <a:prstGeom prst="rect">
            <a:avLst/>
          </a:prstGeom>
          <a:noFill/>
          <a:ln/>
        </p:spPr>
        <p:txBody>
          <a:bodyPr wrap="square" lIns="0" tIns="0" rIns="0" bIns="0" rtlCol="0" anchor="ctr"/>
          <a:lstStyle/>
          <a:p>
            <a:pPr algn="ctr" indent="0" marL="0">
              <a:buNone/>
            </a:pPr>
            <a:r>
              <a:rPr lang="en-US" sz="900" b="1" dirty="0">
                <a:solidFill>
                  <a:schemeClr val="tx1"/>
                </a:solidFill>
              </a:rPr>
              <a:t>C5</a:t>
            </a:r>
            <a:endParaRPr lang="en-US" sz="900" dirty="0"/>
          </a:p>
        </p:txBody>
      </p:sp>
      <p:sp>
        <p:nvSpPr>
          <p:cNvPr id="16" name="commit 64"/>
          <p:cNvSpPr/>
          <p:nvPr/>
        </p:nvSpPr>
        <p:spPr>
          <a:xfrm>
            <a:off x="7498080" y="1965960"/>
            <a:ext cx="365760" cy="365760"/>
          </a:xfrm>
          <a:prstGeom prst="ellipse">
            <a:avLst/>
          </a:prstGeom>
          <a:solidFill>
            <a:schemeClr val="bg1"/>
          </a:solidFill>
          <a:ln w="28575">
            <a:solidFill>
              <a:schemeClr val="accent3"/>
            </a:solidFill>
            <a:prstDash val="dash"/>
          </a:ln>
        </p:spPr>
      </p:sp>
      <p:sp>
        <p:nvSpPr>
          <p:cNvPr id="17" name="text 65"/>
          <p:cNvSpPr txBox="1"/>
          <p:nvPr/>
        </p:nvSpPr>
        <p:spPr>
          <a:xfrm>
            <a:off x="7498080" y="1965960"/>
            <a:ext cx="365760" cy="365760"/>
          </a:xfrm>
          <a:prstGeom prst="rect">
            <a:avLst/>
          </a:prstGeom>
          <a:noFill/>
          <a:ln/>
        </p:spPr>
        <p:txBody>
          <a:bodyPr wrap="square" lIns="0" tIns="0" rIns="0" bIns="0" rtlCol="0" anchor="ctr"/>
          <a:lstStyle/>
          <a:p>
            <a:pPr algn="ctr" indent="0" marL="0">
              <a:buNone/>
            </a:pPr>
            <a:r>
              <a:rPr lang="en-US" sz="900" b="1" dirty="0">
                <a:solidFill>
                  <a:schemeClr val="accent3"/>
                </a:solidFill>
              </a:rPr>
              <a:t>C6</a:t>
            </a:r>
            <a:endParaRPr lang="en-US" sz="900" dirty="0"/>
          </a:p>
        </p:txBody>
      </p:sp>
      <p:sp>
        <p:nvSpPr>
          <p:cNvPr id="18" name="line 66"/>
          <p:cNvSpPr/>
          <p:nvPr/>
        </p:nvSpPr>
        <p:spPr>
          <a:xfrm>
            <a:off x="6583680" y="2148840"/>
            <a:ext cx="914400" cy="0"/>
          </a:xfrm>
          <a:prstGeom prst="line">
            <a:avLst/>
          </a:prstGeom>
          <a:noFill/>
          <a:ln w="25400">
            <a:solidFill>
              <a:schemeClr val="accent3"/>
            </a:solidFill>
            <a:prstDash val="dash"/>
          </a:ln>
        </p:spPr>
      </p:sp>
      <p:sp>
        <p:nvSpPr>
          <p:cNvPr id="19" name="line 67"/>
          <p:cNvSpPr/>
          <p:nvPr/>
        </p:nvSpPr>
        <p:spPr>
          <a:xfrm>
            <a:off x="4754880" y="3429000"/>
            <a:ext cx="0" cy="411480"/>
          </a:xfrm>
          <a:prstGeom prst="line">
            <a:avLst/>
          </a:prstGeom>
          <a:noFill/>
          <a:ln w="19050">
            <a:solidFill>
              <a:schemeClr val="accent1"/>
            </a:solidFill>
            <a:prstDash val="solid"/>
          </a:ln>
        </p:spPr>
      </p:sp>
      <p:sp>
        <p:nvSpPr>
          <p:cNvPr id="20" name="tag 68"/>
          <p:cNvSpPr/>
          <p:nvPr/>
        </p:nvSpPr>
        <p:spPr>
          <a:xfrm>
            <a:off x="4416552" y="3867912"/>
            <a:ext cx="676656" cy="310896"/>
          </a:xfrm>
          <a:prstGeom prst="roundRect">
            <a:avLst>
              <a:gd name="adj" fmla="val 50000"/>
            </a:avLst>
          </a:prstGeom>
          <a:solidFill>
            <a:schemeClr val="accent1"/>
          </a:solidFill>
          <a:ln w="6350">
            <a:solidFill>
              <a:schemeClr val="accent1"/>
            </a:solidFill>
            <a:prstDash val="solid"/>
          </a:ln>
        </p:spPr>
      </p:sp>
      <p:sp>
        <p:nvSpPr>
          <p:cNvPr id="21" name="text 69"/>
          <p:cNvSpPr txBox="1"/>
          <p:nvPr/>
        </p:nvSpPr>
        <p:spPr>
          <a:xfrm>
            <a:off x="4416552" y="3867912"/>
            <a:ext cx="676656"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main</a:t>
            </a:r>
            <a:endParaRPr lang="en-US" sz="1100" dirty="0"/>
          </a:p>
        </p:txBody>
      </p:sp>
      <p:sp>
        <p:nvSpPr>
          <p:cNvPr id="22" name="line 70"/>
          <p:cNvSpPr/>
          <p:nvPr/>
        </p:nvSpPr>
        <p:spPr>
          <a:xfrm>
            <a:off x="6400800" y="1737360"/>
            <a:ext cx="0" cy="228600"/>
          </a:xfrm>
          <a:prstGeom prst="line">
            <a:avLst/>
          </a:prstGeom>
          <a:noFill/>
          <a:ln w="19050">
            <a:solidFill>
              <a:schemeClr val="accent3"/>
            </a:solidFill>
            <a:prstDash val="solid"/>
          </a:ln>
        </p:spPr>
      </p:sp>
      <p:sp>
        <p:nvSpPr>
          <p:cNvPr id="23" name="tag 71"/>
          <p:cNvSpPr/>
          <p:nvPr/>
        </p:nvSpPr>
        <p:spPr>
          <a:xfrm>
            <a:off x="5518404" y="1417320"/>
            <a:ext cx="1764792" cy="310896"/>
          </a:xfrm>
          <a:prstGeom prst="roundRect">
            <a:avLst>
              <a:gd name="adj" fmla="val 50000"/>
            </a:avLst>
          </a:prstGeom>
          <a:solidFill>
            <a:schemeClr val="accent3"/>
          </a:solidFill>
          <a:ln w="6350">
            <a:solidFill>
              <a:schemeClr val="accent3"/>
            </a:solidFill>
            <a:prstDash val="solid"/>
          </a:ln>
        </p:spPr>
      </p:sp>
      <p:sp>
        <p:nvSpPr>
          <p:cNvPr id="24" name="text 72"/>
          <p:cNvSpPr txBox="1"/>
          <p:nvPr/>
        </p:nvSpPr>
        <p:spPr>
          <a:xfrm>
            <a:off x="5518404" y="1417320"/>
            <a:ext cx="1764792" cy="310896"/>
          </a:xfrm>
          <a:prstGeom prst="rect">
            <a:avLst/>
          </a:prstGeom>
          <a:noFill/>
          <a:ln/>
        </p:spPr>
        <p:txBody>
          <a:bodyPr wrap="square" lIns="0" tIns="0" rIns="0" bIns="0" rtlCol="0" anchor="ctr"/>
          <a:lstStyle/>
          <a:p>
            <a:pPr algn="ctr" indent="0" marL="0">
              <a:buNone/>
            </a:pPr>
            <a:r>
              <a:rPr lang="en-US" sz="1100" b="1" dirty="0">
                <a:solidFill>
                  <a:schemeClr val="bg1"/>
                </a:solidFill>
                <a:latin typeface="Courier New" pitchFamily="34" charset="0"/>
                <a:ea typeface="Courier New" pitchFamily="34" charset="-122"/>
                <a:cs typeface="Courier New" pitchFamily="34" charset="-120"/>
              </a:rPr>
              <a:t>feature/clean-data</a:t>
            </a:r>
            <a:endParaRPr lang="en-US" sz="1100" dirty="0"/>
          </a:p>
        </p:txBody>
      </p:sp>
      <p:sp>
        <p:nvSpPr>
          <p:cNvPr id="25" name="tag 73"/>
          <p:cNvSpPr/>
          <p:nvPr/>
        </p:nvSpPr>
        <p:spPr>
          <a:xfrm>
            <a:off x="4411980" y="1417320"/>
            <a:ext cx="777240" cy="310896"/>
          </a:xfrm>
          <a:prstGeom prst="roundRect">
            <a:avLst>
              <a:gd name="adj" fmla="val 50000"/>
            </a:avLst>
          </a:prstGeom>
          <a:solidFill>
            <a:schemeClr val="bg1"/>
          </a:solidFill>
          <a:ln w="19050">
            <a:solidFill>
              <a:schemeClr val="tx1"/>
            </a:solidFill>
            <a:prstDash val="solid"/>
          </a:ln>
        </p:spPr>
      </p:sp>
      <p:sp>
        <p:nvSpPr>
          <p:cNvPr id="26" name="text 74"/>
          <p:cNvSpPr txBox="1"/>
          <p:nvPr/>
        </p:nvSpPr>
        <p:spPr>
          <a:xfrm>
            <a:off x="4411980" y="1417320"/>
            <a:ext cx="777240" cy="310896"/>
          </a:xfrm>
          <a:prstGeom prst="rect">
            <a:avLst/>
          </a:prstGeom>
          <a:noFill/>
          <a:ln/>
        </p:spPr>
        <p:txBody>
          <a:bodyPr wrap="square" lIns="0" tIns="0" rIns="0" bIns="0" rtlCol="0" anchor="ctr"/>
          <a:lstStyle/>
          <a:p>
            <a:pPr algn="ctr" indent="0" marL="0">
              <a:buNone/>
            </a:pPr>
            <a:r>
              <a:rPr lang="en-US" sz="1100" b="1" dirty="0">
                <a:solidFill>
                  <a:schemeClr val="tx1"/>
                </a:solidFill>
                <a:latin typeface="Courier New" pitchFamily="34" charset="0"/>
                <a:ea typeface="Courier New" pitchFamily="34" charset="-122"/>
                <a:cs typeface="Courier New" pitchFamily="34" charset="-120"/>
              </a:rPr>
              <a:t>HEAD</a:t>
            </a:r>
            <a:endParaRPr lang="en-US" sz="1100" dirty="0"/>
          </a:p>
        </p:txBody>
      </p:sp>
      <p:sp>
        <p:nvSpPr>
          <p:cNvPr id="27" name="line 75"/>
          <p:cNvSpPr/>
          <p:nvPr/>
        </p:nvSpPr>
        <p:spPr>
          <a:xfrm>
            <a:off x="5212080" y="1572768"/>
            <a:ext cx="256032" cy="0"/>
          </a:xfrm>
          <a:prstGeom prst="line">
            <a:avLst/>
          </a:prstGeom>
          <a:noFill/>
          <a:ln w="19050">
            <a:solidFill>
              <a:schemeClr val="tx1"/>
            </a:solidFill>
            <a:prstDash val="solid"/>
            <a:tailEnd type="triangle"/>
          </a:ln>
        </p:spPr>
      </p:sp>
      <p:sp>
        <p:nvSpPr>
          <p:cNvPr id="28" name="text 76"/>
          <p:cNvSpPr txBox="1"/>
          <p:nvPr/>
        </p:nvSpPr>
        <p:spPr>
          <a:xfrm>
            <a:off x="7132320" y="2377440"/>
            <a:ext cx="1188720" cy="274320"/>
          </a:xfrm>
          <a:prstGeom prst="rect">
            <a:avLst/>
          </a:prstGeom>
          <a:noFill/>
          <a:ln/>
        </p:spPr>
        <p:txBody>
          <a:bodyPr wrap="square" lIns="0" tIns="0" rIns="0" bIns="0" rtlCol="0" anchor="ctr"/>
          <a:lstStyle/>
          <a:p>
            <a:pPr algn="ctr" indent="0" marL="0">
              <a:buNone/>
            </a:pPr>
            <a:r>
              <a:rPr lang="en-US" sz="1000" i="1" dirty="0">
                <a:solidFill>
                  <a:schemeClr val="accent4"/>
                </a:solidFill>
              </a:rPr>
              <a:t>next commit</a:t>
            </a:r>
            <a:endParaRPr lang="en-US" sz="1000" dirty="0"/>
          </a:p>
        </p:txBody>
      </p:sp>
      <p:sp>
        <p:nvSpPr>
          <p:cNvPr id="29" name="card 77"/>
          <p:cNvSpPr/>
          <p:nvPr/>
        </p:nvSpPr>
        <p:spPr>
          <a:xfrm>
            <a:off x="8686800" y="1371600"/>
            <a:ext cx="2926080" cy="2651760"/>
          </a:xfrm>
          <a:prstGeom prst="roundRect">
            <a:avLst>
              <a:gd name="adj" fmla="val 4138"/>
            </a:avLst>
          </a:prstGeom>
          <a:solidFill>
            <a:schemeClr val="bg2"/>
          </a:solidFill>
          <a:ln w="9525">
            <a:solidFill>
              <a:schemeClr val="bg2"/>
            </a:solidFill>
            <a:prstDash val="solid"/>
          </a:ln>
        </p:spPr>
      </p:sp>
      <p:sp>
        <p:nvSpPr>
          <p:cNvPr id="30" name="text 78"/>
          <p:cNvSpPr txBox="1"/>
          <p:nvPr/>
        </p:nvSpPr>
        <p:spPr>
          <a:xfrm>
            <a:off x="8961120" y="1554480"/>
            <a:ext cx="246888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RIGHT NOW</a:t>
            </a:r>
            <a:endParaRPr lang="en-US" sz="1200" dirty="0"/>
          </a:p>
        </p:txBody>
      </p:sp>
      <p:sp>
        <p:nvSpPr>
          <p:cNvPr id="31" name="right now body"/>
          <p:cNvSpPr txBox="1"/>
          <p:nvPr/>
        </p:nvSpPr>
        <p:spPr>
          <a:xfrm>
            <a:off x="8961120" y="1874520"/>
            <a:ext cx="2468880" cy="1463040"/>
          </a:xfrm>
          <a:prstGeom prst="rect">
            <a:avLst/>
          </a:prstGeom>
          <a:noFill/>
          <a:ln/>
        </p:spPr>
        <p:txBody>
          <a:bodyPr wrap="square" lIns="0" tIns="0" rIns="0" bIns="0" rtlCol="0" anchor="t"/>
          <a:lstStyle/>
          <a:p>
            <a:pPr indent="0" marL="0">
              <a:buNone/>
            </a:pPr>
            <a:r>
              <a:rPr lang="en-US" sz="1400" dirty="0">
                <a:solidFill>
                  <a:schemeClr val="tx2"/>
                </a:solidFill>
              </a:rPr>
              <a:t>You are on</a:t>
            </a:r>
            <a:endParaRPr lang="en-US" sz="1400" dirty="0"/>
          </a:p>
          <a:p>
            <a:pPr indent="0" marL="0">
              <a:buNone/>
            </a:pPr>
            <a:r>
              <a:rPr lang="en-US" sz="1400" dirty="0">
                <a:solidFill>
                  <a:schemeClr val="accent3"/>
                </a:solidFill>
                <a:latin typeface="Courier New" pitchFamily="34" charset="0"/>
                <a:ea typeface="Courier New" pitchFamily="34" charset="-122"/>
                <a:cs typeface="Courier New" pitchFamily="34" charset="-120"/>
              </a:rPr>
              <a:t>feature/clean-data</a:t>
            </a:r>
            <a:endParaRPr lang="en-US" sz="1400" dirty="0"/>
          </a:p>
          <a:p>
            <a:pPr indent="0" marL="0">
              <a:buNone/>
            </a:pPr>
            <a:r>
              <a:rPr lang="en-US" sz="1400" dirty="0">
                <a:solidFill>
                  <a:schemeClr val="tx2"/>
                </a:solidFill>
              </a:rPr>
              <a:t>Your next commit becomes C6, and the branch label moves to it. </a:t>
            </a:r>
            <a:pPr indent="0" marL="0">
              <a:buNone/>
            </a:pPr>
            <a:r>
              <a:rPr lang="en-US" sz="1400" dirty="0">
                <a:solidFill>
                  <a:schemeClr val="accent3"/>
                </a:solidFill>
                <a:latin typeface="Courier New" pitchFamily="34" charset="0"/>
                <a:ea typeface="Courier New" pitchFamily="34" charset="-122"/>
                <a:cs typeface="Courier New" pitchFamily="34" charset="-120"/>
              </a:rPr>
              <a:t>main</a:t>
            </a:r>
            <a:pPr indent="0" marL="0">
              <a:buNone/>
            </a:pPr>
            <a:r>
              <a:rPr lang="en-US" sz="1400" dirty="0">
                <a:solidFill>
                  <a:schemeClr val="tx2"/>
                </a:solidFill>
              </a:rPr>
              <a:t> stays at C3 until you merge.</a:t>
            </a:r>
            <a:endParaRPr lang="en-US" sz="1400" dirty="0"/>
          </a:p>
        </p:txBody>
      </p:sp>
      <p:sp>
        <p:nvSpPr>
          <p:cNvPr id="32" name="text 79"/>
          <p:cNvSpPr txBox="1"/>
          <p:nvPr/>
        </p:nvSpPr>
        <p:spPr>
          <a:xfrm>
            <a:off x="8961120" y="3246120"/>
            <a:ext cx="2468880" cy="228600"/>
          </a:xfrm>
          <a:prstGeom prst="rect">
            <a:avLst/>
          </a:prstGeom>
          <a:noFill/>
          <a:ln/>
        </p:spPr>
        <p:txBody>
          <a:bodyPr wrap="square" lIns="0" tIns="0" rIns="0" bIns="0" rtlCol="0" anchor="ctr"/>
          <a:lstStyle/>
          <a:p>
            <a:pPr indent="0" marL="0">
              <a:buNone/>
            </a:pPr>
            <a:r>
              <a:rPr lang="en-US" sz="1000" b="1" spc="150" kern="0" dirty="0">
                <a:solidFill>
                  <a:schemeClr val="accent4"/>
                </a:solidFill>
              </a:rPr>
              <a:t>SEE IT YOURSELF</a:t>
            </a:r>
            <a:endParaRPr lang="en-US" sz="1000" dirty="0"/>
          </a:p>
        </p:txBody>
      </p:sp>
      <p:sp>
        <p:nvSpPr>
          <p:cNvPr id="33" name="see it yourself"/>
          <p:cNvSpPr txBox="1"/>
          <p:nvPr/>
        </p:nvSpPr>
        <p:spPr>
          <a:xfrm>
            <a:off x="8961120" y="3493008"/>
            <a:ext cx="2560320" cy="457200"/>
          </a:xfrm>
          <a:prstGeom prst="rect">
            <a:avLst/>
          </a:prstGeom>
          <a:noFill/>
          <a:ln/>
        </p:spPr>
        <p:txBody>
          <a:bodyPr wrap="square" lIns="0" tIns="0" rIns="0" bIns="0" rtlCol="0" anchor="t"/>
          <a:lstStyle/>
          <a:p>
            <a:pPr indent="0" marL="0">
              <a:buNone/>
            </a:pPr>
            <a:r>
              <a:rPr lang="en-US" sz="1150" dirty="0">
                <a:solidFill>
                  <a:schemeClr val="accent3"/>
                </a:solidFill>
                <a:latin typeface="Courier New" pitchFamily="34" charset="0"/>
                <a:ea typeface="Courier New" pitchFamily="34" charset="-122"/>
                <a:cs typeface="Courier New" pitchFamily="34" charset="-120"/>
              </a:rPr>
              <a:t>git log --oneline \</a:t>
            </a:r>
            <a:endParaRPr lang="en-US" sz="1150" dirty="0"/>
          </a:p>
          <a:p>
            <a:pPr indent="0" marL="0">
              <a:buNone/>
            </a:pPr>
            <a:r>
              <a:rPr lang="en-US" sz="1150" dirty="0">
                <a:solidFill>
                  <a:schemeClr val="accent3"/>
                </a:solidFill>
                <a:latin typeface="Courier New" pitchFamily="34" charset="0"/>
                <a:ea typeface="Courier New" pitchFamily="34" charset="-122"/>
                <a:cs typeface="Courier New" pitchFamily="34" charset="-120"/>
              </a:rPr>
              <a:t>  --graph --all</a:t>
            </a:r>
            <a:endParaRPr lang="en-US" sz="1150" dirty="0"/>
          </a:p>
        </p:txBody>
      </p:sp>
      <p:sp>
        <p:nvSpPr>
          <p:cNvPr id="34" name="card 80"/>
          <p:cNvSpPr/>
          <p:nvPr/>
        </p:nvSpPr>
        <p:spPr>
          <a:xfrm>
            <a:off x="548640" y="4526280"/>
            <a:ext cx="3520440" cy="1600200"/>
          </a:xfrm>
          <a:prstGeom prst="roundRect">
            <a:avLst>
              <a:gd name="adj" fmla="val 6857"/>
            </a:avLst>
          </a:prstGeom>
          <a:solidFill>
            <a:schemeClr val="bg2"/>
          </a:solidFill>
          <a:ln w="9525">
            <a:solidFill>
              <a:schemeClr val="bg2"/>
            </a:solidFill>
            <a:prstDash val="solid"/>
          </a:ln>
        </p:spPr>
      </p:sp>
      <p:sp>
        <p:nvSpPr>
          <p:cNvPr id="35" name="text 81"/>
          <p:cNvSpPr txBox="1"/>
          <p:nvPr/>
        </p:nvSpPr>
        <p:spPr>
          <a:xfrm>
            <a:off x="822960" y="4681728"/>
            <a:ext cx="301752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COMMIT</a:t>
            </a:r>
            <a:endParaRPr lang="en-US" sz="1200" dirty="0"/>
          </a:p>
        </p:txBody>
      </p:sp>
      <p:sp>
        <p:nvSpPr>
          <p:cNvPr id="36" name="text 82"/>
          <p:cNvSpPr txBox="1"/>
          <p:nvPr/>
        </p:nvSpPr>
        <p:spPr>
          <a:xfrm>
            <a:off x="822960" y="5001768"/>
            <a:ext cx="3017520" cy="1051560"/>
          </a:xfrm>
          <a:prstGeom prst="rect">
            <a:avLst/>
          </a:prstGeom>
          <a:noFill/>
          <a:ln/>
        </p:spPr>
        <p:txBody>
          <a:bodyPr wrap="square" lIns="0" tIns="0" rIns="0" bIns="0" rtlCol="0" anchor="t"/>
          <a:lstStyle/>
          <a:p>
            <a:pPr indent="0" marL="0">
              <a:buNone/>
            </a:pPr>
            <a:r>
              <a:rPr lang="en-US" sz="1350" dirty="0">
                <a:solidFill>
                  <a:schemeClr val="tx2"/>
                </a:solidFill>
              </a:rPr>
              <a:t>A snapshot of every tracked file, with a message and a link to its parent. Commits are the dots.</a:t>
            </a:r>
            <a:endParaRPr lang="en-US" sz="1350" dirty="0"/>
          </a:p>
        </p:txBody>
      </p:sp>
      <p:sp>
        <p:nvSpPr>
          <p:cNvPr id="37" name="card 83"/>
          <p:cNvSpPr/>
          <p:nvPr/>
        </p:nvSpPr>
        <p:spPr>
          <a:xfrm>
            <a:off x="4315968" y="4526280"/>
            <a:ext cx="3520440" cy="1600200"/>
          </a:xfrm>
          <a:prstGeom prst="roundRect">
            <a:avLst>
              <a:gd name="adj" fmla="val 6857"/>
            </a:avLst>
          </a:prstGeom>
          <a:solidFill>
            <a:schemeClr val="bg2"/>
          </a:solidFill>
          <a:ln w="9525">
            <a:solidFill>
              <a:schemeClr val="bg2"/>
            </a:solidFill>
            <a:prstDash val="solid"/>
          </a:ln>
        </p:spPr>
      </p:sp>
      <p:sp>
        <p:nvSpPr>
          <p:cNvPr id="38" name="text 84"/>
          <p:cNvSpPr txBox="1"/>
          <p:nvPr/>
        </p:nvSpPr>
        <p:spPr>
          <a:xfrm>
            <a:off x="4590288" y="4681728"/>
            <a:ext cx="301752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BRANCH</a:t>
            </a:r>
            <a:endParaRPr lang="en-US" sz="1200" dirty="0"/>
          </a:p>
        </p:txBody>
      </p:sp>
      <p:sp>
        <p:nvSpPr>
          <p:cNvPr id="39" name="text 85"/>
          <p:cNvSpPr txBox="1"/>
          <p:nvPr/>
        </p:nvSpPr>
        <p:spPr>
          <a:xfrm>
            <a:off x="4590288" y="5001768"/>
            <a:ext cx="3017520" cy="1051560"/>
          </a:xfrm>
          <a:prstGeom prst="rect">
            <a:avLst/>
          </a:prstGeom>
          <a:noFill/>
          <a:ln/>
        </p:spPr>
        <p:txBody>
          <a:bodyPr wrap="square" lIns="0" tIns="0" rIns="0" bIns="0" rtlCol="0" anchor="t"/>
          <a:lstStyle/>
          <a:p>
            <a:pPr indent="0" marL="0">
              <a:buNone/>
            </a:pPr>
            <a:r>
              <a:rPr lang="en-US" sz="1350" dirty="0">
                <a:solidFill>
                  <a:schemeClr val="tx2"/>
                </a:solidFill>
              </a:rPr>
              <a:t>A named label on the newest commit of a line of work. It moves forward with each commit. Creating one copies nothing.</a:t>
            </a:r>
            <a:endParaRPr lang="en-US" sz="1350" dirty="0"/>
          </a:p>
        </p:txBody>
      </p:sp>
      <p:sp>
        <p:nvSpPr>
          <p:cNvPr id="40" name="card 86"/>
          <p:cNvSpPr/>
          <p:nvPr/>
        </p:nvSpPr>
        <p:spPr>
          <a:xfrm>
            <a:off x="8083296" y="4526280"/>
            <a:ext cx="3520440" cy="1600200"/>
          </a:xfrm>
          <a:prstGeom prst="roundRect">
            <a:avLst>
              <a:gd name="adj" fmla="val 6857"/>
            </a:avLst>
          </a:prstGeom>
          <a:solidFill>
            <a:schemeClr val="bg2"/>
          </a:solidFill>
          <a:ln w="9525">
            <a:solidFill>
              <a:schemeClr val="bg2"/>
            </a:solidFill>
            <a:prstDash val="solid"/>
          </a:ln>
        </p:spPr>
      </p:sp>
      <p:sp>
        <p:nvSpPr>
          <p:cNvPr id="41" name="text 87"/>
          <p:cNvSpPr txBox="1"/>
          <p:nvPr/>
        </p:nvSpPr>
        <p:spPr>
          <a:xfrm>
            <a:off x="8357616" y="4681728"/>
            <a:ext cx="301752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HEAD</a:t>
            </a:r>
            <a:endParaRPr lang="en-US" sz="1200" dirty="0"/>
          </a:p>
        </p:txBody>
      </p:sp>
      <p:sp>
        <p:nvSpPr>
          <p:cNvPr id="42" name="text 88"/>
          <p:cNvSpPr txBox="1"/>
          <p:nvPr/>
        </p:nvSpPr>
        <p:spPr>
          <a:xfrm>
            <a:off x="8357616" y="5001768"/>
            <a:ext cx="3017520" cy="1051560"/>
          </a:xfrm>
          <a:prstGeom prst="rect">
            <a:avLst/>
          </a:prstGeom>
          <a:noFill/>
          <a:ln/>
        </p:spPr>
        <p:txBody>
          <a:bodyPr wrap="square" lIns="0" tIns="0" rIns="0" bIns="0" rtlCol="0" anchor="t"/>
          <a:lstStyle/>
          <a:p>
            <a:pPr indent="0" marL="0">
              <a:buNone/>
            </a:pPr>
            <a:r>
              <a:rPr lang="en-US" sz="1350" dirty="0">
                <a:solidFill>
                  <a:schemeClr val="tx2"/>
                </a:solidFill>
              </a:rPr>
              <a:t>Which branch you are on right now. Your next commit goes wherever HEAD points. main is just a branch with a special job.</a:t>
            </a:r>
            <a:endParaRPr lang="en-US" sz="135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The branch workflow in five steps</a:t>
            </a:r>
            <a:endParaRPr lang="en-US" sz="3000" dirty="0"/>
          </a:p>
        </p:txBody>
      </p:sp>
      <p:sp>
        <p:nvSpPr>
          <p:cNvPr id="3" name="number 89"/>
          <p:cNvSpPr/>
          <p:nvPr/>
        </p:nvSpPr>
        <p:spPr>
          <a:xfrm>
            <a:off x="1316736" y="1408176"/>
            <a:ext cx="566928" cy="566928"/>
          </a:xfrm>
          <a:prstGeom prst="ellipse">
            <a:avLst/>
          </a:prstGeom>
          <a:solidFill>
            <a:schemeClr val="accent3"/>
          </a:solidFill>
          <a:ln w="6350">
            <a:solidFill>
              <a:schemeClr val="accent3"/>
            </a:solidFill>
            <a:prstDash val="solid"/>
          </a:ln>
        </p:spPr>
      </p:sp>
      <p:sp>
        <p:nvSpPr>
          <p:cNvPr id="4" name="text 90"/>
          <p:cNvSpPr txBox="1"/>
          <p:nvPr/>
        </p:nvSpPr>
        <p:spPr>
          <a:xfrm>
            <a:off x="1316736" y="14081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5" name="line 91"/>
          <p:cNvSpPr/>
          <p:nvPr/>
        </p:nvSpPr>
        <p:spPr>
          <a:xfrm>
            <a:off x="1929384" y="1691640"/>
            <a:ext cx="1581912" cy="0"/>
          </a:xfrm>
          <a:prstGeom prst="line">
            <a:avLst/>
          </a:prstGeom>
          <a:noFill/>
          <a:ln w="25400">
            <a:solidFill>
              <a:schemeClr val="accent1"/>
            </a:solidFill>
            <a:prstDash val="solid"/>
            <a:tailEnd type="triangle"/>
          </a:ln>
        </p:spPr>
      </p:sp>
      <p:sp>
        <p:nvSpPr>
          <p:cNvPr id="6" name="text 92"/>
          <p:cNvSpPr txBox="1"/>
          <p:nvPr/>
        </p:nvSpPr>
        <p:spPr>
          <a:xfrm>
            <a:off x="548640" y="210312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Branch</a:t>
            </a:r>
            <a:endParaRPr lang="en-US" sz="1800" dirty="0"/>
          </a:p>
        </p:txBody>
      </p:sp>
      <p:sp>
        <p:nvSpPr>
          <p:cNvPr id="7" name="text 93"/>
          <p:cNvSpPr txBox="1"/>
          <p:nvPr/>
        </p:nvSpPr>
        <p:spPr>
          <a:xfrm>
            <a:off x="548640" y="2514600"/>
            <a:ext cx="2103120" cy="868680"/>
          </a:xfrm>
          <a:prstGeom prst="rect">
            <a:avLst/>
          </a:prstGeom>
          <a:noFill/>
          <a:ln/>
        </p:spPr>
        <p:txBody>
          <a:bodyPr wrap="square" lIns="0" tIns="0" rIns="0" bIns="0" rtlCol="0" anchor="t"/>
          <a:lstStyle/>
          <a:p>
            <a:pPr algn="ctr" indent="0" marL="0">
              <a:buNone/>
            </a:pPr>
            <a:r>
              <a:rPr lang="en-US" sz="1300" dirty="0">
                <a:solidFill>
                  <a:schemeClr val="tx2"/>
                </a:solidFill>
              </a:rPr>
              <a:t>Start from an up-to-date main. Name the branch for the task.</a:t>
            </a:r>
            <a:endParaRPr lang="en-US" sz="1300" dirty="0"/>
          </a:p>
        </p:txBody>
      </p:sp>
      <p:sp>
        <p:nvSpPr>
          <p:cNvPr id="8" name="code block 94"/>
          <p:cNvSpPr/>
          <p:nvPr/>
        </p:nvSpPr>
        <p:spPr>
          <a:xfrm>
            <a:off x="548640" y="3429000"/>
            <a:ext cx="2103120" cy="1143000"/>
          </a:xfrm>
          <a:prstGeom prst="roundRect">
            <a:avLst>
              <a:gd name="adj" fmla="val 8000"/>
            </a:avLst>
          </a:prstGeom>
          <a:solidFill>
            <a:schemeClr val="bg2"/>
          </a:solidFill>
          <a:ln w="9525">
            <a:solidFill>
              <a:schemeClr val="bg2"/>
            </a:solidFill>
            <a:prstDash val="solid"/>
          </a:ln>
        </p:spPr>
      </p:sp>
      <p:sp>
        <p:nvSpPr>
          <p:cNvPr id="9" name="code 95"/>
          <p:cNvSpPr txBox="1"/>
          <p:nvPr/>
        </p:nvSpPr>
        <p:spPr>
          <a:xfrm>
            <a:off x="685800" y="3538728"/>
            <a:ext cx="1828800" cy="923544"/>
          </a:xfrm>
          <a:prstGeom prst="rect">
            <a:avLst/>
          </a:prstGeom>
          <a:noFill/>
          <a:ln/>
        </p:spPr>
        <p:txBody>
          <a:bodyPr wrap="square" lIns="0" tIns="0" rIns="0" bIns="0" rtlCol="0" anchor="t"/>
          <a:lstStyle/>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switch main</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pull</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switch -c \</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  feature/clean-data</a:t>
            </a:r>
            <a:endParaRPr lang="en-US" sz="1100" dirty="0"/>
          </a:p>
        </p:txBody>
      </p:sp>
      <p:sp>
        <p:nvSpPr>
          <p:cNvPr id="10" name="number 96"/>
          <p:cNvSpPr/>
          <p:nvPr/>
        </p:nvSpPr>
        <p:spPr>
          <a:xfrm>
            <a:off x="3557016" y="1408176"/>
            <a:ext cx="566928" cy="566928"/>
          </a:xfrm>
          <a:prstGeom prst="ellipse">
            <a:avLst/>
          </a:prstGeom>
          <a:solidFill>
            <a:schemeClr val="accent3"/>
          </a:solidFill>
          <a:ln w="6350">
            <a:solidFill>
              <a:schemeClr val="accent3"/>
            </a:solidFill>
            <a:prstDash val="solid"/>
          </a:ln>
        </p:spPr>
      </p:sp>
      <p:sp>
        <p:nvSpPr>
          <p:cNvPr id="11" name="text 97"/>
          <p:cNvSpPr txBox="1"/>
          <p:nvPr/>
        </p:nvSpPr>
        <p:spPr>
          <a:xfrm>
            <a:off x="3557016" y="14081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line 98"/>
          <p:cNvSpPr/>
          <p:nvPr/>
        </p:nvSpPr>
        <p:spPr>
          <a:xfrm>
            <a:off x="4169664" y="1691640"/>
            <a:ext cx="1581912" cy="0"/>
          </a:xfrm>
          <a:prstGeom prst="line">
            <a:avLst/>
          </a:prstGeom>
          <a:noFill/>
          <a:ln w="25400">
            <a:solidFill>
              <a:schemeClr val="accent1"/>
            </a:solidFill>
            <a:prstDash val="solid"/>
            <a:tailEnd type="triangle"/>
          </a:ln>
        </p:spPr>
      </p:sp>
      <p:sp>
        <p:nvSpPr>
          <p:cNvPr id="13" name="text 99"/>
          <p:cNvSpPr txBox="1"/>
          <p:nvPr/>
        </p:nvSpPr>
        <p:spPr>
          <a:xfrm>
            <a:off x="2788920" y="210312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Commit</a:t>
            </a:r>
            <a:endParaRPr lang="en-US" sz="1800" dirty="0"/>
          </a:p>
        </p:txBody>
      </p:sp>
      <p:sp>
        <p:nvSpPr>
          <p:cNvPr id="14" name="text 100"/>
          <p:cNvSpPr txBox="1"/>
          <p:nvPr/>
        </p:nvSpPr>
        <p:spPr>
          <a:xfrm>
            <a:off x="2788920" y="2514600"/>
            <a:ext cx="2103120" cy="868680"/>
          </a:xfrm>
          <a:prstGeom prst="rect">
            <a:avLst/>
          </a:prstGeom>
          <a:noFill/>
          <a:ln/>
        </p:spPr>
        <p:txBody>
          <a:bodyPr wrap="square" lIns="0" tIns="0" rIns="0" bIns="0" rtlCol="0" anchor="t"/>
          <a:lstStyle/>
          <a:p>
            <a:pPr algn="ctr" indent="0" marL="0">
              <a:buNone/>
            </a:pPr>
            <a:r>
              <a:rPr lang="en-US" sz="1300" dirty="0">
                <a:solidFill>
                  <a:schemeClr val="tx2"/>
                </a:solidFill>
              </a:rPr>
              <a:t>Small commits with messages that say why, not just what.</a:t>
            </a:r>
            <a:endParaRPr lang="en-US" sz="1300" dirty="0"/>
          </a:p>
        </p:txBody>
      </p:sp>
      <p:sp>
        <p:nvSpPr>
          <p:cNvPr id="15" name="code block 101"/>
          <p:cNvSpPr/>
          <p:nvPr/>
        </p:nvSpPr>
        <p:spPr>
          <a:xfrm>
            <a:off x="2788920" y="3429000"/>
            <a:ext cx="2103120" cy="1143000"/>
          </a:xfrm>
          <a:prstGeom prst="roundRect">
            <a:avLst>
              <a:gd name="adj" fmla="val 8000"/>
            </a:avLst>
          </a:prstGeom>
          <a:solidFill>
            <a:schemeClr val="bg2"/>
          </a:solidFill>
          <a:ln w="9525">
            <a:solidFill>
              <a:schemeClr val="bg2"/>
            </a:solidFill>
            <a:prstDash val="solid"/>
          </a:ln>
        </p:spPr>
      </p:sp>
      <p:sp>
        <p:nvSpPr>
          <p:cNvPr id="16" name="code 102"/>
          <p:cNvSpPr txBox="1"/>
          <p:nvPr/>
        </p:nvSpPr>
        <p:spPr>
          <a:xfrm>
            <a:off x="2926080" y="3538728"/>
            <a:ext cx="1828800" cy="923544"/>
          </a:xfrm>
          <a:prstGeom prst="rect">
            <a:avLst/>
          </a:prstGeom>
          <a:noFill/>
          <a:ln/>
        </p:spPr>
        <p:txBody>
          <a:bodyPr wrap="square" lIns="0" tIns="0" rIns="0" bIns="0" rtlCol="0" anchor="t"/>
          <a:lstStyle/>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add -A</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commit -m \</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  "Drop null rows"</a:t>
            </a:r>
            <a:endParaRPr lang="en-US" sz="1100" dirty="0"/>
          </a:p>
        </p:txBody>
      </p:sp>
      <p:sp>
        <p:nvSpPr>
          <p:cNvPr id="17" name="number 103"/>
          <p:cNvSpPr/>
          <p:nvPr/>
        </p:nvSpPr>
        <p:spPr>
          <a:xfrm>
            <a:off x="5797296" y="1408176"/>
            <a:ext cx="566928" cy="566928"/>
          </a:xfrm>
          <a:prstGeom prst="ellipse">
            <a:avLst/>
          </a:prstGeom>
          <a:solidFill>
            <a:schemeClr val="accent3"/>
          </a:solidFill>
          <a:ln w="6350">
            <a:solidFill>
              <a:schemeClr val="accent3"/>
            </a:solidFill>
            <a:prstDash val="solid"/>
          </a:ln>
        </p:spPr>
      </p:sp>
      <p:sp>
        <p:nvSpPr>
          <p:cNvPr id="18" name="text 104"/>
          <p:cNvSpPr txBox="1"/>
          <p:nvPr/>
        </p:nvSpPr>
        <p:spPr>
          <a:xfrm>
            <a:off x="5797296" y="14081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line 105"/>
          <p:cNvSpPr/>
          <p:nvPr/>
        </p:nvSpPr>
        <p:spPr>
          <a:xfrm>
            <a:off x="6409944" y="1691640"/>
            <a:ext cx="1581912" cy="0"/>
          </a:xfrm>
          <a:prstGeom prst="line">
            <a:avLst/>
          </a:prstGeom>
          <a:noFill/>
          <a:ln w="25400">
            <a:solidFill>
              <a:schemeClr val="accent1"/>
            </a:solidFill>
            <a:prstDash val="solid"/>
            <a:tailEnd type="triangle"/>
          </a:ln>
        </p:spPr>
      </p:sp>
      <p:sp>
        <p:nvSpPr>
          <p:cNvPr id="20" name="text 106"/>
          <p:cNvSpPr txBox="1"/>
          <p:nvPr/>
        </p:nvSpPr>
        <p:spPr>
          <a:xfrm>
            <a:off x="5029200" y="210312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Push</a:t>
            </a:r>
            <a:endParaRPr lang="en-US" sz="1800" dirty="0"/>
          </a:p>
        </p:txBody>
      </p:sp>
      <p:sp>
        <p:nvSpPr>
          <p:cNvPr id="21" name="text 107"/>
          <p:cNvSpPr txBox="1"/>
          <p:nvPr/>
        </p:nvSpPr>
        <p:spPr>
          <a:xfrm>
            <a:off x="5029200" y="2514600"/>
            <a:ext cx="2103120" cy="868680"/>
          </a:xfrm>
          <a:prstGeom prst="rect">
            <a:avLst/>
          </a:prstGeom>
          <a:noFill/>
          <a:ln/>
        </p:spPr>
        <p:txBody>
          <a:bodyPr wrap="square" lIns="0" tIns="0" rIns="0" bIns="0" rtlCol="0" anchor="t"/>
          <a:lstStyle/>
          <a:p>
            <a:pPr algn="ctr" indent="0" marL="0">
              <a:buNone/>
            </a:pPr>
            <a:r>
              <a:rPr lang="en-US" sz="1300" dirty="0">
                <a:solidFill>
                  <a:schemeClr val="tx2"/>
                </a:solidFill>
              </a:rPr>
              <a:t>Publish the branch to GitHub and link it for later pushes (‑u).</a:t>
            </a:r>
            <a:endParaRPr lang="en-US" sz="1300" dirty="0"/>
          </a:p>
        </p:txBody>
      </p:sp>
      <p:sp>
        <p:nvSpPr>
          <p:cNvPr id="22" name="code block 108"/>
          <p:cNvSpPr/>
          <p:nvPr/>
        </p:nvSpPr>
        <p:spPr>
          <a:xfrm>
            <a:off x="5029200" y="3429000"/>
            <a:ext cx="2103120" cy="1143000"/>
          </a:xfrm>
          <a:prstGeom prst="roundRect">
            <a:avLst>
              <a:gd name="adj" fmla="val 8000"/>
            </a:avLst>
          </a:prstGeom>
          <a:solidFill>
            <a:schemeClr val="bg2"/>
          </a:solidFill>
          <a:ln w="9525">
            <a:solidFill>
              <a:schemeClr val="bg2"/>
            </a:solidFill>
            <a:prstDash val="solid"/>
          </a:ln>
        </p:spPr>
      </p:sp>
      <p:sp>
        <p:nvSpPr>
          <p:cNvPr id="23" name="code 109"/>
          <p:cNvSpPr txBox="1"/>
          <p:nvPr/>
        </p:nvSpPr>
        <p:spPr>
          <a:xfrm>
            <a:off x="5166360" y="3538728"/>
            <a:ext cx="1828800" cy="923544"/>
          </a:xfrm>
          <a:prstGeom prst="rect">
            <a:avLst/>
          </a:prstGeom>
          <a:noFill/>
          <a:ln/>
        </p:spPr>
        <p:txBody>
          <a:bodyPr wrap="square" lIns="0" tIns="0" rIns="0" bIns="0" rtlCol="0" anchor="t"/>
          <a:lstStyle/>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push -u origin \</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  feature/clean-data</a:t>
            </a:r>
            <a:endParaRPr lang="en-US" sz="1100" dirty="0"/>
          </a:p>
        </p:txBody>
      </p:sp>
      <p:sp>
        <p:nvSpPr>
          <p:cNvPr id="24" name="number 110"/>
          <p:cNvSpPr/>
          <p:nvPr/>
        </p:nvSpPr>
        <p:spPr>
          <a:xfrm>
            <a:off x="8037576" y="1408176"/>
            <a:ext cx="566928" cy="566928"/>
          </a:xfrm>
          <a:prstGeom prst="ellipse">
            <a:avLst/>
          </a:prstGeom>
          <a:solidFill>
            <a:schemeClr val="accent3"/>
          </a:solidFill>
          <a:ln w="6350">
            <a:solidFill>
              <a:schemeClr val="accent3"/>
            </a:solidFill>
            <a:prstDash val="solid"/>
          </a:ln>
        </p:spPr>
      </p:sp>
      <p:sp>
        <p:nvSpPr>
          <p:cNvPr id="25" name="text 111"/>
          <p:cNvSpPr txBox="1"/>
          <p:nvPr/>
        </p:nvSpPr>
        <p:spPr>
          <a:xfrm>
            <a:off x="8037576" y="14081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6" name="line 112"/>
          <p:cNvSpPr/>
          <p:nvPr/>
        </p:nvSpPr>
        <p:spPr>
          <a:xfrm>
            <a:off x="8650224" y="1691640"/>
            <a:ext cx="1581912" cy="0"/>
          </a:xfrm>
          <a:prstGeom prst="line">
            <a:avLst/>
          </a:prstGeom>
          <a:noFill/>
          <a:ln w="25400">
            <a:solidFill>
              <a:schemeClr val="accent1"/>
            </a:solidFill>
            <a:prstDash val="solid"/>
            <a:tailEnd type="triangle"/>
          </a:ln>
        </p:spPr>
      </p:sp>
      <p:sp>
        <p:nvSpPr>
          <p:cNvPr id="27" name="text 113"/>
          <p:cNvSpPr txBox="1"/>
          <p:nvPr/>
        </p:nvSpPr>
        <p:spPr>
          <a:xfrm>
            <a:off x="7269480" y="210312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Pull request</a:t>
            </a:r>
            <a:endParaRPr lang="en-US" sz="1800" dirty="0"/>
          </a:p>
        </p:txBody>
      </p:sp>
      <p:sp>
        <p:nvSpPr>
          <p:cNvPr id="28" name="text 114"/>
          <p:cNvSpPr txBox="1"/>
          <p:nvPr/>
        </p:nvSpPr>
        <p:spPr>
          <a:xfrm>
            <a:off x="7269480" y="2514600"/>
            <a:ext cx="2103120" cy="868680"/>
          </a:xfrm>
          <a:prstGeom prst="rect">
            <a:avLst/>
          </a:prstGeom>
          <a:noFill/>
          <a:ln/>
        </p:spPr>
        <p:txBody>
          <a:bodyPr wrap="square" lIns="0" tIns="0" rIns="0" bIns="0" rtlCol="0" anchor="t"/>
          <a:lstStyle/>
          <a:p>
            <a:pPr algn="ctr" indent="0" marL="0">
              <a:buNone/>
            </a:pPr>
            <a:r>
              <a:rPr lang="en-US" sz="1300" dirty="0">
                <a:solidFill>
                  <a:schemeClr val="tx2"/>
                </a:solidFill>
              </a:rPr>
              <a:t>Open a PR so the change can be read, discussed, and checked.</a:t>
            </a:r>
            <a:endParaRPr lang="en-US" sz="1300" dirty="0"/>
          </a:p>
        </p:txBody>
      </p:sp>
      <p:sp>
        <p:nvSpPr>
          <p:cNvPr id="29" name="code block 115"/>
          <p:cNvSpPr/>
          <p:nvPr/>
        </p:nvSpPr>
        <p:spPr>
          <a:xfrm>
            <a:off x="7269480" y="3429000"/>
            <a:ext cx="2103120" cy="1143000"/>
          </a:xfrm>
          <a:prstGeom prst="roundRect">
            <a:avLst>
              <a:gd name="adj" fmla="val 8000"/>
            </a:avLst>
          </a:prstGeom>
          <a:solidFill>
            <a:schemeClr val="bg2"/>
          </a:solidFill>
          <a:ln w="9525">
            <a:solidFill>
              <a:schemeClr val="bg2"/>
            </a:solidFill>
            <a:prstDash val="solid"/>
          </a:ln>
        </p:spPr>
      </p:sp>
      <p:sp>
        <p:nvSpPr>
          <p:cNvPr id="30" name="code 116"/>
          <p:cNvSpPr txBox="1"/>
          <p:nvPr/>
        </p:nvSpPr>
        <p:spPr>
          <a:xfrm>
            <a:off x="7406640" y="3538728"/>
            <a:ext cx="1828800" cy="923544"/>
          </a:xfrm>
          <a:prstGeom prst="rect">
            <a:avLst/>
          </a:prstGeom>
          <a:noFill/>
          <a:ln/>
        </p:spPr>
        <p:txBody>
          <a:bodyPr wrap="square" lIns="0" tIns="0" rIns="0" bIns="0" rtlCol="0" anchor="t"/>
          <a:lstStyle/>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gh pr create --fill</a:t>
            </a:r>
            <a:endParaRPr lang="en-US" sz="1100" dirty="0"/>
          </a:p>
        </p:txBody>
      </p:sp>
      <p:sp>
        <p:nvSpPr>
          <p:cNvPr id="31" name="number 117"/>
          <p:cNvSpPr/>
          <p:nvPr/>
        </p:nvSpPr>
        <p:spPr>
          <a:xfrm>
            <a:off x="10277856" y="1408176"/>
            <a:ext cx="566928" cy="566928"/>
          </a:xfrm>
          <a:prstGeom prst="ellipse">
            <a:avLst/>
          </a:prstGeom>
          <a:solidFill>
            <a:schemeClr val="accent3"/>
          </a:solidFill>
          <a:ln w="6350">
            <a:solidFill>
              <a:schemeClr val="accent3"/>
            </a:solidFill>
            <a:prstDash val="solid"/>
          </a:ln>
        </p:spPr>
      </p:sp>
      <p:sp>
        <p:nvSpPr>
          <p:cNvPr id="32" name="text 118"/>
          <p:cNvSpPr txBox="1"/>
          <p:nvPr/>
        </p:nvSpPr>
        <p:spPr>
          <a:xfrm>
            <a:off x="10277856" y="1408176"/>
            <a:ext cx="566928" cy="566928"/>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3" name="text 119"/>
          <p:cNvSpPr txBox="1"/>
          <p:nvPr/>
        </p:nvSpPr>
        <p:spPr>
          <a:xfrm>
            <a:off x="9509760" y="2103120"/>
            <a:ext cx="2103120" cy="365760"/>
          </a:xfrm>
          <a:prstGeom prst="rect">
            <a:avLst/>
          </a:prstGeom>
          <a:noFill/>
          <a:ln/>
        </p:spPr>
        <p:txBody>
          <a:bodyPr wrap="square" lIns="0" tIns="0" rIns="0" bIns="0" rtlCol="0" anchor="ctr"/>
          <a:lstStyle/>
          <a:p>
            <a:pPr algn="ctr" indent="0" marL="0">
              <a:buNone/>
            </a:pPr>
            <a:r>
              <a:rPr lang="en-US" sz="1800" b="1" dirty="0">
                <a:solidFill>
                  <a:schemeClr val="tx1"/>
                </a:solidFill>
              </a:rPr>
              <a:t>Merge</a:t>
            </a:r>
            <a:endParaRPr lang="en-US" sz="1800" dirty="0"/>
          </a:p>
        </p:txBody>
      </p:sp>
      <p:sp>
        <p:nvSpPr>
          <p:cNvPr id="34" name="text 120"/>
          <p:cNvSpPr txBox="1"/>
          <p:nvPr/>
        </p:nvSpPr>
        <p:spPr>
          <a:xfrm>
            <a:off x="9509760" y="2514600"/>
            <a:ext cx="2103120" cy="868680"/>
          </a:xfrm>
          <a:prstGeom prst="rect">
            <a:avLst/>
          </a:prstGeom>
          <a:noFill/>
          <a:ln/>
        </p:spPr>
        <p:txBody>
          <a:bodyPr wrap="square" lIns="0" tIns="0" rIns="0" bIns="0" rtlCol="0" anchor="t"/>
          <a:lstStyle/>
          <a:p>
            <a:pPr algn="ctr" indent="0" marL="0">
              <a:buNone/>
            </a:pPr>
            <a:r>
              <a:rPr lang="en-US" sz="1300" dirty="0">
                <a:solidFill>
                  <a:schemeClr val="tx2"/>
                </a:solidFill>
              </a:rPr>
              <a:t>Merge on GitHub, then bring main up to date and clean up.</a:t>
            </a:r>
            <a:endParaRPr lang="en-US" sz="1300" dirty="0"/>
          </a:p>
        </p:txBody>
      </p:sp>
      <p:sp>
        <p:nvSpPr>
          <p:cNvPr id="35" name="code block 121"/>
          <p:cNvSpPr/>
          <p:nvPr/>
        </p:nvSpPr>
        <p:spPr>
          <a:xfrm>
            <a:off x="9509760" y="3429000"/>
            <a:ext cx="2103120" cy="1143000"/>
          </a:xfrm>
          <a:prstGeom prst="roundRect">
            <a:avLst>
              <a:gd name="adj" fmla="val 8000"/>
            </a:avLst>
          </a:prstGeom>
          <a:solidFill>
            <a:schemeClr val="bg2"/>
          </a:solidFill>
          <a:ln w="9525">
            <a:solidFill>
              <a:schemeClr val="bg2"/>
            </a:solidFill>
            <a:prstDash val="solid"/>
          </a:ln>
        </p:spPr>
      </p:sp>
      <p:sp>
        <p:nvSpPr>
          <p:cNvPr id="36" name="code 122"/>
          <p:cNvSpPr txBox="1"/>
          <p:nvPr/>
        </p:nvSpPr>
        <p:spPr>
          <a:xfrm>
            <a:off x="9646920" y="3538728"/>
            <a:ext cx="1828800" cy="923544"/>
          </a:xfrm>
          <a:prstGeom prst="rect">
            <a:avLst/>
          </a:prstGeom>
          <a:noFill/>
          <a:ln/>
        </p:spPr>
        <p:txBody>
          <a:bodyPr wrap="square" lIns="0" tIns="0" rIns="0" bIns="0" rtlCol="0" anchor="t"/>
          <a:lstStyle/>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switch main</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pull</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git branch -d \</a:t>
            </a:r>
            <a:endParaRPr lang="en-US" sz="1100" dirty="0"/>
          </a:p>
          <a:p>
            <a:pPr indent="0" marL="0">
              <a:lnSpc>
                <a:spcPct val="105000"/>
              </a:lnSpc>
              <a:buNone/>
            </a:pPr>
            <a:r>
              <a:rPr lang="en-US" sz="1100" dirty="0">
                <a:solidFill>
                  <a:schemeClr val="accent3"/>
                </a:solidFill>
                <a:latin typeface="Courier New" pitchFamily="34" charset="0"/>
                <a:ea typeface="Courier New" pitchFamily="34" charset="-122"/>
                <a:cs typeface="Courier New" pitchFamily="34" charset="-120"/>
              </a:rPr>
              <a:t>  feature/clean-data</a:t>
            </a:r>
            <a:endParaRPr lang="en-US" sz="1100" dirty="0"/>
          </a:p>
        </p:txBody>
      </p:sp>
      <p:sp>
        <p:nvSpPr>
          <p:cNvPr id="37" name="card 123"/>
          <p:cNvSpPr/>
          <p:nvPr/>
        </p:nvSpPr>
        <p:spPr>
          <a:xfrm>
            <a:off x="548640" y="4937760"/>
            <a:ext cx="11064240" cy="1051560"/>
          </a:xfrm>
          <a:prstGeom prst="roundRect">
            <a:avLst>
              <a:gd name="adj" fmla="val 10435"/>
            </a:avLst>
          </a:prstGeom>
          <a:solidFill>
            <a:schemeClr val="bg2"/>
          </a:solidFill>
          <a:ln w="9525">
            <a:solidFill>
              <a:schemeClr val="bg2"/>
            </a:solidFill>
            <a:prstDash val="solid"/>
          </a:ln>
        </p:spPr>
      </p:sp>
      <p:sp>
        <p:nvSpPr>
          <p:cNvPr id="38" name="icon circle 124"/>
          <p:cNvSpPr/>
          <p:nvPr/>
        </p:nvSpPr>
        <p:spPr>
          <a:xfrm>
            <a:off x="822960" y="5189220"/>
            <a:ext cx="548640" cy="548640"/>
          </a:xfrm>
          <a:prstGeom prst="ellipse">
            <a:avLst/>
          </a:prstGeom>
          <a:solidFill>
            <a:schemeClr val="accent3"/>
          </a:solidFill>
          <a:ln w="6350">
            <a:solidFill>
              <a:schemeClr val="accent3"/>
            </a:solidFill>
            <a:prstDash val="solid"/>
          </a:ln>
        </p:spPr>
      </p:sp>
      <p:pic>
        <p:nvPicPr>
          <p:cNvPr id="39" name="icon 125" descr="preencoded.png">    </p:cNvPr>
          <p:cNvPicPr>
            <a:picLocks noChangeAspect="1"/>
          </p:cNvPicPr>
          <p:nvPr/>
        </p:nvPicPr>
        <p:blipFill>
          <a:blip r:embed="rId1"/>
          <a:stretch>
            <a:fillRect/>
          </a:stretch>
        </p:blipFill>
        <p:spPr>
          <a:xfrm>
            <a:off x="954634" y="5320894"/>
            <a:ext cx="285293" cy="285293"/>
          </a:xfrm>
          <a:prstGeom prst="rect">
            <a:avLst/>
          </a:prstGeom>
        </p:spPr>
      </p:pic>
      <p:sp>
        <p:nvSpPr>
          <p:cNvPr id="40" name="text 126"/>
          <p:cNvSpPr txBox="1"/>
          <p:nvPr/>
        </p:nvSpPr>
        <p:spPr>
          <a:xfrm>
            <a:off x="1600200" y="4937760"/>
            <a:ext cx="6949440" cy="1051560"/>
          </a:xfrm>
          <a:prstGeom prst="rect">
            <a:avLst/>
          </a:prstGeom>
          <a:noFill/>
          <a:ln/>
        </p:spPr>
        <p:txBody>
          <a:bodyPr wrap="square" lIns="0" tIns="0" rIns="0" bIns="0" rtlCol="0" anchor="ctr"/>
          <a:lstStyle/>
          <a:p>
            <a:pPr indent="0" marL="0">
              <a:buNone/>
            </a:pPr>
            <a:r>
              <a:rPr lang="en-US" sz="1500" b="1" dirty="0">
                <a:solidFill>
                  <a:schemeClr val="tx1"/>
                </a:solidFill>
              </a:rPr>
              <a:t>Repeat for every task. main never changes by direct edits: it only moves when a branch is merged in.</a:t>
            </a:r>
            <a:endParaRPr lang="en-US" sz="1500" dirty="0"/>
          </a:p>
        </p:txBody>
      </p:sp>
      <p:sp>
        <p:nvSpPr>
          <p:cNvPr id="41" name="text 127"/>
          <p:cNvSpPr txBox="1"/>
          <p:nvPr/>
        </p:nvSpPr>
        <p:spPr>
          <a:xfrm>
            <a:off x="8686800" y="4937760"/>
            <a:ext cx="2697480" cy="1051560"/>
          </a:xfrm>
          <a:prstGeom prst="rect">
            <a:avLst/>
          </a:prstGeom>
          <a:noFill/>
          <a:ln/>
        </p:spPr>
        <p:txBody>
          <a:bodyPr wrap="square" lIns="0" tIns="0" rIns="0" bIns="0" rtlCol="0" anchor="ctr"/>
          <a:lstStyle/>
          <a:p>
            <a:pPr indent="0" marL="0">
              <a:buNone/>
            </a:pPr>
            <a:r>
              <a:rPr lang="en-US" sz="1200" i="1" dirty="0">
                <a:solidFill>
                  <a:schemeClr val="accent4"/>
                </a:solidFill>
              </a:rPr>
              <a:t>Older tutorials use git checkout -b. git switch is the modern equivalent and does one thing.</a:t>
            </a:r>
            <a:endParaRPr lang="en-US" sz="12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Commands you will actually use</a:t>
            </a:r>
            <a:endParaRPr lang="en-US" sz="3000" dirty="0"/>
          </a:p>
        </p:txBody>
      </p:sp>
      <p:sp>
        <p:nvSpPr>
          <p:cNvPr id="3" name="card 128"/>
          <p:cNvSpPr/>
          <p:nvPr/>
        </p:nvSpPr>
        <p:spPr>
          <a:xfrm>
            <a:off x="548640" y="1325880"/>
            <a:ext cx="5394960" cy="4800600"/>
          </a:xfrm>
          <a:prstGeom prst="roundRect">
            <a:avLst>
              <a:gd name="adj" fmla="val 2286"/>
            </a:avLst>
          </a:prstGeom>
          <a:solidFill>
            <a:schemeClr val="bg2"/>
          </a:solidFill>
          <a:ln w="9525">
            <a:solidFill>
              <a:schemeClr val="bg2"/>
            </a:solidFill>
            <a:prstDash val="solid"/>
          </a:ln>
        </p:spPr>
      </p:sp>
      <p:sp>
        <p:nvSpPr>
          <p:cNvPr id="4" name="text 129"/>
          <p:cNvSpPr txBox="1"/>
          <p:nvPr/>
        </p:nvSpPr>
        <p:spPr>
          <a:xfrm>
            <a:off x="822960" y="1508760"/>
            <a:ext cx="484632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CREATE AND MOVE</a:t>
            </a:r>
            <a:endParaRPr lang="en-US" sz="1200" dirty="0"/>
          </a:p>
        </p:txBody>
      </p:sp>
      <p:sp>
        <p:nvSpPr>
          <p:cNvPr id="5" name="text 130"/>
          <p:cNvSpPr txBox="1"/>
          <p:nvPr/>
        </p:nvSpPr>
        <p:spPr>
          <a:xfrm>
            <a:off x="822960" y="1920240"/>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branch</a:t>
            </a:r>
            <a:endParaRPr lang="en-US" sz="1300" dirty="0"/>
          </a:p>
        </p:txBody>
      </p:sp>
      <p:sp>
        <p:nvSpPr>
          <p:cNvPr id="6" name="text 131"/>
          <p:cNvSpPr txBox="1"/>
          <p:nvPr/>
        </p:nvSpPr>
        <p:spPr>
          <a:xfrm>
            <a:off x="822960" y="2212848"/>
            <a:ext cx="4846320" cy="457200"/>
          </a:xfrm>
          <a:prstGeom prst="rect">
            <a:avLst/>
          </a:prstGeom>
          <a:noFill/>
          <a:ln/>
        </p:spPr>
        <p:txBody>
          <a:bodyPr wrap="square" lIns="0" tIns="0" rIns="0" bIns="0" rtlCol="0" anchor="t"/>
          <a:lstStyle/>
          <a:p>
            <a:pPr indent="0" marL="0">
              <a:buNone/>
            </a:pPr>
            <a:r>
              <a:rPr lang="en-US" sz="1300" dirty="0">
                <a:solidFill>
                  <a:schemeClr val="tx2"/>
                </a:solidFill>
              </a:rPr>
              <a:t>List local branches. The asterisk marks the one you are on.</a:t>
            </a:r>
            <a:endParaRPr lang="en-US" sz="1300" dirty="0"/>
          </a:p>
        </p:txBody>
      </p:sp>
      <p:sp>
        <p:nvSpPr>
          <p:cNvPr id="7" name="text 132"/>
          <p:cNvSpPr txBox="1"/>
          <p:nvPr/>
        </p:nvSpPr>
        <p:spPr>
          <a:xfrm>
            <a:off x="822960" y="2761488"/>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switch -c feature/x</a:t>
            </a:r>
            <a:endParaRPr lang="en-US" sz="1300" dirty="0"/>
          </a:p>
        </p:txBody>
      </p:sp>
      <p:sp>
        <p:nvSpPr>
          <p:cNvPr id="8" name="text 133"/>
          <p:cNvSpPr txBox="1"/>
          <p:nvPr/>
        </p:nvSpPr>
        <p:spPr>
          <a:xfrm>
            <a:off x="822960" y="3054096"/>
            <a:ext cx="4846320" cy="457200"/>
          </a:xfrm>
          <a:prstGeom prst="rect">
            <a:avLst/>
          </a:prstGeom>
          <a:noFill/>
          <a:ln/>
        </p:spPr>
        <p:txBody>
          <a:bodyPr wrap="square" lIns="0" tIns="0" rIns="0" bIns="0" rtlCol="0" anchor="t"/>
          <a:lstStyle/>
          <a:p>
            <a:pPr indent="0" marL="0">
              <a:buNone/>
            </a:pPr>
            <a:r>
              <a:rPr lang="en-US" sz="1300" dirty="0">
                <a:solidFill>
                  <a:schemeClr val="tx2"/>
                </a:solidFill>
              </a:rPr>
              <a:t>Create a branch and move to it in one step.</a:t>
            </a:r>
            <a:endParaRPr lang="en-US" sz="1300" dirty="0"/>
          </a:p>
        </p:txBody>
      </p:sp>
      <p:sp>
        <p:nvSpPr>
          <p:cNvPr id="9" name="text 134"/>
          <p:cNvSpPr txBox="1"/>
          <p:nvPr/>
        </p:nvSpPr>
        <p:spPr>
          <a:xfrm>
            <a:off x="822960" y="3602736"/>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switch main</a:t>
            </a:r>
            <a:endParaRPr lang="en-US" sz="1300" dirty="0"/>
          </a:p>
        </p:txBody>
      </p:sp>
      <p:sp>
        <p:nvSpPr>
          <p:cNvPr id="10" name="text 135"/>
          <p:cNvSpPr txBox="1"/>
          <p:nvPr/>
        </p:nvSpPr>
        <p:spPr>
          <a:xfrm>
            <a:off x="822960" y="3895344"/>
            <a:ext cx="4846320" cy="457200"/>
          </a:xfrm>
          <a:prstGeom prst="rect">
            <a:avLst/>
          </a:prstGeom>
          <a:noFill/>
          <a:ln/>
        </p:spPr>
        <p:txBody>
          <a:bodyPr wrap="square" lIns="0" tIns="0" rIns="0" bIns="0" rtlCol="0" anchor="t"/>
          <a:lstStyle/>
          <a:p>
            <a:pPr indent="0" marL="0">
              <a:buNone/>
            </a:pPr>
            <a:r>
              <a:rPr lang="en-US" sz="1300" dirty="0">
                <a:solidFill>
                  <a:schemeClr val="tx2"/>
                </a:solidFill>
              </a:rPr>
              <a:t>Move back to main (or to any existing branch).</a:t>
            </a:r>
            <a:endParaRPr lang="en-US" sz="1300" dirty="0"/>
          </a:p>
        </p:txBody>
      </p:sp>
      <p:sp>
        <p:nvSpPr>
          <p:cNvPr id="11" name="text 136"/>
          <p:cNvSpPr txBox="1"/>
          <p:nvPr/>
        </p:nvSpPr>
        <p:spPr>
          <a:xfrm>
            <a:off x="822960" y="4443984"/>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log --oneline --graph --all</a:t>
            </a:r>
            <a:endParaRPr lang="en-US" sz="1300" dirty="0"/>
          </a:p>
        </p:txBody>
      </p:sp>
      <p:sp>
        <p:nvSpPr>
          <p:cNvPr id="12" name="text 137"/>
          <p:cNvSpPr txBox="1"/>
          <p:nvPr/>
        </p:nvSpPr>
        <p:spPr>
          <a:xfrm>
            <a:off x="822960" y="4736592"/>
            <a:ext cx="4846320" cy="457200"/>
          </a:xfrm>
          <a:prstGeom prst="rect">
            <a:avLst/>
          </a:prstGeom>
          <a:noFill/>
          <a:ln/>
        </p:spPr>
        <p:txBody>
          <a:bodyPr wrap="square" lIns="0" tIns="0" rIns="0" bIns="0" rtlCol="0" anchor="t"/>
          <a:lstStyle/>
          <a:p>
            <a:pPr indent="0" marL="0">
              <a:buNone/>
            </a:pPr>
            <a:r>
              <a:rPr lang="en-US" sz="1300" dirty="0">
                <a:solidFill>
                  <a:schemeClr val="tx2"/>
                </a:solidFill>
              </a:rPr>
              <a:t>Draw the branch structure as a text graph.</a:t>
            </a:r>
            <a:endParaRPr lang="en-US" sz="1300" dirty="0"/>
          </a:p>
        </p:txBody>
      </p:sp>
      <p:sp>
        <p:nvSpPr>
          <p:cNvPr id="13" name="text 138"/>
          <p:cNvSpPr txBox="1"/>
          <p:nvPr/>
        </p:nvSpPr>
        <p:spPr>
          <a:xfrm>
            <a:off x="822960" y="5285232"/>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diff main...feature/x</a:t>
            </a:r>
            <a:endParaRPr lang="en-US" sz="1300" dirty="0"/>
          </a:p>
        </p:txBody>
      </p:sp>
      <p:sp>
        <p:nvSpPr>
          <p:cNvPr id="14" name="text 139"/>
          <p:cNvSpPr txBox="1"/>
          <p:nvPr/>
        </p:nvSpPr>
        <p:spPr>
          <a:xfrm>
            <a:off x="822960" y="5577840"/>
            <a:ext cx="4846320" cy="457200"/>
          </a:xfrm>
          <a:prstGeom prst="rect">
            <a:avLst/>
          </a:prstGeom>
          <a:noFill/>
          <a:ln/>
        </p:spPr>
        <p:txBody>
          <a:bodyPr wrap="square" lIns="0" tIns="0" rIns="0" bIns="0" rtlCol="0" anchor="t"/>
          <a:lstStyle/>
          <a:p>
            <a:pPr indent="0" marL="0">
              <a:buNone/>
            </a:pPr>
            <a:r>
              <a:rPr lang="en-US" sz="1300" dirty="0">
                <a:solidFill>
                  <a:schemeClr val="tx2"/>
                </a:solidFill>
              </a:rPr>
              <a:t>Everything the branch changed since it split from main.</a:t>
            </a:r>
            <a:endParaRPr lang="en-US" sz="1300" dirty="0"/>
          </a:p>
        </p:txBody>
      </p:sp>
      <p:sp>
        <p:nvSpPr>
          <p:cNvPr id="15" name="card 140"/>
          <p:cNvSpPr/>
          <p:nvPr/>
        </p:nvSpPr>
        <p:spPr>
          <a:xfrm>
            <a:off x="6217920" y="1325880"/>
            <a:ext cx="5394960" cy="4800600"/>
          </a:xfrm>
          <a:prstGeom prst="roundRect">
            <a:avLst>
              <a:gd name="adj" fmla="val 2286"/>
            </a:avLst>
          </a:prstGeom>
          <a:solidFill>
            <a:schemeClr val="bg2"/>
          </a:solidFill>
          <a:ln w="9525">
            <a:solidFill>
              <a:schemeClr val="bg2"/>
            </a:solidFill>
            <a:prstDash val="solid"/>
          </a:ln>
        </p:spPr>
      </p:sp>
      <p:sp>
        <p:nvSpPr>
          <p:cNvPr id="16" name="text 141"/>
          <p:cNvSpPr txBox="1"/>
          <p:nvPr/>
        </p:nvSpPr>
        <p:spPr>
          <a:xfrm>
            <a:off x="6492240" y="1508760"/>
            <a:ext cx="484632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SHARE AND CLEAN UP</a:t>
            </a:r>
            <a:endParaRPr lang="en-US" sz="1200" dirty="0"/>
          </a:p>
        </p:txBody>
      </p:sp>
      <p:sp>
        <p:nvSpPr>
          <p:cNvPr id="17" name="text 142"/>
          <p:cNvSpPr txBox="1"/>
          <p:nvPr/>
        </p:nvSpPr>
        <p:spPr>
          <a:xfrm>
            <a:off x="6492240" y="1920240"/>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push -u origin feature/x</a:t>
            </a:r>
            <a:endParaRPr lang="en-US" sz="1300" dirty="0"/>
          </a:p>
        </p:txBody>
      </p:sp>
      <p:sp>
        <p:nvSpPr>
          <p:cNvPr id="18" name="text 143"/>
          <p:cNvSpPr txBox="1"/>
          <p:nvPr/>
        </p:nvSpPr>
        <p:spPr>
          <a:xfrm>
            <a:off x="6492240" y="2212848"/>
            <a:ext cx="4846320" cy="457200"/>
          </a:xfrm>
          <a:prstGeom prst="rect">
            <a:avLst/>
          </a:prstGeom>
          <a:noFill/>
          <a:ln/>
        </p:spPr>
        <p:txBody>
          <a:bodyPr wrap="square" lIns="0" tIns="0" rIns="0" bIns="0" rtlCol="0" anchor="t"/>
          <a:lstStyle/>
          <a:p>
            <a:pPr indent="0" marL="0">
              <a:buNone/>
            </a:pPr>
            <a:r>
              <a:rPr lang="en-US" sz="1300" dirty="0">
                <a:solidFill>
                  <a:schemeClr val="tx2"/>
                </a:solidFill>
              </a:rPr>
              <a:t>Publish the branch to GitHub the first time.</a:t>
            </a:r>
            <a:endParaRPr lang="en-US" sz="1300" dirty="0"/>
          </a:p>
        </p:txBody>
      </p:sp>
      <p:sp>
        <p:nvSpPr>
          <p:cNvPr id="19" name="text 144"/>
          <p:cNvSpPr txBox="1"/>
          <p:nvPr/>
        </p:nvSpPr>
        <p:spPr>
          <a:xfrm>
            <a:off x="6492240" y="2761488"/>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pull</a:t>
            </a:r>
            <a:endParaRPr lang="en-US" sz="1300" dirty="0"/>
          </a:p>
        </p:txBody>
      </p:sp>
      <p:sp>
        <p:nvSpPr>
          <p:cNvPr id="20" name="text 145"/>
          <p:cNvSpPr txBox="1"/>
          <p:nvPr/>
        </p:nvSpPr>
        <p:spPr>
          <a:xfrm>
            <a:off x="6492240" y="3054096"/>
            <a:ext cx="4846320" cy="457200"/>
          </a:xfrm>
          <a:prstGeom prst="rect">
            <a:avLst/>
          </a:prstGeom>
          <a:noFill/>
          <a:ln/>
        </p:spPr>
        <p:txBody>
          <a:bodyPr wrap="square" lIns="0" tIns="0" rIns="0" bIns="0" rtlCol="0" anchor="t"/>
          <a:lstStyle/>
          <a:p>
            <a:pPr indent="0" marL="0">
              <a:buNone/>
            </a:pPr>
            <a:r>
              <a:rPr lang="en-US" sz="1300" dirty="0">
                <a:solidFill>
                  <a:schemeClr val="tx2"/>
                </a:solidFill>
              </a:rPr>
              <a:t>Update the branch you are on from GitHub.</a:t>
            </a:r>
            <a:endParaRPr lang="en-US" sz="1300" dirty="0"/>
          </a:p>
        </p:txBody>
      </p:sp>
      <p:sp>
        <p:nvSpPr>
          <p:cNvPr id="21" name="text 146"/>
          <p:cNvSpPr txBox="1"/>
          <p:nvPr/>
        </p:nvSpPr>
        <p:spPr>
          <a:xfrm>
            <a:off x="6492240" y="3602736"/>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merge feature/x</a:t>
            </a:r>
            <a:endParaRPr lang="en-US" sz="1300" dirty="0"/>
          </a:p>
        </p:txBody>
      </p:sp>
      <p:sp>
        <p:nvSpPr>
          <p:cNvPr id="22" name="text 147"/>
          <p:cNvSpPr txBox="1"/>
          <p:nvPr/>
        </p:nvSpPr>
        <p:spPr>
          <a:xfrm>
            <a:off x="6492240" y="3895344"/>
            <a:ext cx="4846320" cy="457200"/>
          </a:xfrm>
          <a:prstGeom prst="rect">
            <a:avLst/>
          </a:prstGeom>
          <a:noFill/>
          <a:ln/>
        </p:spPr>
        <p:txBody>
          <a:bodyPr wrap="square" lIns="0" tIns="0" rIns="0" bIns="0" rtlCol="0" anchor="t"/>
          <a:lstStyle/>
          <a:p>
            <a:pPr indent="0" marL="0">
              <a:buNone/>
            </a:pPr>
            <a:r>
              <a:rPr lang="en-US" sz="1300" dirty="0">
                <a:solidFill>
                  <a:schemeClr val="tx2"/>
                </a:solidFill>
              </a:rPr>
              <a:t>On main: bring the branch's commits into main.</a:t>
            </a:r>
            <a:endParaRPr lang="en-US" sz="1300" dirty="0"/>
          </a:p>
        </p:txBody>
      </p:sp>
      <p:sp>
        <p:nvSpPr>
          <p:cNvPr id="23" name="text 148"/>
          <p:cNvSpPr txBox="1"/>
          <p:nvPr/>
        </p:nvSpPr>
        <p:spPr>
          <a:xfrm>
            <a:off x="6492240" y="4443984"/>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branch -d feature/x</a:t>
            </a:r>
            <a:endParaRPr lang="en-US" sz="1300" dirty="0"/>
          </a:p>
        </p:txBody>
      </p:sp>
      <p:sp>
        <p:nvSpPr>
          <p:cNvPr id="24" name="text 149"/>
          <p:cNvSpPr txBox="1"/>
          <p:nvPr/>
        </p:nvSpPr>
        <p:spPr>
          <a:xfrm>
            <a:off x="6492240" y="4736592"/>
            <a:ext cx="4846320" cy="457200"/>
          </a:xfrm>
          <a:prstGeom prst="rect">
            <a:avLst/>
          </a:prstGeom>
          <a:noFill/>
          <a:ln/>
        </p:spPr>
        <p:txBody>
          <a:bodyPr wrap="square" lIns="0" tIns="0" rIns="0" bIns="0" rtlCol="0" anchor="t"/>
          <a:lstStyle/>
          <a:p>
            <a:pPr indent="0" marL="0">
              <a:buNone/>
            </a:pPr>
            <a:r>
              <a:rPr lang="en-US" sz="1300" dirty="0">
                <a:solidFill>
                  <a:schemeClr val="tx2"/>
                </a:solidFill>
              </a:rPr>
              <a:t>Delete a merged branch locally (-D forces an unmerged one).</a:t>
            </a:r>
            <a:endParaRPr lang="en-US" sz="1300" dirty="0"/>
          </a:p>
        </p:txBody>
      </p:sp>
      <p:sp>
        <p:nvSpPr>
          <p:cNvPr id="25" name="text 150"/>
          <p:cNvSpPr txBox="1"/>
          <p:nvPr/>
        </p:nvSpPr>
        <p:spPr>
          <a:xfrm>
            <a:off x="6492240" y="5285232"/>
            <a:ext cx="4846320" cy="274320"/>
          </a:xfrm>
          <a:prstGeom prst="rect">
            <a:avLst/>
          </a:prstGeom>
          <a:noFill/>
          <a:ln/>
        </p:spPr>
        <p:txBody>
          <a:bodyPr wrap="square" lIns="0" tIns="0" rIns="0" bIns="0" rtlCol="0" anchor="ctr"/>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push origin --delete feature/x</a:t>
            </a:r>
            <a:endParaRPr lang="en-US" sz="1300" dirty="0"/>
          </a:p>
        </p:txBody>
      </p:sp>
      <p:sp>
        <p:nvSpPr>
          <p:cNvPr id="26" name="text 151"/>
          <p:cNvSpPr txBox="1"/>
          <p:nvPr/>
        </p:nvSpPr>
        <p:spPr>
          <a:xfrm>
            <a:off x="6492240" y="5577840"/>
            <a:ext cx="4846320" cy="457200"/>
          </a:xfrm>
          <a:prstGeom prst="rect">
            <a:avLst/>
          </a:prstGeom>
          <a:noFill/>
          <a:ln/>
        </p:spPr>
        <p:txBody>
          <a:bodyPr wrap="square" lIns="0" tIns="0" rIns="0" bIns="0" rtlCol="0" anchor="t"/>
          <a:lstStyle/>
          <a:p>
            <a:pPr indent="0" marL="0">
              <a:buNone/>
            </a:pPr>
            <a:r>
              <a:rPr lang="en-US" sz="1300" dirty="0">
                <a:solidFill>
                  <a:schemeClr val="tx2"/>
                </a:solidFill>
              </a:rPr>
              <a:t>Delete the branch on GitHub as well.</a:t>
            </a:r>
            <a:endParaRPr lang="en-US" sz="13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Merging, and what to do when it conflicts</a:t>
            </a:r>
            <a:endParaRPr lang="en-US" sz="3000" dirty="0"/>
          </a:p>
        </p:txBody>
      </p:sp>
      <p:sp>
        <p:nvSpPr>
          <p:cNvPr id="3" name="text 152"/>
          <p:cNvSpPr txBox="1"/>
          <p:nvPr/>
        </p:nvSpPr>
        <p:spPr>
          <a:xfrm>
            <a:off x="548640" y="1325880"/>
            <a:ext cx="5303520" cy="320040"/>
          </a:xfrm>
          <a:prstGeom prst="rect">
            <a:avLst/>
          </a:prstGeom>
          <a:noFill/>
          <a:ln/>
        </p:spPr>
        <p:txBody>
          <a:bodyPr wrap="square" lIns="0" tIns="0" rIns="0" bIns="0" rtlCol="0" anchor="ctr"/>
          <a:lstStyle/>
          <a:p>
            <a:pPr indent="0" marL="0">
              <a:buNone/>
            </a:pPr>
            <a:r>
              <a:rPr lang="en-US" sz="1600" b="1" dirty="0">
                <a:solidFill>
                  <a:schemeClr val="tx1"/>
                </a:solidFill>
              </a:rPr>
              <a:t>Fast-forward merge</a:t>
            </a:r>
            <a:endParaRPr lang="en-US" sz="1600" dirty="0"/>
          </a:p>
        </p:txBody>
      </p:sp>
      <p:sp>
        <p:nvSpPr>
          <p:cNvPr id="4" name="line 153"/>
          <p:cNvSpPr/>
          <p:nvPr/>
        </p:nvSpPr>
        <p:spPr>
          <a:xfrm>
            <a:off x="822960" y="2103120"/>
            <a:ext cx="4023360" cy="0"/>
          </a:xfrm>
          <a:prstGeom prst="line">
            <a:avLst/>
          </a:prstGeom>
          <a:noFill/>
          <a:ln w="38100">
            <a:solidFill>
              <a:schemeClr val="accent1"/>
            </a:solidFill>
            <a:prstDash val="solid"/>
          </a:ln>
        </p:spPr>
      </p:sp>
      <p:sp>
        <p:nvSpPr>
          <p:cNvPr id="5" name="commit 154"/>
          <p:cNvSpPr/>
          <p:nvPr/>
        </p:nvSpPr>
        <p:spPr>
          <a:xfrm>
            <a:off x="1060704" y="1975104"/>
            <a:ext cx="256032" cy="256032"/>
          </a:xfrm>
          <a:prstGeom prst="ellipse">
            <a:avLst/>
          </a:prstGeom>
          <a:solidFill>
            <a:schemeClr val="accent1"/>
          </a:solidFill>
          <a:ln w="6350">
            <a:solidFill>
              <a:schemeClr val="accent1"/>
            </a:solidFill>
            <a:prstDash val="solid"/>
          </a:ln>
        </p:spPr>
      </p:sp>
      <p:sp>
        <p:nvSpPr>
          <p:cNvPr id="6" name="commit 155"/>
          <p:cNvSpPr/>
          <p:nvPr/>
        </p:nvSpPr>
        <p:spPr>
          <a:xfrm>
            <a:off x="2066544" y="1975104"/>
            <a:ext cx="256032" cy="256032"/>
          </a:xfrm>
          <a:prstGeom prst="ellipse">
            <a:avLst/>
          </a:prstGeom>
          <a:solidFill>
            <a:schemeClr val="accent1"/>
          </a:solidFill>
          <a:ln w="6350">
            <a:solidFill>
              <a:schemeClr val="accent1"/>
            </a:solidFill>
            <a:prstDash val="solid"/>
          </a:ln>
        </p:spPr>
      </p:sp>
      <p:sp>
        <p:nvSpPr>
          <p:cNvPr id="7" name="commit 156"/>
          <p:cNvSpPr/>
          <p:nvPr/>
        </p:nvSpPr>
        <p:spPr>
          <a:xfrm>
            <a:off x="3072384" y="1975104"/>
            <a:ext cx="256032" cy="256032"/>
          </a:xfrm>
          <a:prstGeom prst="ellipse">
            <a:avLst/>
          </a:prstGeom>
          <a:solidFill>
            <a:schemeClr val="accent3"/>
          </a:solidFill>
          <a:ln w="6350">
            <a:solidFill>
              <a:schemeClr val="accent3"/>
            </a:solidFill>
            <a:prstDash val="solid"/>
          </a:ln>
        </p:spPr>
      </p:sp>
      <p:sp>
        <p:nvSpPr>
          <p:cNvPr id="8" name="commit 157"/>
          <p:cNvSpPr/>
          <p:nvPr/>
        </p:nvSpPr>
        <p:spPr>
          <a:xfrm>
            <a:off x="4078224" y="1975104"/>
            <a:ext cx="256032" cy="256032"/>
          </a:xfrm>
          <a:prstGeom prst="ellipse">
            <a:avLst/>
          </a:prstGeom>
          <a:solidFill>
            <a:schemeClr val="accent3"/>
          </a:solidFill>
          <a:ln w="6350">
            <a:solidFill>
              <a:schemeClr val="accent3"/>
            </a:solidFill>
            <a:prstDash val="solid"/>
          </a:ln>
        </p:spPr>
      </p:sp>
      <p:sp>
        <p:nvSpPr>
          <p:cNvPr id="9" name="tag 158"/>
          <p:cNvSpPr/>
          <p:nvPr/>
        </p:nvSpPr>
        <p:spPr>
          <a:xfrm>
            <a:off x="1856232" y="2404872"/>
            <a:ext cx="676656" cy="310896"/>
          </a:xfrm>
          <a:prstGeom prst="roundRect">
            <a:avLst>
              <a:gd name="adj" fmla="val 50000"/>
            </a:avLst>
          </a:prstGeom>
          <a:solidFill>
            <a:schemeClr val="accent1"/>
          </a:solidFill>
          <a:ln w="6350">
            <a:solidFill>
              <a:schemeClr val="accent1"/>
            </a:solidFill>
            <a:prstDash val="solid"/>
          </a:ln>
        </p:spPr>
      </p:sp>
      <p:sp>
        <p:nvSpPr>
          <p:cNvPr id="10" name="text 159"/>
          <p:cNvSpPr txBox="1"/>
          <p:nvPr/>
        </p:nvSpPr>
        <p:spPr>
          <a:xfrm>
            <a:off x="1856232" y="2404872"/>
            <a:ext cx="676656" cy="310896"/>
          </a:xfrm>
          <a:prstGeom prst="rect">
            <a:avLst/>
          </a:prstGeom>
          <a:noFill/>
          <a:ln/>
        </p:spPr>
        <p:txBody>
          <a:bodyPr wrap="square" lIns="0" tIns="0" rIns="0" bIns="0" rtlCol="0" anchor="ctr"/>
          <a:lstStyle/>
          <a:p>
            <a:pPr algn="ctr" indent="0" marL="0">
              <a:buNone/>
            </a:pPr>
            <a:r>
              <a:rPr lang="en-US" sz="1000" b="1" dirty="0">
                <a:solidFill>
                  <a:schemeClr val="tx1"/>
                </a:solidFill>
                <a:latin typeface="Courier New" pitchFamily="34" charset="0"/>
                <a:ea typeface="Courier New" pitchFamily="34" charset="-122"/>
                <a:cs typeface="Courier New" pitchFamily="34" charset="-120"/>
              </a:rPr>
              <a:t>main</a:t>
            </a:r>
            <a:endParaRPr lang="en-US" sz="1000" dirty="0"/>
          </a:p>
        </p:txBody>
      </p:sp>
      <p:sp>
        <p:nvSpPr>
          <p:cNvPr id="11" name="tag 160"/>
          <p:cNvSpPr/>
          <p:nvPr/>
        </p:nvSpPr>
        <p:spPr>
          <a:xfrm>
            <a:off x="3867912" y="2404872"/>
            <a:ext cx="676656" cy="310896"/>
          </a:xfrm>
          <a:prstGeom prst="roundRect">
            <a:avLst>
              <a:gd name="adj" fmla="val 50000"/>
            </a:avLst>
          </a:prstGeom>
          <a:solidFill>
            <a:schemeClr val="bg1"/>
          </a:solidFill>
          <a:ln w="19050">
            <a:solidFill>
              <a:schemeClr val="accent1"/>
            </a:solidFill>
            <a:prstDash val="solid"/>
          </a:ln>
        </p:spPr>
      </p:sp>
      <p:sp>
        <p:nvSpPr>
          <p:cNvPr id="12" name="text 161"/>
          <p:cNvSpPr txBox="1"/>
          <p:nvPr/>
        </p:nvSpPr>
        <p:spPr>
          <a:xfrm>
            <a:off x="3867912" y="2404872"/>
            <a:ext cx="676656" cy="310896"/>
          </a:xfrm>
          <a:prstGeom prst="rect">
            <a:avLst/>
          </a:prstGeom>
          <a:noFill/>
          <a:ln/>
        </p:spPr>
        <p:txBody>
          <a:bodyPr wrap="square" lIns="0" tIns="0" rIns="0" bIns="0" rtlCol="0" anchor="ctr"/>
          <a:lstStyle/>
          <a:p>
            <a:pPr algn="ctr" indent="0" marL="0">
              <a:buNone/>
            </a:pPr>
            <a:r>
              <a:rPr lang="en-US" sz="1000" b="1" dirty="0">
                <a:solidFill>
                  <a:schemeClr val="accent1"/>
                </a:solidFill>
                <a:latin typeface="Courier New" pitchFamily="34" charset="0"/>
                <a:ea typeface="Courier New" pitchFamily="34" charset="-122"/>
                <a:cs typeface="Courier New" pitchFamily="34" charset="-120"/>
              </a:rPr>
              <a:t>main</a:t>
            </a:r>
            <a:endParaRPr lang="en-US" sz="1000" dirty="0"/>
          </a:p>
        </p:txBody>
      </p:sp>
      <p:sp>
        <p:nvSpPr>
          <p:cNvPr id="13" name="line 162"/>
          <p:cNvSpPr/>
          <p:nvPr/>
        </p:nvSpPr>
        <p:spPr>
          <a:xfrm>
            <a:off x="2697480" y="2560320"/>
            <a:ext cx="960120" cy="0"/>
          </a:xfrm>
          <a:prstGeom prst="line">
            <a:avLst/>
          </a:prstGeom>
          <a:noFill/>
          <a:ln w="19050">
            <a:solidFill>
              <a:schemeClr val="accent1"/>
            </a:solidFill>
            <a:prstDash val="dash"/>
            <a:tailEnd type="triangle"/>
          </a:ln>
        </p:spPr>
      </p:sp>
      <p:sp>
        <p:nvSpPr>
          <p:cNvPr id="14" name="text 163"/>
          <p:cNvSpPr txBox="1"/>
          <p:nvPr/>
        </p:nvSpPr>
        <p:spPr>
          <a:xfrm>
            <a:off x="548640" y="2834640"/>
            <a:ext cx="5303520" cy="640080"/>
          </a:xfrm>
          <a:prstGeom prst="rect">
            <a:avLst/>
          </a:prstGeom>
          <a:noFill/>
          <a:ln/>
        </p:spPr>
        <p:txBody>
          <a:bodyPr wrap="square" lIns="0" tIns="0" rIns="0" bIns="0" rtlCol="0" anchor="t"/>
          <a:lstStyle/>
          <a:p>
            <a:pPr indent="0" marL="0">
              <a:buNone/>
            </a:pPr>
            <a:r>
              <a:rPr lang="en-US" sz="1300" dirty="0">
                <a:solidFill>
                  <a:schemeClr val="tx2"/>
                </a:solidFill>
              </a:rPr>
              <a:t>main has not moved since you branched, so its label simply slides forward to the newest commit. No new commit is created.</a:t>
            </a:r>
            <a:endParaRPr lang="en-US" sz="1300" dirty="0"/>
          </a:p>
        </p:txBody>
      </p:sp>
      <p:sp>
        <p:nvSpPr>
          <p:cNvPr id="15" name="text 164"/>
          <p:cNvSpPr txBox="1"/>
          <p:nvPr/>
        </p:nvSpPr>
        <p:spPr>
          <a:xfrm>
            <a:off x="548640" y="3611880"/>
            <a:ext cx="5303520" cy="320040"/>
          </a:xfrm>
          <a:prstGeom prst="rect">
            <a:avLst/>
          </a:prstGeom>
          <a:noFill/>
          <a:ln/>
        </p:spPr>
        <p:txBody>
          <a:bodyPr wrap="square" lIns="0" tIns="0" rIns="0" bIns="0" rtlCol="0" anchor="ctr"/>
          <a:lstStyle/>
          <a:p>
            <a:pPr indent="0" marL="0">
              <a:buNone/>
            </a:pPr>
            <a:r>
              <a:rPr lang="en-US" sz="1600" b="1" dirty="0">
                <a:solidFill>
                  <a:schemeClr val="tx1"/>
                </a:solidFill>
              </a:rPr>
              <a:t>Merge commit</a:t>
            </a:r>
            <a:endParaRPr lang="en-US" sz="1600" dirty="0"/>
          </a:p>
        </p:txBody>
      </p:sp>
      <p:sp>
        <p:nvSpPr>
          <p:cNvPr id="16" name="line 165"/>
          <p:cNvSpPr/>
          <p:nvPr/>
        </p:nvSpPr>
        <p:spPr>
          <a:xfrm>
            <a:off x="822960" y="4617720"/>
            <a:ext cx="4023360" cy="0"/>
          </a:xfrm>
          <a:prstGeom prst="line">
            <a:avLst/>
          </a:prstGeom>
          <a:noFill/>
          <a:ln w="38100">
            <a:solidFill>
              <a:schemeClr val="accent1"/>
            </a:solidFill>
            <a:prstDash val="solid"/>
          </a:ln>
        </p:spPr>
      </p:sp>
      <p:sp>
        <p:nvSpPr>
          <p:cNvPr id="17" name="line 166"/>
          <p:cNvSpPr/>
          <p:nvPr/>
        </p:nvSpPr>
        <p:spPr>
          <a:xfrm flipV="1">
            <a:off x="2194560" y="4069080"/>
            <a:ext cx="822960" cy="548640"/>
          </a:xfrm>
          <a:prstGeom prst="line">
            <a:avLst/>
          </a:prstGeom>
          <a:noFill/>
          <a:ln w="38100">
            <a:solidFill>
              <a:schemeClr val="accent3"/>
            </a:solidFill>
            <a:prstDash val="solid"/>
          </a:ln>
        </p:spPr>
      </p:sp>
      <p:sp>
        <p:nvSpPr>
          <p:cNvPr id="18" name="line 167"/>
          <p:cNvSpPr/>
          <p:nvPr/>
        </p:nvSpPr>
        <p:spPr>
          <a:xfrm>
            <a:off x="3017520" y="4069080"/>
            <a:ext cx="914400" cy="0"/>
          </a:xfrm>
          <a:prstGeom prst="line">
            <a:avLst/>
          </a:prstGeom>
          <a:noFill/>
          <a:ln w="38100">
            <a:solidFill>
              <a:schemeClr val="accent3"/>
            </a:solidFill>
            <a:prstDash val="solid"/>
          </a:ln>
        </p:spPr>
      </p:sp>
      <p:sp>
        <p:nvSpPr>
          <p:cNvPr id="19" name="line 168"/>
          <p:cNvSpPr/>
          <p:nvPr/>
        </p:nvSpPr>
        <p:spPr>
          <a:xfrm>
            <a:off x="3931920" y="4069080"/>
            <a:ext cx="914400" cy="548640"/>
          </a:xfrm>
          <a:prstGeom prst="line">
            <a:avLst/>
          </a:prstGeom>
          <a:noFill/>
          <a:ln w="38100">
            <a:solidFill>
              <a:schemeClr val="accent3"/>
            </a:solidFill>
            <a:prstDash val="solid"/>
          </a:ln>
        </p:spPr>
      </p:sp>
      <p:sp>
        <p:nvSpPr>
          <p:cNvPr id="20" name="commit 169"/>
          <p:cNvSpPr/>
          <p:nvPr/>
        </p:nvSpPr>
        <p:spPr>
          <a:xfrm>
            <a:off x="1060704" y="4489704"/>
            <a:ext cx="256032" cy="256032"/>
          </a:xfrm>
          <a:prstGeom prst="ellipse">
            <a:avLst/>
          </a:prstGeom>
          <a:solidFill>
            <a:schemeClr val="accent1"/>
          </a:solidFill>
          <a:ln w="6350">
            <a:solidFill>
              <a:schemeClr val="accent1"/>
            </a:solidFill>
            <a:prstDash val="solid"/>
          </a:ln>
        </p:spPr>
      </p:sp>
      <p:sp>
        <p:nvSpPr>
          <p:cNvPr id="21" name="commit 170"/>
          <p:cNvSpPr/>
          <p:nvPr/>
        </p:nvSpPr>
        <p:spPr>
          <a:xfrm>
            <a:off x="2066544" y="4489704"/>
            <a:ext cx="256032" cy="256032"/>
          </a:xfrm>
          <a:prstGeom prst="ellipse">
            <a:avLst/>
          </a:prstGeom>
          <a:solidFill>
            <a:schemeClr val="accent1"/>
          </a:solidFill>
          <a:ln w="6350">
            <a:solidFill>
              <a:schemeClr val="accent1"/>
            </a:solidFill>
            <a:prstDash val="solid"/>
          </a:ln>
        </p:spPr>
      </p:sp>
      <p:sp>
        <p:nvSpPr>
          <p:cNvPr id="22" name="commit 171"/>
          <p:cNvSpPr/>
          <p:nvPr/>
        </p:nvSpPr>
        <p:spPr>
          <a:xfrm>
            <a:off x="3346704" y="4489704"/>
            <a:ext cx="256032" cy="256032"/>
          </a:xfrm>
          <a:prstGeom prst="ellipse">
            <a:avLst/>
          </a:prstGeom>
          <a:solidFill>
            <a:schemeClr val="accent1"/>
          </a:solidFill>
          <a:ln w="6350">
            <a:solidFill>
              <a:schemeClr val="accent1"/>
            </a:solidFill>
            <a:prstDash val="solid"/>
          </a:ln>
        </p:spPr>
      </p:sp>
      <p:sp>
        <p:nvSpPr>
          <p:cNvPr id="23" name="commit 172"/>
          <p:cNvSpPr/>
          <p:nvPr/>
        </p:nvSpPr>
        <p:spPr>
          <a:xfrm>
            <a:off x="2889504" y="3941064"/>
            <a:ext cx="256032" cy="256032"/>
          </a:xfrm>
          <a:prstGeom prst="ellipse">
            <a:avLst/>
          </a:prstGeom>
          <a:solidFill>
            <a:schemeClr val="accent3"/>
          </a:solidFill>
          <a:ln w="6350">
            <a:solidFill>
              <a:schemeClr val="accent3"/>
            </a:solidFill>
            <a:prstDash val="solid"/>
          </a:ln>
        </p:spPr>
      </p:sp>
      <p:sp>
        <p:nvSpPr>
          <p:cNvPr id="24" name="commit 173"/>
          <p:cNvSpPr/>
          <p:nvPr/>
        </p:nvSpPr>
        <p:spPr>
          <a:xfrm>
            <a:off x="3803904" y="3941064"/>
            <a:ext cx="256032" cy="256032"/>
          </a:xfrm>
          <a:prstGeom prst="ellipse">
            <a:avLst/>
          </a:prstGeom>
          <a:solidFill>
            <a:schemeClr val="accent3"/>
          </a:solidFill>
          <a:ln w="6350">
            <a:solidFill>
              <a:schemeClr val="accent3"/>
            </a:solidFill>
            <a:prstDash val="solid"/>
          </a:ln>
        </p:spPr>
      </p:sp>
      <p:sp>
        <p:nvSpPr>
          <p:cNvPr id="25" name="commit 174"/>
          <p:cNvSpPr/>
          <p:nvPr/>
        </p:nvSpPr>
        <p:spPr>
          <a:xfrm>
            <a:off x="4700016" y="4471416"/>
            <a:ext cx="292608" cy="292608"/>
          </a:xfrm>
          <a:prstGeom prst="ellipse">
            <a:avLst/>
          </a:prstGeom>
          <a:solidFill>
            <a:schemeClr val="bg1"/>
          </a:solidFill>
          <a:ln w="28575">
            <a:solidFill>
              <a:schemeClr val="tx1"/>
            </a:solidFill>
            <a:prstDash val="solid"/>
          </a:ln>
        </p:spPr>
      </p:sp>
      <p:sp>
        <p:nvSpPr>
          <p:cNvPr id="26" name="text 175"/>
          <p:cNvSpPr txBox="1"/>
          <p:nvPr/>
        </p:nvSpPr>
        <p:spPr>
          <a:xfrm>
            <a:off x="4700016" y="4471416"/>
            <a:ext cx="292608" cy="292608"/>
          </a:xfrm>
          <a:prstGeom prst="rect">
            <a:avLst/>
          </a:prstGeom>
          <a:noFill/>
          <a:ln/>
        </p:spPr>
        <p:txBody>
          <a:bodyPr wrap="square" lIns="0" tIns="0" rIns="0" bIns="0" rtlCol="0" anchor="ctr"/>
          <a:lstStyle/>
          <a:p>
            <a:pPr algn="ctr" indent="0" marL="0">
              <a:buNone/>
            </a:pPr>
            <a:r>
              <a:rPr lang="en-US" sz="900" b="1" dirty="0">
                <a:solidFill>
                  <a:schemeClr val="tx1"/>
                </a:solidFill>
              </a:rPr>
              <a:t>M</a:t>
            </a:r>
            <a:endParaRPr lang="en-US" sz="900" dirty="0"/>
          </a:p>
        </p:txBody>
      </p:sp>
      <p:sp>
        <p:nvSpPr>
          <p:cNvPr id="27" name="text 176"/>
          <p:cNvSpPr txBox="1"/>
          <p:nvPr/>
        </p:nvSpPr>
        <p:spPr>
          <a:xfrm>
            <a:off x="548640" y="4937760"/>
            <a:ext cx="5303520" cy="640080"/>
          </a:xfrm>
          <a:prstGeom prst="rect">
            <a:avLst/>
          </a:prstGeom>
          <a:noFill/>
          <a:ln/>
        </p:spPr>
        <p:txBody>
          <a:bodyPr wrap="square" lIns="0" tIns="0" rIns="0" bIns="0" rtlCol="0" anchor="t"/>
          <a:lstStyle/>
          <a:p>
            <a:pPr indent="0" marL="0">
              <a:buNone/>
            </a:pPr>
            <a:r>
              <a:rPr lang="en-US" sz="1300" dirty="0">
                <a:solidFill>
                  <a:schemeClr val="tx2"/>
                </a:solidFill>
              </a:rPr>
              <a:t>Both sides moved, so Git creates one merge commit (M) with two parents. Your history keeps the branch and the join.</a:t>
            </a:r>
            <a:endParaRPr lang="en-US" sz="1300" dirty="0"/>
          </a:p>
        </p:txBody>
      </p:sp>
      <p:sp>
        <p:nvSpPr>
          <p:cNvPr id="28" name="card 177"/>
          <p:cNvSpPr/>
          <p:nvPr/>
        </p:nvSpPr>
        <p:spPr>
          <a:xfrm>
            <a:off x="6309360" y="1325880"/>
            <a:ext cx="5303520" cy="4800600"/>
          </a:xfrm>
          <a:prstGeom prst="roundRect">
            <a:avLst>
              <a:gd name="adj" fmla="val 2286"/>
            </a:avLst>
          </a:prstGeom>
          <a:solidFill>
            <a:schemeClr val="bg2"/>
          </a:solidFill>
          <a:ln w="9525">
            <a:solidFill>
              <a:schemeClr val="bg2"/>
            </a:solidFill>
            <a:prstDash val="solid"/>
          </a:ln>
        </p:spPr>
      </p:sp>
      <p:sp>
        <p:nvSpPr>
          <p:cNvPr id="29" name="text 178"/>
          <p:cNvSpPr txBox="1"/>
          <p:nvPr/>
        </p:nvSpPr>
        <p:spPr>
          <a:xfrm>
            <a:off x="6583680" y="1463040"/>
            <a:ext cx="4754880" cy="365760"/>
          </a:xfrm>
          <a:prstGeom prst="rect">
            <a:avLst/>
          </a:prstGeom>
          <a:noFill/>
          <a:ln/>
        </p:spPr>
        <p:txBody>
          <a:bodyPr wrap="square" lIns="0" tIns="0" rIns="0" bIns="0" rtlCol="0" anchor="ctr"/>
          <a:lstStyle/>
          <a:p>
            <a:pPr indent="0" marL="0">
              <a:buNone/>
            </a:pPr>
            <a:r>
              <a:rPr lang="en-US" sz="1600" b="1" dirty="0">
                <a:solidFill>
                  <a:schemeClr val="tx1"/>
                </a:solidFill>
              </a:rPr>
              <a:t>When the same lines changed on both sides</a:t>
            </a:r>
            <a:endParaRPr lang="en-US" sz="1600" dirty="0"/>
          </a:p>
        </p:txBody>
      </p:sp>
      <p:sp>
        <p:nvSpPr>
          <p:cNvPr id="30" name="code block 179"/>
          <p:cNvSpPr/>
          <p:nvPr/>
        </p:nvSpPr>
        <p:spPr>
          <a:xfrm>
            <a:off x="6583680" y="1920240"/>
            <a:ext cx="4754880" cy="1234440"/>
          </a:xfrm>
          <a:prstGeom prst="roundRect">
            <a:avLst>
              <a:gd name="adj" fmla="val 7407"/>
            </a:avLst>
          </a:prstGeom>
          <a:solidFill>
            <a:schemeClr val="bg1"/>
          </a:solidFill>
          <a:ln w="9525">
            <a:solidFill>
              <a:schemeClr val="bg1"/>
            </a:solidFill>
            <a:prstDash val="solid"/>
          </a:ln>
        </p:spPr>
      </p:sp>
      <p:sp>
        <p:nvSpPr>
          <p:cNvPr id="31" name="code 180"/>
          <p:cNvSpPr txBox="1"/>
          <p:nvPr/>
        </p:nvSpPr>
        <p:spPr>
          <a:xfrm>
            <a:off x="6720840" y="2029968"/>
            <a:ext cx="4480560" cy="1014984"/>
          </a:xfrm>
          <a:prstGeom prst="rect">
            <a:avLst/>
          </a:prstGeom>
          <a:noFill/>
          <a:ln/>
        </p:spPr>
        <p:txBody>
          <a:bodyPr wrap="square" lIns="0" tIns="0" rIns="0" bIns="0" rtlCol="0" anchor="t"/>
          <a:lstStyle/>
          <a:p>
            <a:pPr indent="0" marL="0">
              <a:lnSpc>
                <a:spcPct val="105000"/>
              </a:lnSpc>
              <a:buNone/>
            </a:pPr>
            <a:r>
              <a:rPr lang="en-US" sz="1100" dirty="0">
                <a:solidFill>
                  <a:schemeClr val="accent6"/>
                </a:solidFill>
                <a:latin typeface="Courier New" pitchFamily="34" charset="0"/>
                <a:ea typeface="Courier New" pitchFamily="34" charset="-122"/>
                <a:cs typeface="Courier New" pitchFamily="34" charset="-120"/>
              </a:rPr>
              <a:t>&lt;&lt;&lt;&lt;&lt;&lt;&lt; HEAD</a:t>
            </a:r>
            <a:endParaRPr lang="en-US" sz="1100" dirty="0"/>
          </a:p>
          <a:p>
            <a:pPr indent="0" marL="0">
              <a:lnSpc>
                <a:spcPct val="105000"/>
              </a:lnSpc>
              <a:buNone/>
            </a:pPr>
            <a:r>
              <a:rPr lang="en-US" sz="1100" dirty="0">
                <a:solidFill>
                  <a:schemeClr val="tx1"/>
                </a:solidFill>
                <a:latin typeface="Courier New" pitchFamily="34" charset="0"/>
                <a:ea typeface="Courier New" pitchFamily="34" charset="-122"/>
                <a:cs typeface="Courier New" pitchFamily="34" charset="-120"/>
              </a:rPr>
              <a:t>df = df.dropna()</a:t>
            </a:r>
            <a:endParaRPr lang="en-US" sz="1100" dirty="0"/>
          </a:p>
          <a:p>
            <a:pPr indent="0" marL="0">
              <a:lnSpc>
                <a:spcPct val="105000"/>
              </a:lnSpc>
              <a:buNone/>
            </a:pPr>
            <a:r>
              <a:rPr lang="en-US" sz="1100" dirty="0">
                <a:solidFill>
                  <a:schemeClr val="accent6"/>
                </a:solidFill>
                <a:latin typeface="Courier New" pitchFamily="34" charset="0"/>
                <a:ea typeface="Courier New" pitchFamily="34" charset="-122"/>
                <a:cs typeface="Courier New" pitchFamily="34" charset="-120"/>
              </a:rPr>
              <a:t>=======</a:t>
            </a:r>
            <a:endParaRPr lang="en-US" sz="1100" dirty="0"/>
          </a:p>
          <a:p>
            <a:pPr indent="0" marL="0">
              <a:lnSpc>
                <a:spcPct val="105000"/>
              </a:lnSpc>
              <a:buNone/>
            </a:pPr>
            <a:r>
              <a:rPr lang="en-US" sz="1100" dirty="0">
                <a:solidFill>
                  <a:schemeClr val="tx1"/>
                </a:solidFill>
                <a:latin typeface="Courier New" pitchFamily="34" charset="0"/>
                <a:ea typeface="Courier New" pitchFamily="34" charset="-122"/>
                <a:cs typeface="Courier New" pitchFamily="34" charset="-120"/>
              </a:rPr>
              <a:t>df = df.fillna(0)</a:t>
            </a:r>
            <a:endParaRPr lang="en-US" sz="1100" dirty="0"/>
          </a:p>
          <a:p>
            <a:pPr indent="0" marL="0">
              <a:lnSpc>
                <a:spcPct val="105000"/>
              </a:lnSpc>
              <a:buNone/>
            </a:pPr>
            <a:r>
              <a:rPr lang="en-US" sz="1100" dirty="0">
                <a:solidFill>
                  <a:schemeClr val="accent6"/>
                </a:solidFill>
                <a:latin typeface="Courier New" pitchFamily="34" charset="0"/>
                <a:ea typeface="Courier New" pitchFamily="34" charset="-122"/>
                <a:cs typeface="Courier New" pitchFamily="34" charset="-120"/>
              </a:rPr>
              <a:t>&gt;&gt;&gt;&gt;&gt;&gt;&gt; feature/clean-data</a:t>
            </a:r>
            <a:endParaRPr lang="en-US" sz="1100" dirty="0"/>
          </a:p>
        </p:txBody>
      </p:sp>
      <p:sp>
        <p:nvSpPr>
          <p:cNvPr id="32" name="number 181"/>
          <p:cNvSpPr/>
          <p:nvPr/>
        </p:nvSpPr>
        <p:spPr>
          <a:xfrm>
            <a:off x="6620256" y="3355848"/>
            <a:ext cx="329184" cy="329184"/>
          </a:xfrm>
          <a:prstGeom prst="ellipse">
            <a:avLst/>
          </a:prstGeom>
          <a:solidFill>
            <a:schemeClr val="accent3"/>
          </a:solidFill>
          <a:ln w="6350">
            <a:solidFill>
              <a:schemeClr val="accent3"/>
            </a:solidFill>
            <a:prstDash val="solid"/>
          </a:ln>
        </p:spPr>
      </p:sp>
      <p:sp>
        <p:nvSpPr>
          <p:cNvPr id="33" name="text 182"/>
          <p:cNvSpPr txBox="1"/>
          <p:nvPr/>
        </p:nvSpPr>
        <p:spPr>
          <a:xfrm>
            <a:off x="6620256" y="335584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4" name="conflict step 1"/>
          <p:cNvSpPr txBox="1"/>
          <p:nvPr/>
        </p:nvSpPr>
        <p:spPr>
          <a:xfrm>
            <a:off x="7086600" y="3337560"/>
            <a:ext cx="4297680" cy="365760"/>
          </a:xfrm>
          <a:prstGeom prst="rect">
            <a:avLst/>
          </a:prstGeom>
          <a:noFill/>
          <a:ln/>
        </p:spPr>
        <p:txBody>
          <a:bodyPr wrap="square" lIns="0" tIns="0" rIns="0" bIns="0" rtlCol="0" anchor="ctr"/>
          <a:lstStyle/>
          <a:p>
            <a:pPr indent="0" marL="0">
              <a:buNone/>
            </a:pPr>
            <a:r>
              <a:rPr lang="en-US" sz="1350" dirty="0">
                <a:solidFill>
                  <a:schemeClr val="tx2"/>
                </a:solidFill>
              </a:rPr>
              <a:t>Git pauses the merge and marks the file like this.</a:t>
            </a:r>
            <a:endParaRPr lang="en-US" sz="1350" dirty="0"/>
          </a:p>
        </p:txBody>
      </p:sp>
      <p:sp>
        <p:nvSpPr>
          <p:cNvPr id="35" name="number 183"/>
          <p:cNvSpPr/>
          <p:nvPr/>
        </p:nvSpPr>
        <p:spPr>
          <a:xfrm>
            <a:off x="6620256" y="3904488"/>
            <a:ext cx="329184" cy="329184"/>
          </a:xfrm>
          <a:prstGeom prst="ellipse">
            <a:avLst/>
          </a:prstGeom>
          <a:solidFill>
            <a:schemeClr val="accent3"/>
          </a:solidFill>
          <a:ln w="6350">
            <a:solidFill>
              <a:schemeClr val="accent3"/>
            </a:solidFill>
            <a:prstDash val="solid"/>
          </a:ln>
        </p:spPr>
      </p:sp>
      <p:sp>
        <p:nvSpPr>
          <p:cNvPr id="36" name="text 184"/>
          <p:cNvSpPr txBox="1"/>
          <p:nvPr/>
        </p:nvSpPr>
        <p:spPr>
          <a:xfrm>
            <a:off x="6620256" y="390448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7" name="conflict step 2"/>
          <p:cNvSpPr txBox="1"/>
          <p:nvPr/>
        </p:nvSpPr>
        <p:spPr>
          <a:xfrm>
            <a:off x="7086600" y="3886200"/>
            <a:ext cx="4297680" cy="365760"/>
          </a:xfrm>
          <a:prstGeom prst="rect">
            <a:avLst/>
          </a:prstGeom>
          <a:noFill/>
          <a:ln/>
        </p:spPr>
        <p:txBody>
          <a:bodyPr wrap="square" lIns="0" tIns="0" rIns="0" bIns="0" rtlCol="0" anchor="ctr"/>
          <a:lstStyle/>
          <a:p>
            <a:pPr indent="0" marL="0">
              <a:buNone/>
            </a:pPr>
            <a:r>
              <a:rPr lang="en-US" sz="1350" dirty="0">
                <a:solidFill>
                  <a:schemeClr val="tx2"/>
                </a:solidFill>
              </a:rPr>
              <a:t>Open it, keep the lines you want, and delete the markers.</a:t>
            </a:r>
            <a:endParaRPr lang="en-US" sz="1350" dirty="0"/>
          </a:p>
        </p:txBody>
      </p:sp>
      <p:sp>
        <p:nvSpPr>
          <p:cNvPr id="38" name="number 185"/>
          <p:cNvSpPr/>
          <p:nvPr/>
        </p:nvSpPr>
        <p:spPr>
          <a:xfrm>
            <a:off x="6620256" y="4453128"/>
            <a:ext cx="329184" cy="329184"/>
          </a:xfrm>
          <a:prstGeom prst="ellipse">
            <a:avLst/>
          </a:prstGeom>
          <a:solidFill>
            <a:schemeClr val="accent3"/>
          </a:solidFill>
          <a:ln w="6350">
            <a:solidFill>
              <a:schemeClr val="accent3"/>
            </a:solidFill>
            <a:prstDash val="solid"/>
          </a:ln>
        </p:spPr>
      </p:sp>
      <p:sp>
        <p:nvSpPr>
          <p:cNvPr id="39" name="text 186"/>
          <p:cNvSpPr txBox="1"/>
          <p:nvPr/>
        </p:nvSpPr>
        <p:spPr>
          <a:xfrm>
            <a:off x="6620256" y="445312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0" name="conflict step 3"/>
          <p:cNvSpPr txBox="1"/>
          <p:nvPr/>
        </p:nvSpPr>
        <p:spPr>
          <a:xfrm>
            <a:off x="7086600" y="4434840"/>
            <a:ext cx="4297680" cy="365760"/>
          </a:xfrm>
          <a:prstGeom prst="rect">
            <a:avLst/>
          </a:prstGeom>
          <a:noFill/>
          <a:ln/>
        </p:spPr>
        <p:txBody>
          <a:bodyPr wrap="square" lIns="0" tIns="0" rIns="0" bIns="0" rtlCol="0" anchor="ctr"/>
          <a:lstStyle/>
          <a:p>
            <a:pPr indent="0" marL="0">
              <a:buNone/>
            </a:pPr>
            <a:r>
              <a:rPr lang="en-US" sz="1350" dirty="0">
                <a:solidFill>
                  <a:schemeClr val="accent3"/>
                </a:solidFill>
                <a:latin typeface="Courier New" pitchFamily="34" charset="0"/>
                <a:ea typeface="Courier New" pitchFamily="34" charset="-122"/>
                <a:cs typeface="Courier New" pitchFamily="34" charset="-120"/>
              </a:rPr>
              <a:t>git add</a:t>
            </a:r>
            <a:pPr indent="0" marL="0">
              <a:buNone/>
            </a:pPr>
            <a:r>
              <a:rPr lang="en-US" sz="1350" dirty="0">
                <a:solidFill>
                  <a:schemeClr val="tx2"/>
                </a:solidFill>
              </a:rPr>
              <a:t> the file, then </a:t>
            </a:r>
            <a:pPr indent="0" marL="0">
              <a:buNone/>
            </a:pPr>
            <a:r>
              <a:rPr lang="en-US" sz="1350" dirty="0">
                <a:solidFill>
                  <a:schemeClr val="accent3"/>
                </a:solidFill>
                <a:latin typeface="Courier New" pitchFamily="34" charset="0"/>
                <a:ea typeface="Courier New" pitchFamily="34" charset="-122"/>
                <a:cs typeface="Courier New" pitchFamily="34" charset="-120"/>
              </a:rPr>
              <a:t>git commit</a:t>
            </a:r>
            <a:pPr indent="0" marL="0">
              <a:buNone/>
            </a:pPr>
            <a:r>
              <a:rPr lang="en-US" sz="1350" dirty="0">
                <a:solidFill>
                  <a:schemeClr val="tx2"/>
                </a:solidFill>
              </a:rPr>
              <a:t> to finish the merge.</a:t>
            </a:r>
            <a:endParaRPr lang="en-US" sz="1350" dirty="0"/>
          </a:p>
        </p:txBody>
      </p:sp>
      <p:sp>
        <p:nvSpPr>
          <p:cNvPr id="41" name="text 187"/>
          <p:cNvSpPr txBox="1"/>
          <p:nvPr/>
        </p:nvSpPr>
        <p:spPr>
          <a:xfrm>
            <a:off x="6583680" y="5029200"/>
            <a:ext cx="4754880" cy="1005840"/>
          </a:xfrm>
          <a:prstGeom prst="rect">
            <a:avLst/>
          </a:prstGeom>
          <a:noFill/>
          <a:ln/>
        </p:spPr>
        <p:txBody>
          <a:bodyPr wrap="square" lIns="0" tIns="0" rIns="0" bIns="0" rtlCol="0" anchor="t"/>
          <a:lstStyle/>
          <a:p>
            <a:pPr indent="0" marL="0">
              <a:buNone/>
            </a:pPr>
            <a:r>
              <a:rPr lang="en-US" sz="1250" i="1" dirty="0">
                <a:solidFill>
                  <a:schemeClr val="accent3"/>
                </a:solidFill>
              </a:rPr>
              <a:t>Conflicts come from the same lines edited on both sides. Short branches and frequent merges from main keep them rare, and Claude Code can walk through both versions with you before you choose.</a:t>
            </a:r>
            <a:endParaRPr lang="en-US" sz="125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Habits that keep branches painless</a:t>
            </a:r>
            <a:endParaRPr lang="en-US" sz="3000" dirty="0"/>
          </a:p>
        </p:txBody>
      </p:sp>
      <p:sp>
        <p:nvSpPr>
          <p:cNvPr id="3" name="card 188"/>
          <p:cNvSpPr/>
          <p:nvPr/>
        </p:nvSpPr>
        <p:spPr>
          <a:xfrm>
            <a:off x="548640" y="1371600"/>
            <a:ext cx="5394960" cy="2194560"/>
          </a:xfrm>
          <a:prstGeom prst="roundRect">
            <a:avLst>
              <a:gd name="adj" fmla="val 5000"/>
            </a:avLst>
          </a:prstGeom>
          <a:solidFill>
            <a:schemeClr val="bg2"/>
          </a:solidFill>
          <a:ln w="9525">
            <a:solidFill>
              <a:schemeClr val="bg2"/>
            </a:solidFill>
            <a:prstDash val="solid"/>
          </a:ln>
        </p:spPr>
      </p:sp>
      <p:sp>
        <p:nvSpPr>
          <p:cNvPr id="4" name="icon circle 189"/>
          <p:cNvSpPr/>
          <p:nvPr/>
        </p:nvSpPr>
        <p:spPr>
          <a:xfrm>
            <a:off x="822960" y="1600200"/>
            <a:ext cx="548640" cy="548640"/>
          </a:xfrm>
          <a:prstGeom prst="ellipse">
            <a:avLst/>
          </a:prstGeom>
          <a:solidFill>
            <a:schemeClr val="accent3"/>
          </a:solidFill>
          <a:ln w="6350">
            <a:solidFill>
              <a:schemeClr val="accent3"/>
            </a:solidFill>
            <a:prstDash val="solid"/>
          </a:ln>
        </p:spPr>
      </p:sp>
      <p:pic>
        <p:nvPicPr>
          <p:cNvPr id="5" name="icon 190" descr="preencoded.png">    </p:cNvPr>
          <p:cNvPicPr>
            <a:picLocks noChangeAspect="1"/>
          </p:cNvPicPr>
          <p:nvPr/>
        </p:nvPicPr>
        <p:blipFill>
          <a:blip r:embed="rId1"/>
          <a:stretch>
            <a:fillRect/>
          </a:stretch>
        </p:blipFill>
        <p:spPr>
          <a:xfrm>
            <a:off x="954634" y="1731874"/>
            <a:ext cx="285293" cy="285293"/>
          </a:xfrm>
          <a:prstGeom prst="rect">
            <a:avLst/>
          </a:prstGeom>
        </p:spPr>
      </p:pic>
      <p:sp>
        <p:nvSpPr>
          <p:cNvPr id="6" name="text 191"/>
          <p:cNvSpPr txBox="1"/>
          <p:nvPr/>
        </p:nvSpPr>
        <p:spPr>
          <a:xfrm>
            <a:off x="1554480" y="1645920"/>
            <a:ext cx="4114800" cy="457200"/>
          </a:xfrm>
          <a:prstGeom prst="rect">
            <a:avLst/>
          </a:prstGeom>
          <a:noFill/>
          <a:ln/>
        </p:spPr>
        <p:txBody>
          <a:bodyPr wrap="square" lIns="0" tIns="0" rIns="0" bIns="0" rtlCol="0" anchor="ctr"/>
          <a:lstStyle/>
          <a:p>
            <a:pPr indent="0" marL="0">
              <a:buNone/>
            </a:pPr>
            <a:r>
              <a:rPr lang="en-US" sz="1800" b="1" dirty="0">
                <a:solidFill>
                  <a:schemeClr val="tx1"/>
                </a:solidFill>
              </a:rPr>
              <a:t>Name for intent</a:t>
            </a:r>
            <a:endParaRPr lang="en-US" sz="1800" dirty="0"/>
          </a:p>
        </p:txBody>
      </p:sp>
      <p:sp>
        <p:nvSpPr>
          <p:cNvPr id="7" name="habit 1"/>
          <p:cNvSpPr txBox="1"/>
          <p:nvPr/>
        </p:nvSpPr>
        <p:spPr>
          <a:xfrm>
            <a:off x="822960" y="2331720"/>
            <a:ext cx="4846320" cy="1097280"/>
          </a:xfrm>
          <a:prstGeom prst="rect">
            <a:avLst/>
          </a:prstGeom>
          <a:noFill/>
          <a:ln/>
        </p:spPr>
        <p:txBody>
          <a:bodyPr wrap="square" lIns="0" tIns="0" rIns="0" bIns="0" rtlCol="0" anchor="t"/>
          <a:lstStyle/>
          <a:p>
            <a:pPr indent="0" marL="0">
              <a:buNone/>
            </a:pPr>
            <a:r>
              <a:rPr lang="en-US" sz="1400" dirty="0">
                <a:solidFill>
                  <a:schemeClr val="tx2"/>
                </a:solidFill>
              </a:rPr>
              <a:t>Prefix with </a:t>
            </a:r>
            <a:pPr indent="0" marL="0">
              <a:buNone/>
            </a:pPr>
            <a:r>
              <a:rPr lang="en-US" sz="1400" dirty="0">
                <a:solidFill>
                  <a:schemeClr val="accent3"/>
                </a:solidFill>
                <a:latin typeface="Courier New" pitchFamily="34" charset="0"/>
                <a:ea typeface="Courier New" pitchFamily="34" charset="-122"/>
                <a:cs typeface="Courier New" pitchFamily="34" charset="-120"/>
              </a:rPr>
              <a:t>feature/</a:t>
            </a:r>
            <a:pPr indent="0" marL="0">
              <a:buNone/>
            </a:pPr>
            <a:r>
              <a:rPr lang="en-US" sz="1400" dirty="0">
                <a:solidFill>
                  <a:schemeClr val="tx2"/>
                </a:solidFill>
              </a:rPr>
              <a:t>, </a:t>
            </a:r>
            <a:pPr indent="0" marL="0">
              <a:buNone/>
            </a:pPr>
            <a:r>
              <a:rPr lang="en-US" sz="1400" dirty="0">
                <a:solidFill>
                  <a:schemeClr val="accent3"/>
                </a:solidFill>
                <a:latin typeface="Courier New" pitchFamily="34" charset="0"/>
                <a:ea typeface="Courier New" pitchFamily="34" charset="-122"/>
                <a:cs typeface="Courier New" pitchFamily="34" charset="-120"/>
              </a:rPr>
              <a:t>fix/</a:t>
            </a:r>
            <a:pPr indent="0" marL="0">
              <a:buNone/>
            </a:pPr>
            <a:r>
              <a:rPr lang="en-US" sz="1400" dirty="0">
                <a:solidFill>
                  <a:schemeClr val="tx2"/>
                </a:solidFill>
              </a:rPr>
              <a:t>, or </a:t>
            </a:r>
            <a:pPr indent="0" marL="0">
              <a:buNone/>
            </a:pPr>
            <a:r>
              <a:rPr lang="en-US" sz="1400" dirty="0">
                <a:solidFill>
                  <a:schemeClr val="accent3"/>
                </a:solidFill>
                <a:latin typeface="Courier New" pitchFamily="34" charset="0"/>
                <a:ea typeface="Courier New" pitchFamily="34" charset="-122"/>
                <a:cs typeface="Courier New" pitchFamily="34" charset="-120"/>
              </a:rPr>
              <a:t>experiment/</a:t>
            </a:r>
            <a:pPr indent="0" marL="0">
              <a:buNone/>
            </a:pPr>
            <a:r>
              <a:rPr lang="en-US" sz="1400" dirty="0">
                <a:solidFill>
                  <a:schemeClr val="tx2"/>
                </a:solidFill>
              </a:rPr>
              <a:t> and add a short slug. </a:t>
            </a:r>
            <a:pPr indent="0" marL="0">
              <a:buNone/>
            </a:pPr>
            <a:r>
              <a:rPr lang="en-US" sz="1400" dirty="0">
                <a:solidFill>
                  <a:schemeClr val="accent3"/>
                </a:solidFill>
                <a:latin typeface="Courier New" pitchFamily="34" charset="0"/>
                <a:ea typeface="Courier New" pitchFamily="34" charset="-122"/>
                <a:cs typeface="Courier New" pitchFamily="34" charset="-120"/>
              </a:rPr>
              <a:t>experiment/xgboost-baseline</a:t>
            </a:r>
            <a:pPr indent="0" marL="0">
              <a:buNone/>
            </a:pPr>
            <a:r>
              <a:rPr lang="en-US" sz="1400" dirty="0">
                <a:solidFill>
                  <a:schemeClr val="tx2"/>
                </a:solidFill>
              </a:rPr>
              <a:t> still explains itself six months from now.</a:t>
            </a:r>
            <a:endParaRPr lang="en-US" sz="1400" dirty="0"/>
          </a:p>
        </p:txBody>
      </p:sp>
      <p:sp>
        <p:nvSpPr>
          <p:cNvPr id="8" name="card 192"/>
          <p:cNvSpPr/>
          <p:nvPr/>
        </p:nvSpPr>
        <p:spPr>
          <a:xfrm>
            <a:off x="6217920" y="1371600"/>
            <a:ext cx="5394960" cy="2194560"/>
          </a:xfrm>
          <a:prstGeom prst="roundRect">
            <a:avLst>
              <a:gd name="adj" fmla="val 5000"/>
            </a:avLst>
          </a:prstGeom>
          <a:solidFill>
            <a:schemeClr val="bg2"/>
          </a:solidFill>
          <a:ln w="9525">
            <a:solidFill>
              <a:schemeClr val="bg2"/>
            </a:solidFill>
            <a:prstDash val="solid"/>
          </a:ln>
        </p:spPr>
      </p:sp>
      <p:sp>
        <p:nvSpPr>
          <p:cNvPr id="9" name="icon circle 193"/>
          <p:cNvSpPr/>
          <p:nvPr/>
        </p:nvSpPr>
        <p:spPr>
          <a:xfrm>
            <a:off x="6492240" y="1600200"/>
            <a:ext cx="548640" cy="548640"/>
          </a:xfrm>
          <a:prstGeom prst="ellipse">
            <a:avLst/>
          </a:prstGeom>
          <a:solidFill>
            <a:schemeClr val="accent3"/>
          </a:solidFill>
          <a:ln w="6350">
            <a:solidFill>
              <a:schemeClr val="accent3"/>
            </a:solidFill>
            <a:prstDash val="solid"/>
          </a:ln>
        </p:spPr>
      </p:sp>
      <p:pic>
        <p:nvPicPr>
          <p:cNvPr id="10" name="icon 194" descr="preencoded.png">    </p:cNvPr>
          <p:cNvPicPr>
            <a:picLocks noChangeAspect="1"/>
          </p:cNvPicPr>
          <p:nvPr/>
        </p:nvPicPr>
        <p:blipFill>
          <a:blip r:embed="rId2"/>
          <a:stretch>
            <a:fillRect/>
          </a:stretch>
        </p:blipFill>
        <p:spPr>
          <a:xfrm>
            <a:off x="6623914" y="1731874"/>
            <a:ext cx="285293" cy="285293"/>
          </a:xfrm>
          <a:prstGeom prst="rect">
            <a:avLst/>
          </a:prstGeom>
        </p:spPr>
      </p:pic>
      <p:sp>
        <p:nvSpPr>
          <p:cNvPr id="11" name="text 195"/>
          <p:cNvSpPr txBox="1"/>
          <p:nvPr/>
        </p:nvSpPr>
        <p:spPr>
          <a:xfrm>
            <a:off x="7223760" y="1645920"/>
            <a:ext cx="4114800" cy="457200"/>
          </a:xfrm>
          <a:prstGeom prst="rect">
            <a:avLst/>
          </a:prstGeom>
          <a:noFill/>
          <a:ln/>
        </p:spPr>
        <p:txBody>
          <a:bodyPr wrap="square" lIns="0" tIns="0" rIns="0" bIns="0" rtlCol="0" anchor="ctr"/>
          <a:lstStyle/>
          <a:p>
            <a:pPr indent="0" marL="0">
              <a:buNone/>
            </a:pPr>
            <a:r>
              <a:rPr lang="en-US" sz="1800" b="1" dirty="0">
                <a:solidFill>
                  <a:schemeClr val="tx1"/>
                </a:solidFill>
              </a:rPr>
              <a:t>One branch, one purpose</a:t>
            </a:r>
            <a:endParaRPr lang="en-US" sz="1800" dirty="0"/>
          </a:p>
        </p:txBody>
      </p:sp>
      <p:sp>
        <p:nvSpPr>
          <p:cNvPr id="12" name="habit 2"/>
          <p:cNvSpPr txBox="1"/>
          <p:nvPr/>
        </p:nvSpPr>
        <p:spPr>
          <a:xfrm>
            <a:off x="6492240" y="2331720"/>
            <a:ext cx="4846320" cy="1097280"/>
          </a:xfrm>
          <a:prstGeom prst="rect">
            <a:avLst/>
          </a:prstGeom>
          <a:noFill/>
          <a:ln/>
        </p:spPr>
        <p:txBody>
          <a:bodyPr wrap="square" lIns="0" tIns="0" rIns="0" bIns="0" rtlCol="0" anchor="t"/>
          <a:lstStyle/>
          <a:p>
            <a:pPr indent="0" marL="0">
              <a:buNone/>
            </a:pPr>
            <a:r>
              <a:rPr lang="en-US" sz="1400" dirty="0">
                <a:solidFill>
                  <a:schemeClr val="tx2"/>
                </a:solidFill>
              </a:rPr>
              <a:t>A bug fix and a new model do not share a branch. Small, single-purpose branches merge cleanly, review quickly, and are easy to throw away.</a:t>
            </a:r>
            <a:endParaRPr lang="en-US" sz="1400" dirty="0"/>
          </a:p>
        </p:txBody>
      </p:sp>
      <p:sp>
        <p:nvSpPr>
          <p:cNvPr id="13" name="card 196"/>
          <p:cNvSpPr/>
          <p:nvPr/>
        </p:nvSpPr>
        <p:spPr>
          <a:xfrm>
            <a:off x="548640" y="3794760"/>
            <a:ext cx="5394960" cy="2194560"/>
          </a:xfrm>
          <a:prstGeom prst="roundRect">
            <a:avLst>
              <a:gd name="adj" fmla="val 5000"/>
            </a:avLst>
          </a:prstGeom>
          <a:solidFill>
            <a:schemeClr val="bg2"/>
          </a:solidFill>
          <a:ln w="9525">
            <a:solidFill>
              <a:schemeClr val="bg2"/>
            </a:solidFill>
            <a:prstDash val="solid"/>
          </a:ln>
        </p:spPr>
      </p:sp>
      <p:sp>
        <p:nvSpPr>
          <p:cNvPr id="14" name="icon circle 197"/>
          <p:cNvSpPr/>
          <p:nvPr/>
        </p:nvSpPr>
        <p:spPr>
          <a:xfrm>
            <a:off x="822960" y="4023360"/>
            <a:ext cx="548640" cy="548640"/>
          </a:xfrm>
          <a:prstGeom prst="ellipse">
            <a:avLst/>
          </a:prstGeom>
          <a:solidFill>
            <a:schemeClr val="accent3"/>
          </a:solidFill>
          <a:ln w="6350">
            <a:solidFill>
              <a:schemeClr val="accent3"/>
            </a:solidFill>
            <a:prstDash val="solid"/>
          </a:ln>
        </p:spPr>
      </p:sp>
      <p:pic>
        <p:nvPicPr>
          <p:cNvPr id="15" name="icon 198" descr="preencoded.png">    </p:cNvPr>
          <p:cNvPicPr>
            <a:picLocks noChangeAspect="1"/>
          </p:cNvPicPr>
          <p:nvPr/>
        </p:nvPicPr>
        <p:blipFill>
          <a:blip r:embed="rId3"/>
          <a:stretch>
            <a:fillRect/>
          </a:stretch>
        </p:blipFill>
        <p:spPr>
          <a:xfrm>
            <a:off x="954634" y="4155034"/>
            <a:ext cx="285293" cy="285293"/>
          </a:xfrm>
          <a:prstGeom prst="rect">
            <a:avLst/>
          </a:prstGeom>
        </p:spPr>
      </p:pic>
      <p:sp>
        <p:nvSpPr>
          <p:cNvPr id="16" name="text 199"/>
          <p:cNvSpPr txBox="1"/>
          <p:nvPr/>
        </p:nvSpPr>
        <p:spPr>
          <a:xfrm>
            <a:off x="1554480" y="4069080"/>
            <a:ext cx="4114800" cy="457200"/>
          </a:xfrm>
          <a:prstGeom prst="rect">
            <a:avLst/>
          </a:prstGeom>
          <a:noFill/>
          <a:ln/>
        </p:spPr>
        <p:txBody>
          <a:bodyPr wrap="square" lIns="0" tIns="0" rIns="0" bIns="0" rtlCol="0" anchor="ctr"/>
          <a:lstStyle/>
          <a:p>
            <a:pPr indent="0" marL="0">
              <a:buNone/>
            </a:pPr>
            <a:r>
              <a:rPr lang="en-US" sz="1800" b="1" dirty="0">
                <a:solidFill>
                  <a:schemeClr val="tx1"/>
                </a:solidFill>
              </a:rPr>
              <a:t>Stay close to main</a:t>
            </a:r>
            <a:endParaRPr lang="en-US" sz="1800" dirty="0"/>
          </a:p>
        </p:txBody>
      </p:sp>
      <p:sp>
        <p:nvSpPr>
          <p:cNvPr id="17" name="habit 3"/>
          <p:cNvSpPr txBox="1"/>
          <p:nvPr/>
        </p:nvSpPr>
        <p:spPr>
          <a:xfrm>
            <a:off x="822960" y="4754880"/>
            <a:ext cx="4846320" cy="1097280"/>
          </a:xfrm>
          <a:prstGeom prst="rect">
            <a:avLst/>
          </a:prstGeom>
          <a:noFill/>
          <a:ln/>
        </p:spPr>
        <p:txBody>
          <a:bodyPr wrap="square" lIns="0" tIns="0" rIns="0" bIns="0" rtlCol="0" anchor="t"/>
          <a:lstStyle/>
          <a:p>
            <a:pPr indent="0" marL="0">
              <a:buNone/>
            </a:pPr>
            <a:r>
              <a:rPr lang="en-US" sz="1400" dirty="0">
                <a:solidFill>
                  <a:schemeClr val="tx2"/>
                </a:solidFill>
              </a:rPr>
              <a:t>Every day or two: </a:t>
            </a:r>
            <a:pPr indent="0" marL="0">
              <a:buNone/>
            </a:pPr>
            <a:r>
              <a:rPr lang="en-US" sz="1400" dirty="0">
                <a:solidFill>
                  <a:schemeClr val="accent3"/>
                </a:solidFill>
                <a:latin typeface="Courier New" pitchFamily="34" charset="0"/>
                <a:ea typeface="Courier New" pitchFamily="34" charset="-122"/>
                <a:cs typeface="Courier New" pitchFamily="34" charset="-120"/>
              </a:rPr>
              <a:t>git switch main &amp;&amp; git pull</a:t>
            </a:r>
            <a:pPr indent="0" marL="0">
              <a:buNone/>
            </a:pPr>
            <a:r>
              <a:rPr lang="en-US" sz="1400" dirty="0">
                <a:solidFill>
                  <a:schemeClr val="tx2"/>
                </a:solidFill>
              </a:rPr>
              <a:t>, then </a:t>
            </a:r>
            <a:pPr indent="0" marL="0">
              <a:buNone/>
            </a:pPr>
            <a:r>
              <a:rPr lang="en-US" sz="1400" dirty="0">
                <a:solidFill>
                  <a:schemeClr val="accent3"/>
                </a:solidFill>
                <a:latin typeface="Courier New" pitchFamily="34" charset="0"/>
                <a:ea typeface="Courier New" pitchFamily="34" charset="-122"/>
                <a:cs typeface="Courier New" pitchFamily="34" charset="-120"/>
              </a:rPr>
              <a:t>git merge main</a:t>
            </a:r>
            <a:pPr indent="0" marL="0">
              <a:buNone/>
            </a:pPr>
            <a:r>
              <a:rPr lang="en-US" sz="1400" dirty="0">
                <a:solidFill>
                  <a:schemeClr val="tx2"/>
                </a:solidFill>
              </a:rPr>
              <a:t> on your branch. Long-lived branches are where conflicts grow.</a:t>
            </a:r>
            <a:endParaRPr lang="en-US" sz="1400" dirty="0"/>
          </a:p>
        </p:txBody>
      </p:sp>
      <p:sp>
        <p:nvSpPr>
          <p:cNvPr id="18" name="card 200"/>
          <p:cNvSpPr/>
          <p:nvPr/>
        </p:nvSpPr>
        <p:spPr>
          <a:xfrm>
            <a:off x="6217920" y="3794760"/>
            <a:ext cx="5394960" cy="2194560"/>
          </a:xfrm>
          <a:prstGeom prst="roundRect">
            <a:avLst>
              <a:gd name="adj" fmla="val 5000"/>
            </a:avLst>
          </a:prstGeom>
          <a:solidFill>
            <a:schemeClr val="bg2"/>
          </a:solidFill>
          <a:ln w="9525">
            <a:solidFill>
              <a:schemeClr val="bg2"/>
            </a:solidFill>
            <a:prstDash val="solid"/>
          </a:ln>
        </p:spPr>
      </p:sp>
      <p:sp>
        <p:nvSpPr>
          <p:cNvPr id="19" name="icon circle 201"/>
          <p:cNvSpPr/>
          <p:nvPr/>
        </p:nvSpPr>
        <p:spPr>
          <a:xfrm>
            <a:off x="6492240" y="4023360"/>
            <a:ext cx="548640" cy="548640"/>
          </a:xfrm>
          <a:prstGeom prst="ellipse">
            <a:avLst/>
          </a:prstGeom>
          <a:solidFill>
            <a:schemeClr val="accent3"/>
          </a:solidFill>
          <a:ln w="6350">
            <a:solidFill>
              <a:schemeClr val="accent3"/>
            </a:solidFill>
            <a:prstDash val="solid"/>
          </a:ln>
        </p:spPr>
      </p:sp>
      <p:pic>
        <p:nvPicPr>
          <p:cNvPr id="20" name="icon 202" descr="preencoded.png">    </p:cNvPr>
          <p:cNvPicPr>
            <a:picLocks noChangeAspect="1"/>
          </p:cNvPicPr>
          <p:nvPr/>
        </p:nvPicPr>
        <p:blipFill>
          <a:blip r:embed="rId4"/>
          <a:stretch>
            <a:fillRect/>
          </a:stretch>
        </p:blipFill>
        <p:spPr>
          <a:xfrm>
            <a:off x="6623914" y="4155034"/>
            <a:ext cx="285293" cy="285293"/>
          </a:xfrm>
          <a:prstGeom prst="rect">
            <a:avLst/>
          </a:prstGeom>
        </p:spPr>
      </p:pic>
      <p:sp>
        <p:nvSpPr>
          <p:cNvPr id="21" name="text 203"/>
          <p:cNvSpPr txBox="1"/>
          <p:nvPr/>
        </p:nvSpPr>
        <p:spPr>
          <a:xfrm>
            <a:off x="7223760" y="4069080"/>
            <a:ext cx="4114800" cy="457200"/>
          </a:xfrm>
          <a:prstGeom prst="rect">
            <a:avLst/>
          </a:prstGeom>
          <a:noFill/>
          <a:ln/>
        </p:spPr>
        <p:txBody>
          <a:bodyPr wrap="square" lIns="0" tIns="0" rIns="0" bIns="0" rtlCol="0" anchor="ctr"/>
          <a:lstStyle/>
          <a:p>
            <a:pPr indent="0" marL="0">
              <a:buNone/>
            </a:pPr>
            <a:r>
              <a:rPr lang="en-US" sz="1800" b="1" dirty="0">
                <a:solidFill>
                  <a:schemeClr val="tx1"/>
                </a:solidFill>
              </a:rPr>
              <a:t>Delete when merged</a:t>
            </a:r>
            <a:endParaRPr lang="en-US" sz="1800" dirty="0"/>
          </a:p>
        </p:txBody>
      </p:sp>
      <p:sp>
        <p:nvSpPr>
          <p:cNvPr id="22" name="habit 4"/>
          <p:cNvSpPr txBox="1"/>
          <p:nvPr/>
        </p:nvSpPr>
        <p:spPr>
          <a:xfrm>
            <a:off x="6492240" y="4754880"/>
            <a:ext cx="4846320" cy="1097280"/>
          </a:xfrm>
          <a:prstGeom prst="rect">
            <a:avLst/>
          </a:prstGeom>
          <a:noFill/>
          <a:ln/>
        </p:spPr>
        <p:txBody>
          <a:bodyPr wrap="square" lIns="0" tIns="0" rIns="0" bIns="0" rtlCol="0" anchor="t"/>
          <a:lstStyle/>
          <a:p>
            <a:pPr indent="0" marL="0">
              <a:buNone/>
            </a:pPr>
            <a:r>
              <a:rPr lang="en-US" sz="1400" dirty="0">
                <a:solidFill>
                  <a:schemeClr val="tx2"/>
                </a:solidFill>
              </a:rPr>
              <a:t>A merged branch has done its job. Deleting it keeps </a:t>
            </a:r>
            <a:pPr indent="0" marL="0">
              <a:buNone/>
            </a:pPr>
            <a:r>
              <a:rPr lang="en-US" sz="1400" dirty="0">
                <a:solidFill>
                  <a:schemeClr val="accent3"/>
                </a:solidFill>
                <a:latin typeface="Courier New" pitchFamily="34" charset="0"/>
                <a:ea typeface="Courier New" pitchFamily="34" charset="-122"/>
                <a:cs typeface="Courier New" pitchFamily="34" charset="-120"/>
              </a:rPr>
              <a:t>git branch</a:t>
            </a:r>
            <a:pPr indent="0" marL="0">
              <a:buNone/>
            </a:pPr>
            <a:r>
              <a:rPr lang="en-US" sz="1400" dirty="0">
                <a:solidFill>
                  <a:schemeClr val="tx2"/>
                </a:solidFill>
              </a:rPr>
              <a:t> readable. GitHub can delete the remote branch automatically on merge.</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Pull requests: the review checkpoint before main</a:t>
            </a:r>
            <a:endParaRPr lang="en-US" sz="3000" dirty="0"/>
          </a:p>
        </p:txBody>
      </p:sp>
      <p:sp>
        <p:nvSpPr>
          <p:cNvPr id="3" name="card 204"/>
          <p:cNvSpPr/>
          <p:nvPr/>
        </p:nvSpPr>
        <p:spPr>
          <a:xfrm>
            <a:off x="548640" y="1325880"/>
            <a:ext cx="5486400" cy="4343400"/>
          </a:xfrm>
          <a:prstGeom prst="roundRect">
            <a:avLst>
              <a:gd name="adj" fmla="val 2526"/>
            </a:avLst>
          </a:prstGeom>
          <a:solidFill>
            <a:schemeClr val="bg2"/>
          </a:solidFill>
          <a:ln w="9525">
            <a:solidFill>
              <a:schemeClr val="bg2"/>
            </a:solidFill>
            <a:prstDash val="solid"/>
          </a:ln>
        </p:spPr>
      </p:sp>
      <p:sp>
        <p:nvSpPr>
          <p:cNvPr id="4" name="icon circle 205"/>
          <p:cNvSpPr/>
          <p:nvPr/>
        </p:nvSpPr>
        <p:spPr>
          <a:xfrm>
            <a:off x="822960" y="1554480"/>
            <a:ext cx="457200" cy="457200"/>
          </a:xfrm>
          <a:prstGeom prst="ellipse">
            <a:avLst/>
          </a:prstGeom>
          <a:solidFill>
            <a:schemeClr val="accent3"/>
          </a:solidFill>
          <a:ln w="6350">
            <a:solidFill>
              <a:schemeClr val="accent3"/>
            </a:solidFill>
            <a:prstDash val="solid"/>
          </a:ln>
        </p:spPr>
      </p:sp>
      <p:pic>
        <p:nvPicPr>
          <p:cNvPr id="5" name="icon 206" descr="preencoded.png">    </p:cNvPr>
          <p:cNvPicPr>
            <a:picLocks noChangeAspect="1"/>
          </p:cNvPicPr>
          <p:nvPr/>
        </p:nvPicPr>
        <p:blipFill>
          <a:blip r:embed="rId1"/>
          <a:stretch>
            <a:fillRect/>
          </a:stretch>
        </p:blipFill>
        <p:spPr>
          <a:xfrm>
            <a:off x="932688" y="1664208"/>
            <a:ext cx="237744" cy="237744"/>
          </a:xfrm>
          <a:prstGeom prst="rect">
            <a:avLst/>
          </a:prstGeom>
        </p:spPr>
      </p:pic>
      <p:sp>
        <p:nvSpPr>
          <p:cNvPr id="6" name="text 207"/>
          <p:cNvSpPr txBox="1"/>
          <p:nvPr/>
        </p:nvSpPr>
        <p:spPr>
          <a:xfrm>
            <a:off x="1417320" y="1554480"/>
            <a:ext cx="4480560" cy="457200"/>
          </a:xfrm>
          <a:prstGeom prst="rect">
            <a:avLst/>
          </a:prstGeom>
          <a:noFill/>
          <a:ln/>
        </p:spPr>
        <p:txBody>
          <a:bodyPr wrap="square" lIns="0" tIns="0" rIns="0" bIns="0" rtlCol="0" anchor="ctr"/>
          <a:lstStyle/>
          <a:p>
            <a:pPr indent="0" marL="0">
              <a:buNone/>
            </a:pPr>
            <a:r>
              <a:rPr lang="en-US" sz="1700" b="1" dirty="0">
                <a:solidFill>
                  <a:schemeClr val="tx1"/>
                </a:solidFill>
              </a:rPr>
              <a:t>Drop null rows before training</a:t>
            </a:r>
            <a:endParaRPr lang="en-US" sz="1700" dirty="0"/>
          </a:p>
        </p:txBody>
      </p:sp>
      <p:sp>
        <p:nvSpPr>
          <p:cNvPr id="7" name="pr branches"/>
          <p:cNvSpPr txBox="1"/>
          <p:nvPr/>
        </p:nvSpPr>
        <p:spPr>
          <a:xfrm>
            <a:off x="822960" y="2103120"/>
            <a:ext cx="4937760" cy="320040"/>
          </a:xfrm>
          <a:prstGeom prst="rect">
            <a:avLst/>
          </a:prstGeom>
          <a:noFill/>
          <a:ln/>
        </p:spPr>
        <p:txBody>
          <a:bodyPr wrap="square" lIns="0" tIns="0" rIns="0" bIns="0" rtlCol="0" anchor="ctr"/>
          <a:lstStyle/>
          <a:p>
            <a:pPr indent="0" marL="0">
              <a:buNone/>
            </a:pPr>
            <a:r>
              <a:rPr lang="en-US" sz="1200" dirty="0">
                <a:solidFill>
                  <a:schemeClr val="accent3"/>
                </a:solidFill>
                <a:latin typeface="Courier New" pitchFamily="34" charset="0"/>
                <a:ea typeface="Courier New" pitchFamily="34" charset="-122"/>
                <a:cs typeface="Courier New" pitchFamily="34" charset="-120"/>
              </a:rPr>
              <a:t>feature/clean-data</a:t>
            </a:r>
            <a:pPr indent="0" marL="0">
              <a:buNone/>
            </a:pPr>
            <a:r>
              <a:rPr lang="en-US" sz="1200" dirty="0">
                <a:solidFill>
                  <a:schemeClr val="accent4"/>
                </a:solidFill>
              </a:rPr>
              <a:t>  into  </a:t>
            </a:r>
            <a:pPr indent="0" marL="0">
              <a:buNone/>
            </a:pPr>
            <a:r>
              <a:rPr lang="en-US" sz="1200" dirty="0">
                <a:solidFill>
                  <a:schemeClr val="tx1"/>
                </a:solidFill>
                <a:latin typeface="Courier New" pitchFamily="34" charset="0"/>
                <a:ea typeface="Courier New" pitchFamily="34" charset="-122"/>
                <a:cs typeface="Courier New" pitchFamily="34" charset="-120"/>
              </a:rPr>
              <a:t>main</a:t>
            </a:r>
            <a:pPr indent="0" marL="0">
              <a:buNone/>
            </a:pPr>
            <a:r>
              <a:rPr lang="en-US" sz="1200" dirty="0">
                <a:solidFill>
                  <a:schemeClr val="accent4"/>
                </a:solidFill>
              </a:rPr>
              <a:t>   opened by you</a:t>
            </a:r>
            <a:endParaRPr lang="en-US" sz="1200" dirty="0"/>
          </a:p>
        </p:txBody>
      </p:sp>
      <p:sp>
        <p:nvSpPr>
          <p:cNvPr id="8" name="tag 208"/>
          <p:cNvSpPr/>
          <p:nvPr/>
        </p:nvSpPr>
        <p:spPr>
          <a:xfrm>
            <a:off x="777240" y="2542032"/>
            <a:ext cx="1097280" cy="310896"/>
          </a:xfrm>
          <a:prstGeom prst="roundRect">
            <a:avLst>
              <a:gd name="adj" fmla="val 50000"/>
            </a:avLst>
          </a:prstGeom>
          <a:solidFill>
            <a:schemeClr val="bg1"/>
          </a:solidFill>
          <a:ln w="19050">
            <a:solidFill>
              <a:schemeClr val="accent3"/>
            </a:solidFill>
            <a:prstDash val="solid"/>
          </a:ln>
        </p:spPr>
      </p:sp>
      <p:sp>
        <p:nvSpPr>
          <p:cNvPr id="9" name="text 209"/>
          <p:cNvSpPr txBox="1"/>
          <p:nvPr/>
        </p:nvSpPr>
        <p:spPr>
          <a:xfrm>
            <a:off x="777240" y="2542032"/>
            <a:ext cx="1097280" cy="310896"/>
          </a:xfrm>
          <a:prstGeom prst="rect">
            <a:avLst/>
          </a:prstGeom>
          <a:noFill/>
          <a:ln/>
        </p:spPr>
        <p:txBody>
          <a:bodyPr wrap="square" lIns="0" tIns="0" rIns="0" bIns="0" rtlCol="0" anchor="ctr"/>
          <a:lstStyle/>
          <a:p>
            <a:pPr algn="ctr" indent="0" marL="0">
              <a:buNone/>
            </a:pPr>
            <a:r>
              <a:rPr lang="en-US" sz="1100" b="1" dirty="0">
                <a:solidFill>
                  <a:schemeClr val="accent3"/>
                </a:solidFill>
                <a:latin typeface="Courier New" pitchFamily="34" charset="0"/>
                <a:ea typeface="Courier New" pitchFamily="34" charset="-122"/>
                <a:cs typeface="Courier New" pitchFamily="34" charset="-120"/>
              </a:rPr>
              <a:t>+124  -37</a:t>
            </a:r>
            <a:endParaRPr lang="en-US" sz="1100" dirty="0"/>
          </a:p>
        </p:txBody>
      </p:sp>
      <p:sp>
        <p:nvSpPr>
          <p:cNvPr id="10" name="tag 210"/>
          <p:cNvSpPr/>
          <p:nvPr/>
        </p:nvSpPr>
        <p:spPr>
          <a:xfrm>
            <a:off x="2011680" y="2542032"/>
            <a:ext cx="1097280" cy="310896"/>
          </a:xfrm>
          <a:prstGeom prst="roundRect">
            <a:avLst>
              <a:gd name="adj" fmla="val 50000"/>
            </a:avLst>
          </a:prstGeom>
          <a:solidFill>
            <a:schemeClr val="bg1"/>
          </a:solidFill>
          <a:ln w="19050">
            <a:solidFill>
              <a:schemeClr val="accent4"/>
            </a:solidFill>
            <a:prstDash val="solid"/>
          </a:ln>
        </p:spPr>
      </p:sp>
      <p:sp>
        <p:nvSpPr>
          <p:cNvPr id="11" name="text 211"/>
          <p:cNvSpPr txBox="1"/>
          <p:nvPr/>
        </p:nvSpPr>
        <p:spPr>
          <a:xfrm>
            <a:off x="2011680" y="2542032"/>
            <a:ext cx="1097280" cy="310896"/>
          </a:xfrm>
          <a:prstGeom prst="rect">
            <a:avLst/>
          </a:prstGeom>
          <a:noFill/>
          <a:ln/>
        </p:spPr>
        <p:txBody>
          <a:bodyPr wrap="square" lIns="0" tIns="0" rIns="0" bIns="0" rtlCol="0" anchor="ctr"/>
          <a:lstStyle/>
          <a:p>
            <a:pPr algn="ctr" indent="0" marL="0">
              <a:buNone/>
            </a:pPr>
            <a:r>
              <a:rPr lang="en-US" sz="1100" b="1" dirty="0">
                <a:solidFill>
                  <a:schemeClr val="accent4"/>
                </a:solidFill>
                <a:latin typeface="Courier New" pitchFamily="34" charset="0"/>
                <a:ea typeface="Courier New" pitchFamily="34" charset="-122"/>
                <a:cs typeface="Courier New" pitchFamily="34" charset="-120"/>
              </a:rPr>
              <a:t>6 files</a:t>
            </a:r>
            <a:endParaRPr lang="en-US" sz="1100" dirty="0"/>
          </a:p>
        </p:txBody>
      </p:sp>
      <p:sp>
        <p:nvSpPr>
          <p:cNvPr id="12" name="tag 212"/>
          <p:cNvSpPr/>
          <p:nvPr/>
        </p:nvSpPr>
        <p:spPr>
          <a:xfrm>
            <a:off x="3246120" y="2542032"/>
            <a:ext cx="1097280" cy="310896"/>
          </a:xfrm>
          <a:prstGeom prst="roundRect">
            <a:avLst>
              <a:gd name="adj" fmla="val 50000"/>
            </a:avLst>
          </a:prstGeom>
          <a:solidFill>
            <a:schemeClr val="bg1"/>
          </a:solidFill>
          <a:ln w="19050">
            <a:solidFill>
              <a:schemeClr val="accent4"/>
            </a:solidFill>
            <a:prstDash val="solid"/>
          </a:ln>
        </p:spPr>
      </p:sp>
      <p:sp>
        <p:nvSpPr>
          <p:cNvPr id="13" name="text 213"/>
          <p:cNvSpPr txBox="1"/>
          <p:nvPr/>
        </p:nvSpPr>
        <p:spPr>
          <a:xfrm>
            <a:off x="3246120" y="2542032"/>
            <a:ext cx="1097280" cy="310896"/>
          </a:xfrm>
          <a:prstGeom prst="rect">
            <a:avLst/>
          </a:prstGeom>
          <a:noFill/>
          <a:ln/>
        </p:spPr>
        <p:txBody>
          <a:bodyPr wrap="square" lIns="0" tIns="0" rIns="0" bIns="0" rtlCol="0" anchor="ctr"/>
          <a:lstStyle/>
          <a:p>
            <a:pPr algn="ctr" indent="0" marL="0">
              <a:buNone/>
            </a:pPr>
            <a:r>
              <a:rPr lang="en-US" sz="1100" b="1" dirty="0">
                <a:solidFill>
                  <a:schemeClr val="accent4"/>
                </a:solidFill>
                <a:latin typeface="Courier New" pitchFamily="34" charset="0"/>
                <a:ea typeface="Courier New" pitchFamily="34" charset="-122"/>
                <a:cs typeface="Courier New" pitchFamily="34" charset="-120"/>
              </a:rPr>
              <a:t>2 commits</a:t>
            </a:r>
            <a:endParaRPr lang="en-US" sz="1100" dirty="0"/>
          </a:p>
        </p:txBody>
      </p:sp>
      <p:sp>
        <p:nvSpPr>
          <p:cNvPr id="14" name="text 214"/>
          <p:cNvSpPr txBox="1"/>
          <p:nvPr/>
        </p:nvSpPr>
        <p:spPr>
          <a:xfrm>
            <a:off x="822960" y="3108960"/>
            <a:ext cx="1828800" cy="274320"/>
          </a:xfrm>
          <a:prstGeom prst="rect">
            <a:avLst/>
          </a:prstGeom>
          <a:noFill/>
          <a:ln/>
        </p:spPr>
        <p:txBody>
          <a:bodyPr wrap="square" lIns="0" tIns="0" rIns="0" bIns="0" rtlCol="0" anchor="ctr"/>
          <a:lstStyle/>
          <a:p>
            <a:pPr indent="0" marL="0">
              <a:buNone/>
            </a:pPr>
            <a:r>
              <a:rPr lang="en-US" sz="1100" b="1" spc="150" kern="0" dirty="0">
                <a:solidFill>
                  <a:schemeClr val="accent4"/>
                </a:solidFill>
              </a:rPr>
              <a:t>CHECKS</a:t>
            </a:r>
            <a:endParaRPr lang="en-US" sz="1100" dirty="0"/>
          </a:p>
        </p:txBody>
      </p:sp>
      <p:sp>
        <p:nvSpPr>
          <p:cNvPr id="15" name="icon circle 215"/>
          <p:cNvSpPr/>
          <p:nvPr/>
        </p:nvSpPr>
        <p:spPr>
          <a:xfrm>
            <a:off x="859536" y="3429000"/>
            <a:ext cx="292608" cy="292608"/>
          </a:xfrm>
          <a:prstGeom prst="ellipse">
            <a:avLst/>
          </a:prstGeom>
          <a:solidFill>
            <a:schemeClr val="accent3"/>
          </a:solidFill>
          <a:ln w="6350">
            <a:solidFill>
              <a:schemeClr val="accent3"/>
            </a:solidFill>
            <a:prstDash val="solid"/>
          </a:ln>
        </p:spPr>
      </p:sp>
      <p:pic>
        <p:nvPicPr>
          <p:cNvPr id="16" name="icon 216" descr="preencoded.png">    </p:cNvPr>
          <p:cNvPicPr>
            <a:picLocks noChangeAspect="1"/>
          </p:cNvPicPr>
          <p:nvPr/>
        </p:nvPicPr>
        <p:blipFill>
          <a:blip r:embed="rId2"/>
          <a:stretch>
            <a:fillRect/>
          </a:stretch>
        </p:blipFill>
        <p:spPr>
          <a:xfrm>
            <a:off x="929762" y="3499226"/>
            <a:ext cx="152156" cy="152156"/>
          </a:xfrm>
          <a:prstGeom prst="rect">
            <a:avLst/>
          </a:prstGeom>
        </p:spPr>
      </p:pic>
      <p:sp>
        <p:nvSpPr>
          <p:cNvPr id="17" name="text 217"/>
          <p:cNvSpPr txBox="1"/>
          <p:nvPr/>
        </p:nvSpPr>
        <p:spPr>
          <a:xfrm>
            <a:off x="1280160" y="3429000"/>
            <a:ext cx="2103120" cy="292608"/>
          </a:xfrm>
          <a:prstGeom prst="rect">
            <a:avLst/>
          </a:prstGeom>
          <a:noFill/>
          <a:ln/>
        </p:spPr>
        <p:txBody>
          <a:bodyPr wrap="square" lIns="0" tIns="0" rIns="0" bIns="0" rtlCol="0" anchor="ctr"/>
          <a:lstStyle/>
          <a:p>
            <a:pPr indent="0" marL="0">
              <a:buNone/>
            </a:pPr>
            <a:r>
              <a:rPr lang="en-US" sz="1300" dirty="0">
                <a:solidFill>
                  <a:schemeClr val="tx1"/>
                </a:solidFill>
              </a:rPr>
              <a:t>tests (pytest)</a:t>
            </a:r>
            <a:endParaRPr lang="en-US" sz="1300" dirty="0"/>
          </a:p>
        </p:txBody>
      </p:sp>
      <p:sp>
        <p:nvSpPr>
          <p:cNvPr id="18" name="text 218"/>
          <p:cNvSpPr txBox="1"/>
          <p:nvPr/>
        </p:nvSpPr>
        <p:spPr>
          <a:xfrm>
            <a:off x="3383280" y="3429000"/>
            <a:ext cx="2377440" cy="292608"/>
          </a:xfrm>
          <a:prstGeom prst="rect">
            <a:avLst/>
          </a:prstGeom>
          <a:noFill/>
          <a:ln/>
        </p:spPr>
        <p:txBody>
          <a:bodyPr wrap="square" lIns="0" tIns="0" rIns="0" bIns="0" rtlCol="0" anchor="ctr"/>
          <a:lstStyle/>
          <a:p>
            <a:pPr indent="0" marL="0">
              <a:buNone/>
            </a:pPr>
            <a:r>
              <a:rPr lang="en-US" sz="1200" dirty="0">
                <a:solidFill>
                  <a:schemeClr val="accent4"/>
                </a:solidFill>
              </a:rPr>
              <a:t>passed in 48s</a:t>
            </a:r>
            <a:endParaRPr lang="en-US" sz="1200" dirty="0"/>
          </a:p>
        </p:txBody>
      </p:sp>
      <p:sp>
        <p:nvSpPr>
          <p:cNvPr id="19" name="icon circle 219"/>
          <p:cNvSpPr/>
          <p:nvPr/>
        </p:nvSpPr>
        <p:spPr>
          <a:xfrm>
            <a:off x="859536" y="3813048"/>
            <a:ext cx="292608" cy="292608"/>
          </a:xfrm>
          <a:prstGeom prst="ellipse">
            <a:avLst/>
          </a:prstGeom>
          <a:solidFill>
            <a:schemeClr val="accent3"/>
          </a:solidFill>
          <a:ln w="6350">
            <a:solidFill>
              <a:schemeClr val="accent3"/>
            </a:solidFill>
            <a:prstDash val="solid"/>
          </a:ln>
        </p:spPr>
      </p:sp>
      <p:pic>
        <p:nvPicPr>
          <p:cNvPr id="20" name="icon 220" descr="preencoded.png">    </p:cNvPr>
          <p:cNvPicPr>
            <a:picLocks noChangeAspect="1"/>
          </p:cNvPicPr>
          <p:nvPr/>
        </p:nvPicPr>
        <p:blipFill>
          <a:blip r:embed="rId3"/>
          <a:stretch>
            <a:fillRect/>
          </a:stretch>
        </p:blipFill>
        <p:spPr>
          <a:xfrm>
            <a:off x="929762" y="3883274"/>
            <a:ext cx="152156" cy="152156"/>
          </a:xfrm>
          <a:prstGeom prst="rect">
            <a:avLst/>
          </a:prstGeom>
        </p:spPr>
      </p:pic>
      <p:sp>
        <p:nvSpPr>
          <p:cNvPr id="21" name="text 221"/>
          <p:cNvSpPr txBox="1"/>
          <p:nvPr/>
        </p:nvSpPr>
        <p:spPr>
          <a:xfrm>
            <a:off x="1280160" y="3813048"/>
            <a:ext cx="2103120" cy="292608"/>
          </a:xfrm>
          <a:prstGeom prst="rect">
            <a:avLst/>
          </a:prstGeom>
          <a:noFill/>
          <a:ln/>
        </p:spPr>
        <p:txBody>
          <a:bodyPr wrap="square" lIns="0" tIns="0" rIns="0" bIns="0" rtlCol="0" anchor="ctr"/>
          <a:lstStyle/>
          <a:p>
            <a:pPr indent="0" marL="0">
              <a:buNone/>
            </a:pPr>
            <a:r>
              <a:rPr lang="en-US" sz="1300" dirty="0">
                <a:solidFill>
                  <a:schemeClr val="tx1"/>
                </a:solidFill>
              </a:rPr>
              <a:t>lint (ruff)</a:t>
            </a:r>
            <a:endParaRPr lang="en-US" sz="1300" dirty="0"/>
          </a:p>
        </p:txBody>
      </p:sp>
      <p:sp>
        <p:nvSpPr>
          <p:cNvPr id="22" name="text 222"/>
          <p:cNvSpPr txBox="1"/>
          <p:nvPr/>
        </p:nvSpPr>
        <p:spPr>
          <a:xfrm>
            <a:off x="3383280" y="3813048"/>
            <a:ext cx="2377440" cy="292608"/>
          </a:xfrm>
          <a:prstGeom prst="rect">
            <a:avLst/>
          </a:prstGeom>
          <a:noFill/>
          <a:ln/>
        </p:spPr>
        <p:txBody>
          <a:bodyPr wrap="square" lIns="0" tIns="0" rIns="0" bIns="0" rtlCol="0" anchor="ctr"/>
          <a:lstStyle/>
          <a:p>
            <a:pPr indent="0" marL="0">
              <a:buNone/>
            </a:pPr>
            <a:r>
              <a:rPr lang="en-US" sz="1200" dirty="0">
                <a:solidFill>
                  <a:schemeClr val="accent4"/>
                </a:solidFill>
              </a:rPr>
              <a:t>passed in 6s</a:t>
            </a:r>
            <a:endParaRPr lang="en-US" sz="1200" dirty="0"/>
          </a:p>
        </p:txBody>
      </p:sp>
      <p:sp>
        <p:nvSpPr>
          <p:cNvPr id="23" name="text 223"/>
          <p:cNvSpPr txBox="1"/>
          <p:nvPr/>
        </p:nvSpPr>
        <p:spPr>
          <a:xfrm>
            <a:off x="822960" y="4251960"/>
            <a:ext cx="2286000" cy="274320"/>
          </a:xfrm>
          <a:prstGeom prst="rect">
            <a:avLst/>
          </a:prstGeom>
          <a:noFill/>
          <a:ln/>
        </p:spPr>
        <p:txBody>
          <a:bodyPr wrap="square" lIns="0" tIns="0" rIns="0" bIns="0" rtlCol="0" anchor="ctr"/>
          <a:lstStyle/>
          <a:p>
            <a:pPr indent="0" marL="0">
              <a:buNone/>
            </a:pPr>
            <a:r>
              <a:rPr lang="en-US" sz="1100" b="1" spc="150" kern="0" dirty="0">
                <a:solidFill>
                  <a:schemeClr val="accent4"/>
                </a:solidFill>
              </a:rPr>
              <a:t>CONVERSATION</a:t>
            </a:r>
            <a:endParaRPr lang="en-US" sz="1100" dirty="0"/>
          </a:p>
        </p:txBody>
      </p:sp>
      <p:sp>
        <p:nvSpPr>
          <p:cNvPr id="24" name="text 224"/>
          <p:cNvSpPr txBox="1"/>
          <p:nvPr/>
        </p:nvSpPr>
        <p:spPr>
          <a:xfrm>
            <a:off x="822960" y="4526280"/>
            <a:ext cx="4937760" cy="365760"/>
          </a:xfrm>
          <a:prstGeom prst="rect">
            <a:avLst/>
          </a:prstGeom>
          <a:noFill/>
          <a:ln/>
        </p:spPr>
        <p:txBody>
          <a:bodyPr wrap="square" lIns="0" tIns="0" rIns="0" bIns="0" rtlCol="0" anchor="t"/>
          <a:lstStyle/>
          <a:p>
            <a:pPr indent="0" marL="0">
              <a:buNone/>
            </a:pPr>
            <a:r>
              <a:rPr lang="en-US" sz="1250" i="1" dirty="0">
                <a:solidFill>
                  <a:schemeClr val="tx2"/>
                </a:solidFill>
              </a:rPr>
              <a:t>you: Why fillna(0) in the test but dropna in the pipeline? Pick one.</a:t>
            </a:r>
            <a:endParaRPr lang="en-US" sz="1250" dirty="0"/>
          </a:p>
        </p:txBody>
      </p:sp>
      <p:sp>
        <p:nvSpPr>
          <p:cNvPr id="25" name="card 225"/>
          <p:cNvSpPr/>
          <p:nvPr/>
        </p:nvSpPr>
        <p:spPr>
          <a:xfrm>
            <a:off x="822960" y="5029200"/>
            <a:ext cx="2194560" cy="411480"/>
          </a:xfrm>
          <a:prstGeom prst="roundRect">
            <a:avLst>
              <a:gd name="adj" fmla="val 17778"/>
            </a:avLst>
          </a:prstGeom>
          <a:solidFill>
            <a:schemeClr val="accent3"/>
          </a:solidFill>
          <a:ln w="9525">
            <a:solidFill>
              <a:schemeClr val="accent3"/>
            </a:solidFill>
            <a:prstDash val="solid"/>
          </a:ln>
        </p:spPr>
      </p:sp>
      <p:sp>
        <p:nvSpPr>
          <p:cNvPr id="26" name="text 226"/>
          <p:cNvSpPr txBox="1"/>
          <p:nvPr/>
        </p:nvSpPr>
        <p:spPr>
          <a:xfrm>
            <a:off x="822960" y="5029200"/>
            <a:ext cx="2194560" cy="411480"/>
          </a:xfrm>
          <a:prstGeom prst="rect">
            <a:avLst/>
          </a:prstGeom>
          <a:noFill/>
          <a:ln/>
        </p:spPr>
        <p:txBody>
          <a:bodyPr wrap="square" lIns="0" tIns="0" rIns="0" bIns="0" rtlCol="0" anchor="ctr"/>
          <a:lstStyle/>
          <a:p>
            <a:pPr algn="ctr" indent="0" marL="0">
              <a:buNone/>
            </a:pPr>
            <a:r>
              <a:rPr lang="en-US" sz="1250" b="1" dirty="0">
                <a:solidFill>
                  <a:schemeClr val="bg1"/>
                </a:solidFill>
              </a:rPr>
              <a:t>Merge pull request</a:t>
            </a:r>
            <a:endParaRPr lang="en-US" sz="1250" dirty="0"/>
          </a:p>
        </p:txBody>
      </p:sp>
      <p:sp>
        <p:nvSpPr>
          <p:cNvPr id="27" name="text 227"/>
          <p:cNvSpPr txBox="1"/>
          <p:nvPr/>
        </p:nvSpPr>
        <p:spPr>
          <a:xfrm>
            <a:off x="6492240" y="1371600"/>
            <a:ext cx="512064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WHAT A PULL REQUEST GIVES YOU</a:t>
            </a:r>
            <a:endParaRPr lang="en-US" sz="1200" dirty="0"/>
          </a:p>
        </p:txBody>
      </p:sp>
      <p:sp>
        <p:nvSpPr>
          <p:cNvPr id="28" name="icon circle 228"/>
          <p:cNvSpPr/>
          <p:nvPr/>
        </p:nvSpPr>
        <p:spPr>
          <a:xfrm>
            <a:off x="6510528" y="1801368"/>
            <a:ext cx="420624" cy="420624"/>
          </a:xfrm>
          <a:prstGeom prst="ellipse">
            <a:avLst/>
          </a:prstGeom>
          <a:solidFill>
            <a:schemeClr val="accent1"/>
          </a:solidFill>
          <a:ln w="6350">
            <a:solidFill>
              <a:schemeClr val="accent1"/>
            </a:solidFill>
            <a:prstDash val="solid"/>
          </a:ln>
        </p:spPr>
      </p:sp>
      <p:pic>
        <p:nvPicPr>
          <p:cNvPr id="29" name="icon 229" descr="preencoded.png">    </p:cNvPr>
          <p:cNvPicPr>
            <a:picLocks noChangeAspect="1"/>
          </p:cNvPicPr>
          <p:nvPr/>
        </p:nvPicPr>
        <p:blipFill>
          <a:blip r:embed="rId4"/>
          <a:stretch>
            <a:fillRect/>
          </a:stretch>
        </p:blipFill>
        <p:spPr>
          <a:xfrm>
            <a:off x="6611478" y="1902318"/>
            <a:ext cx="218724" cy="218724"/>
          </a:xfrm>
          <a:prstGeom prst="rect">
            <a:avLst/>
          </a:prstGeom>
        </p:spPr>
      </p:pic>
      <p:sp>
        <p:nvSpPr>
          <p:cNvPr id="30" name="text 230"/>
          <p:cNvSpPr txBox="1"/>
          <p:nvPr/>
        </p:nvSpPr>
        <p:spPr>
          <a:xfrm>
            <a:off x="7132320" y="1783080"/>
            <a:ext cx="4480560" cy="457200"/>
          </a:xfrm>
          <a:prstGeom prst="rect">
            <a:avLst/>
          </a:prstGeom>
          <a:noFill/>
          <a:ln/>
        </p:spPr>
        <p:txBody>
          <a:bodyPr wrap="square" lIns="0" tIns="0" rIns="0" bIns="0" rtlCol="0" anchor="ctr"/>
          <a:lstStyle/>
          <a:p>
            <a:pPr indent="0" marL="0">
              <a:buNone/>
            </a:pPr>
            <a:r>
              <a:rPr lang="en-US" sz="1400" dirty="0">
                <a:solidFill>
                  <a:schemeClr val="tx2"/>
                </a:solidFill>
              </a:rPr>
              <a:t>A diff of everything the branch changed, file by file</a:t>
            </a:r>
            <a:endParaRPr lang="en-US" sz="1400" dirty="0"/>
          </a:p>
        </p:txBody>
      </p:sp>
      <p:sp>
        <p:nvSpPr>
          <p:cNvPr id="31" name="icon circle 231"/>
          <p:cNvSpPr/>
          <p:nvPr/>
        </p:nvSpPr>
        <p:spPr>
          <a:xfrm>
            <a:off x="6510528" y="2423160"/>
            <a:ext cx="420624" cy="420624"/>
          </a:xfrm>
          <a:prstGeom prst="ellipse">
            <a:avLst/>
          </a:prstGeom>
          <a:solidFill>
            <a:schemeClr val="accent1"/>
          </a:solidFill>
          <a:ln w="6350">
            <a:solidFill>
              <a:schemeClr val="accent1"/>
            </a:solidFill>
            <a:prstDash val="solid"/>
          </a:ln>
        </p:spPr>
      </p:sp>
      <p:pic>
        <p:nvPicPr>
          <p:cNvPr id="32" name="icon 232" descr="preencoded.png">    </p:cNvPr>
          <p:cNvPicPr>
            <a:picLocks noChangeAspect="1"/>
          </p:cNvPicPr>
          <p:nvPr/>
        </p:nvPicPr>
        <p:blipFill>
          <a:blip r:embed="rId5"/>
          <a:stretch>
            <a:fillRect/>
          </a:stretch>
        </p:blipFill>
        <p:spPr>
          <a:xfrm>
            <a:off x="6611478" y="2524110"/>
            <a:ext cx="218724" cy="218724"/>
          </a:xfrm>
          <a:prstGeom prst="rect">
            <a:avLst/>
          </a:prstGeom>
        </p:spPr>
      </p:pic>
      <p:sp>
        <p:nvSpPr>
          <p:cNvPr id="33" name="text 233"/>
          <p:cNvSpPr txBox="1"/>
          <p:nvPr/>
        </p:nvSpPr>
        <p:spPr>
          <a:xfrm>
            <a:off x="7132320" y="2404872"/>
            <a:ext cx="4480560" cy="457200"/>
          </a:xfrm>
          <a:prstGeom prst="rect">
            <a:avLst/>
          </a:prstGeom>
          <a:noFill/>
          <a:ln/>
        </p:spPr>
        <p:txBody>
          <a:bodyPr wrap="square" lIns="0" tIns="0" rIns="0" bIns="0" rtlCol="0" anchor="ctr"/>
          <a:lstStyle/>
          <a:p>
            <a:pPr indent="0" marL="0">
              <a:buNone/>
            </a:pPr>
            <a:r>
              <a:rPr lang="en-US" sz="1400" dirty="0">
                <a:solidFill>
                  <a:schemeClr val="tx2"/>
                </a:solidFill>
              </a:rPr>
              <a:t>A place for comments: a teammate, a professor, or future you</a:t>
            </a:r>
            <a:endParaRPr lang="en-US" sz="1400" dirty="0"/>
          </a:p>
        </p:txBody>
      </p:sp>
      <p:sp>
        <p:nvSpPr>
          <p:cNvPr id="34" name="icon circle 234"/>
          <p:cNvSpPr/>
          <p:nvPr/>
        </p:nvSpPr>
        <p:spPr>
          <a:xfrm>
            <a:off x="6510528" y="3044952"/>
            <a:ext cx="420624" cy="420624"/>
          </a:xfrm>
          <a:prstGeom prst="ellipse">
            <a:avLst/>
          </a:prstGeom>
          <a:solidFill>
            <a:schemeClr val="accent1"/>
          </a:solidFill>
          <a:ln w="6350">
            <a:solidFill>
              <a:schemeClr val="accent1"/>
            </a:solidFill>
            <a:prstDash val="solid"/>
          </a:ln>
        </p:spPr>
      </p:sp>
      <p:pic>
        <p:nvPicPr>
          <p:cNvPr id="35" name="icon 235" descr="preencoded.png">    </p:cNvPr>
          <p:cNvPicPr>
            <a:picLocks noChangeAspect="1"/>
          </p:cNvPicPr>
          <p:nvPr/>
        </p:nvPicPr>
        <p:blipFill>
          <a:blip r:embed="rId6"/>
          <a:stretch>
            <a:fillRect/>
          </a:stretch>
        </p:blipFill>
        <p:spPr>
          <a:xfrm>
            <a:off x="6611478" y="3145902"/>
            <a:ext cx="218724" cy="218724"/>
          </a:xfrm>
          <a:prstGeom prst="rect">
            <a:avLst/>
          </a:prstGeom>
        </p:spPr>
      </p:pic>
      <p:sp>
        <p:nvSpPr>
          <p:cNvPr id="36" name="text 236"/>
          <p:cNvSpPr txBox="1"/>
          <p:nvPr/>
        </p:nvSpPr>
        <p:spPr>
          <a:xfrm>
            <a:off x="7132320" y="3026664"/>
            <a:ext cx="4480560" cy="457200"/>
          </a:xfrm>
          <a:prstGeom prst="rect">
            <a:avLst/>
          </a:prstGeom>
          <a:noFill/>
          <a:ln/>
        </p:spPr>
        <p:txBody>
          <a:bodyPr wrap="square" lIns="0" tIns="0" rIns="0" bIns="0" rtlCol="0" anchor="ctr"/>
          <a:lstStyle/>
          <a:p>
            <a:pPr indent="0" marL="0">
              <a:buNone/>
            </a:pPr>
            <a:r>
              <a:rPr lang="en-US" sz="1400" dirty="0">
                <a:solidFill>
                  <a:schemeClr val="tx2"/>
                </a:solidFill>
              </a:rPr>
              <a:t>Status checks that run automatically on every push</a:t>
            </a:r>
            <a:endParaRPr lang="en-US" sz="1400" dirty="0"/>
          </a:p>
        </p:txBody>
      </p:sp>
      <p:sp>
        <p:nvSpPr>
          <p:cNvPr id="37" name="icon circle 237"/>
          <p:cNvSpPr/>
          <p:nvPr/>
        </p:nvSpPr>
        <p:spPr>
          <a:xfrm>
            <a:off x="6510528" y="3666744"/>
            <a:ext cx="420624" cy="420624"/>
          </a:xfrm>
          <a:prstGeom prst="ellipse">
            <a:avLst/>
          </a:prstGeom>
          <a:solidFill>
            <a:schemeClr val="accent1"/>
          </a:solidFill>
          <a:ln w="6350">
            <a:solidFill>
              <a:schemeClr val="accent1"/>
            </a:solidFill>
            <a:prstDash val="solid"/>
          </a:ln>
        </p:spPr>
      </p:sp>
      <p:pic>
        <p:nvPicPr>
          <p:cNvPr id="38" name="icon 238" descr="preencoded.png">    </p:cNvPr>
          <p:cNvPicPr>
            <a:picLocks noChangeAspect="1"/>
          </p:cNvPicPr>
          <p:nvPr/>
        </p:nvPicPr>
        <p:blipFill>
          <a:blip r:embed="rId7"/>
          <a:stretch>
            <a:fillRect/>
          </a:stretch>
        </p:blipFill>
        <p:spPr>
          <a:xfrm>
            <a:off x="6611478" y="3767694"/>
            <a:ext cx="218724" cy="218724"/>
          </a:xfrm>
          <a:prstGeom prst="rect">
            <a:avLst/>
          </a:prstGeom>
        </p:spPr>
      </p:pic>
      <p:sp>
        <p:nvSpPr>
          <p:cNvPr id="39" name="text 239"/>
          <p:cNvSpPr txBox="1"/>
          <p:nvPr/>
        </p:nvSpPr>
        <p:spPr>
          <a:xfrm>
            <a:off x="7132320" y="3648456"/>
            <a:ext cx="4480560" cy="457200"/>
          </a:xfrm>
          <a:prstGeom prst="rect">
            <a:avLst/>
          </a:prstGeom>
          <a:noFill/>
          <a:ln/>
        </p:spPr>
        <p:txBody>
          <a:bodyPr wrap="square" lIns="0" tIns="0" rIns="0" bIns="0" rtlCol="0" anchor="ctr"/>
          <a:lstStyle/>
          <a:p>
            <a:pPr indent="0" marL="0">
              <a:buNone/>
            </a:pPr>
            <a:r>
              <a:rPr lang="en-US" sz="1400" dirty="0">
                <a:solidFill>
                  <a:schemeClr val="tx2"/>
                </a:solidFill>
              </a:rPr>
              <a:t>A permanent record of what changed and why</a:t>
            </a:r>
            <a:endParaRPr lang="en-US" sz="1400" dirty="0"/>
          </a:p>
        </p:txBody>
      </p:sp>
      <p:sp>
        <p:nvSpPr>
          <p:cNvPr id="40" name="code block 240"/>
          <p:cNvSpPr/>
          <p:nvPr/>
        </p:nvSpPr>
        <p:spPr>
          <a:xfrm>
            <a:off x="6492240" y="4572000"/>
            <a:ext cx="5120640" cy="1097280"/>
          </a:xfrm>
          <a:prstGeom prst="roundRect">
            <a:avLst>
              <a:gd name="adj" fmla="val 8333"/>
            </a:avLst>
          </a:prstGeom>
          <a:solidFill>
            <a:schemeClr val="bg2"/>
          </a:solidFill>
          <a:ln w="9525">
            <a:solidFill>
              <a:schemeClr val="bg2"/>
            </a:solidFill>
            <a:prstDash val="solid"/>
          </a:ln>
        </p:spPr>
      </p:sp>
      <p:sp>
        <p:nvSpPr>
          <p:cNvPr id="41" name="code 241"/>
          <p:cNvSpPr txBox="1"/>
          <p:nvPr/>
        </p:nvSpPr>
        <p:spPr>
          <a:xfrm>
            <a:off x="6629400" y="4681728"/>
            <a:ext cx="4846320" cy="877824"/>
          </a:xfrm>
          <a:prstGeom prst="rect">
            <a:avLst/>
          </a:prstGeom>
          <a:noFill/>
          <a:ln/>
        </p:spPr>
        <p:txBody>
          <a:bodyPr wrap="square" lIns="0" tIns="0" rIns="0" bIns="0" rtlCol="0" anchor="ctr"/>
          <a:lstStyle/>
          <a:p>
            <a:pPr indent="0" marL="0">
              <a:lnSpc>
                <a:spcPct val="105000"/>
              </a:lnSpc>
              <a:buNone/>
            </a:pPr>
            <a:r>
              <a:rPr lang="en-US" sz="1200" dirty="0">
                <a:solidFill>
                  <a:schemeClr val="accent3"/>
                </a:solidFill>
                <a:latin typeface="Courier New" pitchFamily="34" charset="0"/>
                <a:ea typeface="Courier New" pitchFamily="34" charset="-122"/>
                <a:cs typeface="Courier New" pitchFamily="34" charset="-120"/>
              </a:rPr>
              <a:t>gh pr create --fill</a:t>
            </a:r>
            <a:endParaRPr lang="en-US" sz="1200" dirty="0"/>
          </a:p>
          <a:p>
            <a:pPr indent="0" marL="0">
              <a:lnSpc>
                <a:spcPct val="105000"/>
              </a:lnSpc>
              <a:buNone/>
            </a:pPr>
            <a:r>
              <a:rPr lang="en-US" sz="1200" dirty="0">
                <a:solidFill>
                  <a:schemeClr val="accent3"/>
                </a:solidFill>
                <a:latin typeface="Courier New" pitchFamily="34" charset="0"/>
                <a:ea typeface="Courier New" pitchFamily="34" charset="-122"/>
                <a:cs typeface="Courier New" pitchFamily="34" charset="-120"/>
              </a:rPr>
              <a:t>gh pr view --web</a:t>
            </a:r>
            <a:endParaRPr lang="en-US" sz="1200" dirty="0"/>
          </a:p>
          <a:p>
            <a:pPr indent="0" marL="0">
              <a:lnSpc>
                <a:spcPct val="105000"/>
              </a:lnSpc>
              <a:buNone/>
            </a:pPr>
            <a:r>
              <a:rPr lang="en-US" sz="1200" dirty="0">
                <a:solidFill>
                  <a:schemeClr val="accent3"/>
                </a:solidFill>
                <a:latin typeface="Courier New" pitchFamily="34" charset="0"/>
                <a:ea typeface="Courier New" pitchFamily="34" charset="-122"/>
                <a:cs typeface="Courier New" pitchFamily="34" charset="-120"/>
              </a:rPr>
              <a:t>gh pr merge --squash --delete-branch</a:t>
            </a:r>
            <a:endParaRPr lang="en-US" sz="1200" dirty="0"/>
          </a:p>
        </p:txBody>
      </p:sp>
      <p:sp>
        <p:nvSpPr>
          <p:cNvPr id="42" name="text 242"/>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400" i="1" dirty="0">
                <a:solidFill>
                  <a:schemeClr val="accent3"/>
                </a:solidFill>
              </a:rPr>
              <a:t>Working solo? Still open the PR. It is where you read what Claude did before it becomes main.</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Branches are the blast radius for Claude Code</a:t>
            </a:r>
            <a:endParaRPr lang="en-US" sz="3000" dirty="0"/>
          </a:p>
        </p:txBody>
      </p:sp>
      <p:sp>
        <p:nvSpPr>
          <p:cNvPr id="3" name="text 243"/>
          <p:cNvSpPr txBox="1"/>
          <p:nvPr/>
        </p:nvSpPr>
        <p:spPr>
          <a:xfrm>
            <a:off x="548640" y="1234440"/>
            <a:ext cx="11064240" cy="548640"/>
          </a:xfrm>
          <a:prstGeom prst="rect">
            <a:avLst/>
          </a:prstGeom>
          <a:noFill/>
          <a:ln/>
        </p:spPr>
        <p:txBody>
          <a:bodyPr wrap="square" lIns="0" tIns="0" rIns="0" bIns="0" rtlCol="0" anchor="ctr"/>
          <a:lstStyle/>
          <a:p>
            <a:pPr indent="0" marL="0">
              <a:buNone/>
            </a:pPr>
            <a:r>
              <a:rPr lang="en-US" sz="1500" dirty="0">
                <a:solidFill>
                  <a:schemeClr val="tx2"/>
                </a:solidFill>
              </a:rPr>
              <a:t>Claude Code can change twenty files in a minute. A branch decides how far that reaches, and makes every change reviewable and reversible.</a:t>
            </a:r>
            <a:endParaRPr lang="en-US" sz="1500" dirty="0"/>
          </a:p>
        </p:txBody>
      </p:sp>
      <p:sp>
        <p:nvSpPr>
          <p:cNvPr id="4" name="card 244"/>
          <p:cNvSpPr/>
          <p:nvPr/>
        </p:nvSpPr>
        <p:spPr>
          <a:xfrm>
            <a:off x="548640" y="1965960"/>
            <a:ext cx="2011680" cy="1783080"/>
          </a:xfrm>
          <a:prstGeom prst="roundRect">
            <a:avLst>
              <a:gd name="adj" fmla="val 6154"/>
            </a:avLst>
          </a:prstGeom>
          <a:solidFill>
            <a:schemeClr val="bg2"/>
          </a:solidFill>
          <a:ln w="9525">
            <a:solidFill>
              <a:schemeClr val="bg2"/>
            </a:solidFill>
            <a:prstDash val="solid"/>
          </a:ln>
        </p:spPr>
      </p:sp>
      <p:sp>
        <p:nvSpPr>
          <p:cNvPr id="5" name="number 245"/>
          <p:cNvSpPr/>
          <p:nvPr/>
        </p:nvSpPr>
        <p:spPr>
          <a:xfrm>
            <a:off x="749808" y="2148840"/>
            <a:ext cx="365760" cy="365760"/>
          </a:xfrm>
          <a:prstGeom prst="ellipse">
            <a:avLst/>
          </a:prstGeom>
          <a:solidFill>
            <a:schemeClr val="accent3"/>
          </a:solidFill>
          <a:ln w="6350">
            <a:solidFill>
              <a:schemeClr val="accent3"/>
            </a:solidFill>
            <a:prstDash val="solid"/>
          </a:ln>
        </p:spPr>
      </p:sp>
      <p:sp>
        <p:nvSpPr>
          <p:cNvPr id="6" name="text 246"/>
          <p:cNvSpPr txBox="1"/>
          <p:nvPr/>
        </p:nvSpPr>
        <p:spPr>
          <a:xfrm>
            <a:off x="749808"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text 247"/>
          <p:cNvSpPr txBox="1"/>
          <p:nvPr/>
        </p:nvSpPr>
        <p:spPr>
          <a:xfrm>
            <a:off x="1207008" y="2130552"/>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Branch</a:t>
            </a:r>
            <a:endParaRPr lang="en-US" sz="1500" dirty="0"/>
          </a:p>
        </p:txBody>
      </p:sp>
      <p:sp>
        <p:nvSpPr>
          <p:cNvPr id="8" name="loop 1"/>
          <p:cNvSpPr txBox="1"/>
          <p:nvPr/>
        </p:nvSpPr>
        <p:spPr>
          <a:xfrm>
            <a:off x="749808" y="2651760"/>
            <a:ext cx="1609344" cy="1005840"/>
          </a:xfrm>
          <a:prstGeom prst="rect">
            <a:avLst/>
          </a:prstGeom>
          <a:noFill/>
          <a:ln/>
        </p:spPr>
        <p:txBody>
          <a:bodyPr wrap="square" lIns="0" tIns="0" rIns="0" bIns="0" rtlCol="0" anchor="t"/>
          <a:lstStyle/>
          <a:p>
            <a:pPr indent="0" marL="0">
              <a:buNone/>
            </a:pPr>
            <a:r>
              <a:rPr lang="en-US" sz="1250" dirty="0">
                <a:solidFill>
                  <a:schemeClr val="tx2"/>
                </a:solidFill>
              </a:rPr>
              <a:t>Start it yourself, or tell Claude: </a:t>
            </a:r>
            <a:pPr indent="0" marL="0">
              <a:buNone/>
            </a:pPr>
            <a:r>
              <a:rPr lang="en-US" sz="1250" i="1" dirty="0">
                <a:solidFill>
                  <a:schemeClr val="tx2"/>
                </a:solidFill>
              </a:rPr>
              <a:t>"create a branch feature/eval-report."</a:t>
            </a:r>
            <a:endParaRPr lang="en-US" sz="1250" dirty="0"/>
          </a:p>
        </p:txBody>
      </p:sp>
      <p:sp>
        <p:nvSpPr>
          <p:cNvPr id="9" name="arrow 248"/>
          <p:cNvSpPr/>
          <p:nvPr/>
        </p:nvSpPr>
        <p:spPr>
          <a:xfrm>
            <a:off x="2592324" y="2720340"/>
            <a:ext cx="201168" cy="274320"/>
          </a:xfrm>
          <a:prstGeom prst="rightArrow">
            <a:avLst/>
          </a:prstGeom>
          <a:solidFill>
            <a:schemeClr val="accent1"/>
          </a:solidFill>
          <a:ln w="6350">
            <a:solidFill>
              <a:schemeClr val="accent1"/>
            </a:solidFill>
            <a:prstDash val="solid"/>
          </a:ln>
        </p:spPr>
      </p:sp>
      <p:sp>
        <p:nvSpPr>
          <p:cNvPr id="10" name="card 249"/>
          <p:cNvSpPr/>
          <p:nvPr/>
        </p:nvSpPr>
        <p:spPr>
          <a:xfrm>
            <a:off x="2811780" y="1965960"/>
            <a:ext cx="2011680" cy="1783080"/>
          </a:xfrm>
          <a:prstGeom prst="roundRect">
            <a:avLst>
              <a:gd name="adj" fmla="val 6154"/>
            </a:avLst>
          </a:prstGeom>
          <a:solidFill>
            <a:schemeClr val="bg2"/>
          </a:solidFill>
          <a:ln w="9525">
            <a:solidFill>
              <a:schemeClr val="bg2"/>
            </a:solidFill>
            <a:prstDash val="solid"/>
          </a:ln>
        </p:spPr>
      </p:sp>
      <p:sp>
        <p:nvSpPr>
          <p:cNvPr id="11" name="number 250"/>
          <p:cNvSpPr/>
          <p:nvPr/>
        </p:nvSpPr>
        <p:spPr>
          <a:xfrm>
            <a:off x="3012948" y="2148840"/>
            <a:ext cx="365760" cy="365760"/>
          </a:xfrm>
          <a:prstGeom prst="ellipse">
            <a:avLst/>
          </a:prstGeom>
          <a:solidFill>
            <a:schemeClr val="accent3"/>
          </a:solidFill>
          <a:ln w="6350">
            <a:solidFill>
              <a:schemeClr val="accent3"/>
            </a:solidFill>
            <a:prstDash val="solid"/>
          </a:ln>
        </p:spPr>
      </p:sp>
      <p:sp>
        <p:nvSpPr>
          <p:cNvPr id="12" name="text 251"/>
          <p:cNvSpPr txBox="1"/>
          <p:nvPr/>
        </p:nvSpPr>
        <p:spPr>
          <a:xfrm>
            <a:off x="3012948"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3" name="text 252"/>
          <p:cNvSpPr txBox="1"/>
          <p:nvPr/>
        </p:nvSpPr>
        <p:spPr>
          <a:xfrm>
            <a:off x="3470148" y="2130552"/>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Prompt</a:t>
            </a:r>
            <a:endParaRPr lang="en-US" sz="1500" dirty="0"/>
          </a:p>
        </p:txBody>
      </p:sp>
      <p:sp>
        <p:nvSpPr>
          <p:cNvPr id="14" name="loop 2"/>
          <p:cNvSpPr txBox="1"/>
          <p:nvPr/>
        </p:nvSpPr>
        <p:spPr>
          <a:xfrm>
            <a:off x="3012948" y="2651760"/>
            <a:ext cx="1609344" cy="1005840"/>
          </a:xfrm>
          <a:prstGeom prst="rect">
            <a:avLst/>
          </a:prstGeom>
          <a:noFill/>
          <a:ln/>
        </p:spPr>
        <p:txBody>
          <a:bodyPr wrap="square" lIns="0" tIns="0" rIns="0" bIns="0" rtlCol="0" anchor="t"/>
          <a:lstStyle/>
          <a:p>
            <a:pPr indent="0" marL="0">
              <a:buNone/>
            </a:pPr>
            <a:r>
              <a:rPr lang="en-US" sz="1250" dirty="0">
                <a:solidFill>
                  <a:schemeClr val="tx2"/>
                </a:solidFill>
              </a:rPr>
              <a:t>Describe the task and its constraints. Let Claude plan before it edits.</a:t>
            </a:r>
            <a:endParaRPr lang="en-US" sz="1250" dirty="0"/>
          </a:p>
        </p:txBody>
      </p:sp>
      <p:sp>
        <p:nvSpPr>
          <p:cNvPr id="15" name="arrow 253"/>
          <p:cNvSpPr/>
          <p:nvPr/>
        </p:nvSpPr>
        <p:spPr>
          <a:xfrm>
            <a:off x="4855464" y="2720340"/>
            <a:ext cx="201168" cy="274320"/>
          </a:xfrm>
          <a:prstGeom prst="rightArrow">
            <a:avLst/>
          </a:prstGeom>
          <a:solidFill>
            <a:schemeClr val="accent1"/>
          </a:solidFill>
          <a:ln w="6350">
            <a:solidFill>
              <a:schemeClr val="accent1"/>
            </a:solidFill>
            <a:prstDash val="solid"/>
          </a:ln>
        </p:spPr>
      </p:sp>
      <p:sp>
        <p:nvSpPr>
          <p:cNvPr id="16" name="card 254"/>
          <p:cNvSpPr/>
          <p:nvPr/>
        </p:nvSpPr>
        <p:spPr>
          <a:xfrm>
            <a:off x="5074920" y="1965960"/>
            <a:ext cx="2011680" cy="1783080"/>
          </a:xfrm>
          <a:prstGeom prst="roundRect">
            <a:avLst>
              <a:gd name="adj" fmla="val 6154"/>
            </a:avLst>
          </a:prstGeom>
          <a:solidFill>
            <a:schemeClr val="bg2"/>
          </a:solidFill>
          <a:ln w="9525">
            <a:solidFill>
              <a:schemeClr val="bg2"/>
            </a:solidFill>
            <a:prstDash val="solid"/>
          </a:ln>
        </p:spPr>
      </p:sp>
      <p:sp>
        <p:nvSpPr>
          <p:cNvPr id="17" name="number 255"/>
          <p:cNvSpPr/>
          <p:nvPr/>
        </p:nvSpPr>
        <p:spPr>
          <a:xfrm>
            <a:off x="5276088" y="2148840"/>
            <a:ext cx="365760" cy="365760"/>
          </a:xfrm>
          <a:prstGeom prst="ellipse">
            <a:avLst/>
          </a:prstGeom>
          <a:solidFill>
            <a:schemeClr val="accent3"/>
          </a:solidFill>
          <a:ln w="6350">
            <a:solidFill>
              <a:schemeClr val="accent3"/>
            </a:solidFill>
            <a:prstDash val="solid"/>
          </a:ln>
        </p:spPr>
      </p:sp>
      <p:sp>
        <p:nvSpPr>
          <p:cNvPr id="18" name="text 256"/>
          <p:cNvSpPr txBox="1"/>
          <p:nvPr/>
        </p:nvSpPr>
        <p:spPr>
          <a:xfrm>
            <a:off x="5276088"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9" name="text 257"/>
          <p:cNvSpPr txBox="1"/>
          <p:nvPr/>
        </p:nvSpPr>
        <p:spPr>
          <a:xfrm>
            <a:off x="5733288" y="2130552"/>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Commit</a:t>
            </a:r>
            <a:endParaRPr lang="en-US" sz="1500" dirty="0"/>
          </a:p>
        </p:txBody>
      </p:sp>
      <p:sp>
        <p:nvSpPr>
          <p:cNvPr id="20" name="loop 3"/>
          <p:cNvSpPr txBox="1"/>
          <p:nvPr/>
        </p:nvSpPr>
        <p:spPr>
          <a:xfrm>
            <a:off x="5276088" y="2651760"/>
            <a:ext cx="1609344" cy="1005840"/>
          </a:xfrm>
          <a:prstGeom prst="rect">
            <a:avLst/>
          </a:prstGeom>
          <a:noFill/>
          <a:ln/>
        </p:spPr>
        <p:txBody>
          <a:bodyPr wrap="square" lIns="0" tIns="0" rIns="0" bIns="0" rtlCol="0" anchor="t"/>
          <a:lstStyle/>
          <a:p>
            <a:pPr indent="0" marL="0">
              <a:buNone/>
            </a:pPr>
            <a:r>
              <a:rPr lang="en-US" sz="1250" dirty="0">
                <a:solidFill>
                  <a:schemeClr val="tx2"/>
                </a:solidFill>
              </a:rPr>
              <a:t>Ask for small commits with clear messages as the work progresses.</a:t>
            </a:r>
            <a:endParaRPr lang="en-US" sz="1250" dirty="0"/>
          </a:p>
        </p:txBody>
      </p:sp>
      <p:sp>
        <p:nvSpPr>
          <p:cNvPr id="21" name="arrow 258"/>
          <p:cNvSpPr/>
          <p:nvPr/>
        </p:nvSpPr>
        <p:spPr>
          <a:xfrm>
            <a:off x="7118604" y="2720340"/>
            <a:ext cx="201168" cy="274320"/>
          </a:xfrm>
          <a:prstGeom prst="rightArrow">
            <a:avLst/>
          </a:prstGeom>
          <a:solidFill>
            <a:schemeClr val="accent1"/>
          </a:solidFill>
          <a:ln w="6350">
            <a:solidFill>
              <a:schemeClr val="accent1"/>
            </a:solidFill>
            <a:prstDash val="solid"/>
          </a:ln>
        </p:spPr>
      </p:sp>
      <p:sp>
        <p:nvSpPr>
          <p:cNvPr id="22" name="card 259"/>
          <p:cNvSpPr/>
          <p:nvPr/>
        </p:nvSpPr>
        <p:spPr>
          <a:xfrm>
            <a:off x="7338060" y="1965960"/>
            <a:ext cx="2011680" cy="1783080"/>
          </a:xfrm>
          <a:prstGeom prst="roundRect">
            <a:avLst>
              <a:gd name="adj" fmla="val 6154"/>
            </a:avLst>
          </a:prstGeom>
          <a:solidFill>
            <a:schemeClr val="bg2"/>
          </a:solidFill>
          <a:ln w="9525">
            <a:solidFill>
              <a:schemeClr val="bg2"/>
            </a:solidFill>
            <a:prstDash val="solid"/>
          </a:ln>
        </p:spPr>
      </p:sp>
      <p:sp>
        <p:nvSpPr>
          <p:cNvPr id="23" name="number 260"/>
          <p:cNvSpPr/>
          <p:nvPr/>
        </p:nvSpPr>
        <p:spPr>
          <a:xfrm>
            <a:off x="7539228" y="2148840"/>
            <a:ext cx="365760" cy="365760"/>
          </a:xfrm>
          <a:prstGeom prst="ellipse">
            <a:avLst/>
          </a:prstGeom>
          <a:solidFill>
            <a:schemeClr val="accent3"/>
          </a:solidFill>
          <a:ln w="6350">
            <a:solidFill>
              <a:schemeClr val="accent3"/>
            </a:solidFill>
            <a:prstDash val="solid"/>
          </a:ln>
        </p:spPr>
      </p:sp>
      <p:sp>
        <p:nvSpPr>
          <p:cNvPr id="24" name="text 261"/>
          <p:cNvSpPr txBox="1"/>
          <p:nvPr/>
        </p:nvSpPr>
        <p:spPr>
          <a:xfrm>
            <a:off x="7539228"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262"/>
          <p:cNvSpPr txBox="1"/>
          <p:nvPr/>
        </p:nvSpPr>
        <p:spPr>
          <a:xfrm>
            <a:off x="7996428" y="2130552"/>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Review</a:t>
            </a:r>
            <a:endParaRPr lang="en-US" sz="1500" dirty="0"/>
          </a:p>
        </p:txBody>
      </p:sp>
      <p:sp>
        <p:nvSpPr>
          <p:cNvPr id="26" name="loop 4"/>
          <p:cNvSpPr txBox="1"/>
          <p:nvPr/>
        </p:nvSpPr>
        <p:spPr>
          <a:xfrm>
            <a:off x="7539228" y="2651760"/>
            <a:ext cx="1609344" cy="1005840"/>
          </a:xfrm>
          <a:prstGeom prst="rect">
            <a:avLst/>
          </a:prstGeom>
          <a:noFill/>
          <a:ln/>
        </p:spPr>
        <p:txBody>
          <a:bodyPr wrap="square" lIns="0" tIns="0" rIns="0" bIns="0" rtlCol="0" anchor="t"/>
          <a:lstStyle/>
          <a:p>
            <a:pPr indent="0" marL="0">
              <a:buNone/>
            </a:pPr>
            <a:r>
              <a:rPr lang="en-US" sz="1250" dirty="0">
                <a:solidFill>
                  <a:schemeClr val="accent3"/>
                </a:solidFill>
                <a:latin typeface="Courier New" pitchFamily="34" charset="0"/>
                <a:ea typeface="Courier New" pitchFamily="34" charset="-122"/>
                <a:cs typeface="Courier New" pitchFamily="34" charset="-120"/>
              </a:rPr>
              <a:t>git diff main...</a:t>
            </a:r>
            <a:pPr indent="0" marL="0">
              <a:buNone/>
            </a:pPr>
            <a:r>
              <a:rPr lang="en-US" sz="1250" dirty="0">
                <a:solidFill>
                  <a:schemeClr val="tx2"/>
                </a:solidFill>
              </a:rPr>
              <a:t> or </a:t>
            </a:r>
            <a:pPr indent="0" marL="0">
              <a:buNone/>
            </a:pPr>
            <a:r>
              <a:rPr lang="en-US" sz="1250" dirty="0">
                <a:solidFill>
                  <a:schemeClr val="accent3"/>
                </a:solidFill>
                <a:latin typeface="Courier New" pitchFamily="34" charset="0"/>
                <a:ea typeface="Courier New" pitchFamily="34" charset="-122"/>
                <a:cs typeface="Courier New" pitchFamily="34" charset="-120"/>
              </a:rPr>
              <a:t>gh pr diff</a:t>
            </a:r>
            <a:pPr indent="0" marL="0">
              <a:buNone/>
            </a:pPr>
            <a:r>
              <a:rPr lang="en-US" sz="1250" dirty="0">
                <a:solidFill>
                  <a:schemeClr val="tx2"/>
                </a:solidFill>
              </a:rPr>
              <a:t>. Run the tests yourself.</a:t>
            </a:r>
            <a:endParaRPr lang="en-US" sz="1250" dirty="0"/>
          </a:p>
        </p:txBody>
      </p:sp>
      <p:sp>
        <p:nvSpPr>
          <p:cNvPr id="27" name="arrow 263"/>
          <p:cNvSpPr/>
          <p:nvPr/>
        </p:nvSpPr>
        <p:spPr>
          <a:xfrm>
            <a:off x="9381744" y="2720340"/>
            <a:ext cx="201168" cy="274320"/>
          </a:xfrm>
          <a:prstGeom prst="rightArrow">
            <a:avLst/>
          </a:prstGeom>
          <a:solidFill>
            <a:schemeClr val="accent1"/>
          </a:solidFill>
          <a:ln w="6350">
            <a:solidFill>
              <a:schemeClr val="accent1"/>
            </a:solidFill>
            <a:prstDash val="solid"/>
          </a:ln>
        </p:spPr>
      </p:sp>
      <p:sp>
        <p:nvSpPr>
          <p:cNvPr id="28" name="card 264"/>
          <p:cNvSpPr/>
          <p:nvPr/>
        </p:nvSpPr>
        <p:spPr>
          <a:xfrm>
            <a:off x="9601200" y="1965960"/>
            <a:ext cx="2011680" cy="1783080"/>
          </a:xfrm>
          <a:prstGeom prst="roundRect">
            <a:avLst>
              <a:gd name="adj" fmla="val 6154"/>
            </a:avLst>
          </a:prstGeom>
          <a:solidFill>
            <a:schemeClr val="bg2"/>
          </a:solidFill>
          <a:ln w="9525">
            <a:solidFill>
              <a:schemeClr val="bg2"/>
            </a:solidFill>
            <a:prstDash val="solid"/>
          </a:ln>
        </p:spPr>
      </p:sp>
      <p:sp>
        <p:nvSpPr>
          <p:cNvPr id="29" name="number 265"/>
          <p:cNvSpPr/>
          <p:nvPr/>
        </p:nvSpPr>
        <p:spPr>
          <a:xfrm>
            <a:off x="9802368" y="2148840"/>
            <a:ext cx="365760" cy="365760"/>
          </a:xfrm>
          <a:prstGeom prst="ellipse">
            <a:avLst/>
          </a:prstGeom>
          <a:solidFill>
            <a:schemeClr val="accent3"/>
          </a:solidFill>
          <a:ln w="6350">
            <a:solidFill>
              <a:schemeClr val="accent3"/>
            </a:solidFill>
            <a:prstDash val="solid"/>
          </a:ln>
        </p:spPr>
      </p:sp>
      <p:sp>
        <p:nvSpPr>
          <p:cNvPr id="30" name="text 266"/>
          <p:cNvSpPr txBox="1"/>
          <p:nvPr/>
        </p:nvSpPr>
        <p:spPr>
          <a:xfrm>
            <a:off x="9802368" y="21488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31" name="text 267"/>
          <p:cNvSpPr txBox="1"/>
          <p:nvPr/>
        </p:nvSpPr>
        <p:spPr>
          <a:xfrm>
            <a:off x="10259568" y="2130552"/>
            <a:ext cx="1280160" cy="411480"/>
          </a:xfrm>
          <a:prstGeom prst="rect">
            <a:avLst/>
          </a:prstGeom>
          <a:noFill/>
          <a:ln/>
        </p:spPr>
        <p:txBody>
          <a:bodyPr wrap="square" lIns="0" tIns="0" rIns="0" bIns="0" rtlCol="0" anchor="ctr"/>
          <a:lstStyle/>
          <a:p>
            <a:pPr indent="0" marL="0">
              <a:buNone/>
            </a:pPr>
            <a:r>
              <a:rPr lang="en-US" sz="1500" b="1" dirty="0">
                <a:solidFill>
                  <a:schemeClr val="tx1"/>
                </a:solidFill>
              </a:rPr>
              <a:t>Decide</a:t>
            </a:r>
            <a:endParaRPr lang="en-US" sz="1500" dirty="0"/>
          </a:p>
        </p:txBody>
      </p:sp>
      <p:sp>
        <p:nvSpPr>
          <p:cNvPr id="32" name="loop 5"/>
          <p:cNvSpPr txBox="1"/>
          <p:nvPr/>
        </p:nvSpPr>
        <p:spPr>
          <a:xfrm>
            <a:off x="9802368" y="2651760"/>
            <a:ext cx="1609344" cy="1005840"/>
          </a:xfrm>
          <a:prstGeom prst="rect">
            <a:avLst/>
          </a:prstGeom>
          <a:noFill/>
          <a:ln/>
        </p:spPr>
        <p:txBody>
          <a:bodyPr wrap="square" lIns="0" tIns="0" rIns="0" bIns="0" rtlCol="0" anchor="t"/>
          <a:lstStyle/>
          <a:p>
            <a:pPr indent="0" marL="0">
              <a:buNone/>
            </a:pPr>
            <a:r>
              <a:rPr lang="en-US" sz="1250" dirty="0">
                <a:solidFill>
                  <a:schemeClr val="tx2"/>
                </a:solidFill>
              </a:rPr>
              <a:t>Merge through a PR, or delete the branch and start again clean.</a:t>
            </a:r>
            <a:endParaRPr lang="en-US" sz="1250" dirty="0"/>
          </a:p>
        </p:txBody>
      </p:sp>
      <p:sp>
        <p:nvSpPr>
          <p:cNvPr id="33" name="card 268"/>
          <p:cNvSpPr/>
          <p:nvPr/>
        </p:nvSpPr>
        <p:spPr>
          <a:xfrm>
            <a:off x="548640" y="4069080"/>
            <a:ext cx="3520440" cy="2057400"/>
          </a:xfrm>
          <a:prstGeom prst="roundRect">
            <a:avLst>
              <a:gd name="adj" fmla="val 5333"/>
            </a:avLst>
          </a:prstGeom>
          <a:solidFill>
            <a:schemeClr val="bg2"/>
          </a:solidFill>
          <a:ln w="9525">
            <a:solidFill>
              <a:schemeClr val="bg2"/>
            </a:solidFill>
            <a:prstDash val="solid"/>
          </a:ln>
        </p:spPr>
      </p:sp>
      <p:sp>
        <p:nvSpPr>
          <p:cNvPr id="34" name="icon circle 269"/>
          <p:cNvSpPr/>
          <p:nvPr/>
        </p:nvSpPr>
        <p:spPr>
          <a:xfrm>
            <a:off x="800100" y="4274820"/>
            <a:ext cx="502920" cy="502920"/>
          </a:xfrm>
          <a:prstGeom prst="ellipse">
            <a:avLst/>
          </a:prstGeom>
          <a:solidFill>
            <a:schemeClr val="accent3"/>
          </a:solidFill>
          <a:ln w="6350">
            <a:solidFill>
              <a:schemeClr val="accent3"/>
            </a:solidFill>
            <a:prstDash val="solid"/>
          </a:ln>
        </p:spPr>
      </p:sp>
      <p:pic>
        <p:nvPicPr>
          <p:cNvPr id="35" name="icon 270" descr="preencoded.png">    </p:cNvPr>
          <p:cNvPicPr>
            <a:picLocks noChangeAspect="1"/>
          </p:cNvPicPr>
          <p:nvPr/>
        </p:nvPicPr>
        <p:blipFill>
          <a:blip r:embed="rId1"/>
          <a:stretch>
            <a:fillRect/>
          </a:stretch>
        </p:blipFill>
        <p:spPr>
          <a:xfrm>
            <a:off x="920801" y="4395521"/>
            <a:ext cx="261518" cy="261518"/>
          </a:xfrm>
          <a:prstGeom prst="rect">
            <a:avLst/>
          </a:prstGeom>
        </p:spPr>
      </p:pic>
      <p:sp>
        <p:nvSpPr>
          <p:cNvPr id="36" name="text 271"/>
          <p:cNvSpPr txBox="1"/>
          <p:nvPr/>
        </p:nvSpPr>
        <p:spPr>
          <a:xfrm>
            <a:off x="1463040" y="4270248"/>
            <a:ext cx="2468880" cy="548640"/>
          </a:xfrm>
          <a:prstGeom prst="rect">
            <a:avLst/>
          </a:prstGeom>
          <a:noFill/>
          <a:ln/>
        </p:spPr>
        <p:txBody>
          <a:bodyPr wrap="square" lIns="0" tIns="0" rIns="0" bIns="0" rtlCol="0" anchor="ctr"/>
          <a:lstStyle/>
          <a:p>
            <a:pPr indent="0" marL="0">
              <a:buNone/>
            </a:pPr>
            <a:r>
              <a:rPr lang="en-US" sz="1500" b="1" dirty="0">
                <a:solidFill>
                  <a:schemeClr val="tx1"/>
                </a:solidFill>
              </a:rPr>
              <a:t>One task, one branch, one session</a:t>
            </a:r>
            <a:endParaRPr lang="en-US" sz="1500" dirty="0"/>
          </a:p>
        </p:txBody>
      </p:sp>
      <p:sp>
        <p:nvSpPr>
          <p:cNvPr id="37" name="tip 1"/>
          <p:cNvSpPr txBox="1"/>
          <p:nvPr/>
        </p:nvSpPr>
        <p:spPr>
          <a:xfrm>
            <a:off x="822960" y="4937760"/>
            <a:ext cx="2971800" cy="1097280"/>
          </a:xfrm>
          <a:prstGeom prst="rect">
            <a:avLst/>
          </a:prstGeom>
          <a:noFill/>
          <a:ln/>
        </p:spPr>
        <p:txBody>
          <a:bodyPr wrap="square" lIns="0" tIns="0" rIns="0" bIns="0" rtlCol="0" anchor="t"/>
          <a:lstStyle/>
          <a:p>
            <a:pPr indent="0" marL="0">
              <a:buNone/>
            </a:pPr>
            <a:r>
              <a:rPr lang="en-US" sz="1300" dirty="0">
                <a:solidFill>
                  <a:schemeClr val="tx2"/>
                </a:solidFill>
              </a:rPr>
              <a:t>Context, diff, and commit history all line up, so the review step stays small and readable.</a:t>
            </a:r>
            <a:endParaRPr lang="en-US" sz="1300" dirty="0"/>
          </a:p>
        </p:txBody>
      </p:sp>
      <p:sp>
        <p:nvSpPr>
          <p:cNvPr id="38" name="card 272"/>
          <p:cNvSpPr/>
          <p:nvPr/>
        </p:nvSpPr>
        <p:spPr>
          <a:xfrm>
            <a:off x="4315968" y="4069080"/>
            <a:ext cx="3520440" cy="2057400"/>
          </a:xfrm>
          <a:prstGeom prst="roundRect">
            <a:avLst>
              <a:gd name="adj" fmla="val 5333"/>
            </a:avLst>
          </a:prstGeom>
          <a:solidFill>
            <a:schemeClr val="bg2"/>
          </a:solidFill>
          <a:ln w="9525">
            <a:solidFill>
              <a:schemeClr val="bg2"/>
            </a:solidFill>
            <a:prstDash val="solid"/>
          </a:ln>
        </p:spPr>
      </p:sp>
      <p:sp>
        <p:nvSpPr>
          <p:cNvPr id="39" name="icon circle 273"/>
          <p:cNvSpPr/>
          <p:nvPr/>
        </p:nvSpPr>
        <p:spPr>
          <a:xfrm>
            <a:off x="4567428" y="4274820"/>
            <a:ext cx="502920" cy="502920"/>
          </a:xfrm>
          <a:prstGeom prst="ellipse">
            <a:avLst/>
          </a:prstGeom>
          <a:solidFill>
            <a:schemeClr val="accent1"/>
          </a:solidFill>
          <a:ln w="6350">
            <a:solidFill>
              <a:schemeClr val="accent1"/>
            </a:solidFill>
            <a:prstDash val="solid"/>
          </a:ln>
        </p:spPr>
      </p:sp>
      <p:pic>
        <p:nvPicPr>
          <p:cNvPr id="40" name="icon 274" descr="preencoded.png">    </p:cNvPr>
          <p:cNvPicPr>
            <a:picLocks noChangeAspect="1"/>
          </p:cNvPicPr>
          <p:nvPr/>
        </p:nvPicPr>
        <p:blipFill>
          <a:blip r:embed="rId2"/>
          <a:stretch>
            <a:fillRect/>
          </a:stretch>
        </p:blipFill>
        <p:spPr>
          <a:xfrm>
            <a:off x="4688129" y="4395521"/>
            <a:ext cx="261518" cy="261518"/>
          </a:xfrm>
          <a:prstGeom prst="rect">
            <a:avLst/>
          </a:prstGeom>
        </p:spPr>
      </p:pic>
      <p:sp>
        <p:nvSpPr>
          <p:cNvPr id="41" name="text 275"/>
          <p:cNvSpPr txBox="1"/>
          <p:nvPr/>
        </p:nvSpPr>
        <p:spPr>
          <a:xfrm>
            <a:off x="5230368" y="4270248"/>
            <a:ext cx="2468880" cy="548640"/>
          </a:xfrm>
          <a:prstGeom prst="rect">
            <a:avLst/>
          </a:prstGeom>
          <a:noFill/>
          <a:ln/>
        </p:spPr>
        <p:txBody>
          <a:bodyPr wrap="square" lIns="0" tIns="0" rIns="0" bIns="0" rtlCol="0" anchor="ctr"/>
          <a:lstStyle/>
          <a:p>
            <a:pPr indent="0" marL="0">
              <a:buNone/>
            </a:pPr>
            <a:r>
              <a:rPr lang="en-US" sz="1500" b="1" dirty="0">
                <a:solidFill>
                  <a:schemeClr val="tx1"/>
                </a:solidFill>
              </a:rPr>
              <a:t>Parallel sessions? Use worktrees</a:t>
            </a:r>
            <a:endParaRPr lang="en-US" sz="1500" dirty="0"/>
          </a:p>
        </p:txBody>
      </p:sp>
      <p:sp>
        <p:nvSpPr>
          <p:cNvPr id="42" name="tip 2"/>
          <p:cNvSpPr txBox="1"/>
          <p:nvPr/>
        </p:nvSpPr>
        <p:spPr>
          <a:xfrm>
            <a:off x="4590288" y="4937760"/>
            <a:ext cx="2971800" cy="1097280"/>
          </a:xfrm>
          <a:prstGeom prst="rect">
            <a:avLst/>
          </a:prstGeom>
          <a:noFill/>
          <a:ln/>
        </p:spPr>
        <p:txBody>
          <a:bodyPr wrap="square" lIns="0" tIns="0" rIns="0" bIns="0" rtlCol="0" anchor="t"/>
          <a:lstStyle/>
          <a:p>
            <a:pPr indent="0" marL="0">
              <a:buNone/>
            </a:pPr>
            <a:r>
              <a:rPr lang="en-US" sz="1300" dirty="0">
                <a:solidFill>
                  <a:schemeClr val="accent3"/>
                </a:solidFill>
                <a:latin typeface="Courier New" pitchFamily="34" charset="0"/>
                <a:ea typeface="Courier New" pitchFamily="34" charset="-122"/>
                <a:cs typeface="Courier New" pitchFamily="34" charset="-120"/>
              </a:rPr>
              <a:t>git worktree add ../proj-eval -b feature/eval</a:t>
            </a:r>
            <a:pPr indent="0" marL="0">
              <a:buNone/>
            </a:pPr>
            <a:r>
              <a:rPr lang="en-US" sz="1300" dirty="0">
                <a:solidFill>
                  <a:schemeClr val="tx2"/>
                </a:solidFill>
              </a:rPr>
              <a:t> gives each Claude Code session its own folder and branch, so they cannot overwrite each other.</a:t>
            </a:r>
            <a:endParaRPr lang="en-US" sz="1300" dirty="0"/>
          </a:p>
        </p:txBody>
      </p:sp>
      <p:sp>
        <p:nvSpPr>
          <p:cNvPr id="43" name="card 276"/>
          <p:cNvSpPr/>
          <p:nvPr/>
        </p:nvSpPr>
        <p:spPr>
          <a:xfrm>
            <a:off x="8083296" y="4069080"/>
            <a:ext cx="3520440" cy="2057400"/>
          </a:xfrm>
          <a:prstGeom prst="roundRect">
            <a:avLst>
              <a:gd name="adj" fmla="val 5333"/>
            </a:avLst>
          </a:prstGeom>
          <a:solidFill>
            <a:schemeClr val="bg2"/>
          </a:solidFill>
          <a:ln w="9525">
            <a:solidFill>
              <a:schemeClr val="bg2"/>
            </a:solidFill>
            <a:prstDash val="solid"/>
          </a:ln>
        </p:spPr>
      </p:sp>
      <p:sp>
        <p:nvSpPr>
          <p:cNvPr id="44" name="icon circle 277"/>
          <p:cNvSpPr/>
          <p:nvPr/>
        </p:nvSpPr>
        <p:spPr>
          <a:xfrm>
            <a:off x="8334756" y="4274820"/>
            <a:ext cx="502920" cy="502920"/>
          </a:xfrm>
          <a:prstGeom prst="ellipse">
            <a:avLst/>
          </a:prstGeom>
          <a:solidFill>
            <a:schemeClr val="accent3"/>
          </a:solidFill>
          <a:ln w="6350">
            <a:solidFill>
              <a:schemeClr val="accent3"/>
            </a:solidFill>
            <a:prstDash val="solid"/>
          </a:ln>
        </p:spPr>
      </p:sp>
      <p:pic>
        <p:nvPicPr>
          <p:cNvPr id="45" name="icon 278" descr="preencoded.png">    </p:cNvPr>
          <p:cNvPicPr>
            <a:picLocks noChangeAspect="1"/>
          </p:cNvPicPr>
          <p:nvPr/>
        </p:nvPicPr>
        <p:blipFill>
          <a:blip r:embed="rId3"/>
          <a:stretch>
            <a:fillRect/>
          </a:stretch>
        </p:blipFill>
        <p:spPr>
          <a:xfrm>
            <a:off x="8455457" y="4395521"/>
            <a:ext cx="261518" cy="261518"/>
          </a:xfrm>
          <a:prstGeom prst="rect">
            <a:avLst/>
          </a:prstGeom>
        </p:spPr>
      </p:pic>
      <p:sp>
        <p:nvSpPr>
          <p:cNvPr id="46" name="text 279"/>
          <p:cNvSpPr txBox="1"/>
          <p:nvPr/>
        </p:nvSpPr>
        <p:spPr>
          <a:xfrm>
            <a:off x="8997696" y="4270248"/>
            <a:ext cx="2468880" cy="548640"/>
          </a:xfrm>
          <a:prstGeom prst="rect">
            <a:avLst/>
          </a:prstGeom>
          <a:noFill/>
          <a:ln/>
        </p:spPr>
        <p:txBody>
          <a:bodyPr wrap="square" lIns="0" tIns="0" rIns="0" bIns="0" rtlCol="0" anchor="ctr"/>
          <a:lstStyle/>
          <a:p>
            <a:pPr indent="0" marL="0">
              <a:buNone/>
            </a:pPr>
            <a:r>
              <a:rPr lang="en-US" sz="1500" b="1" dirty="0">
                <a:solidFill>
                  <a:schemeClr val="tx1"/>
                </a:solidFill>
              </a:rPr>
              <a:t>Summaries help; the diff decides</a:t>
            </a:r>
            <a:endParaRPr lang="en-US" sz="1500" dirty="0"/>
          </a:p>
        </p:txBody>
      </p:sp>
      <p:sp>
        <p:nvSpPr>
          <p:cNvPr id="47" name="tip 3"/>
          <p:cNvSpPr txBox="1"/>
          <p:nvPr/>
        </p:nvSpPr>
        <p:spPr>
          <a:xfrm>
            <a:off x="8357616" y="4937760"/>
            <a:ext cx="2971800" cy="1097280"/>
          </a:xfrm>
          <a:prstGeom prst="rect">
            <a:avLst/>
          </a:prstGeom>
          <a:noFill/>
          <a:ln/>
        </p:spPr>
        <p:txBody>
          <a:bodyPr wrap="square" lIns="0" tIns="0" rIns="0" bIns="0" rtlCol="0" anchor="t"/>
          <a:lstStyle/>
          <a:p>
            <a:pPr indent="0" marL="0">
              <a:buNone/>
            </a:pPr>
            <a:r>
              <a:rPr lang="en-US" sz="1300" dirty="0">
                <a:solidFill>
                  <a:schemeClr val="tx2"/>
                </a:solidFill>
              </a:rPr>
              <a:t>Ask Claude to summarize what it changed, then read the diff anyway. The judgment stays with you.</a:t>
            </a:r>
            <a:endParaRPr lang="en-US" sz="13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When Claude goes sideways: the undo toolbox</a:t>
            </a:r>
            <a:endParaRPr lang="en-US" sz="3000" dirty="0"/>
          </a:p>
        </p:txBody>
      </p:sp>
      <p:sp>
        <p:nvSpPr>
          <p:cNvPr id="3" name="icon circle 280"/>
          <p:cNvSpPr/>
          <p:nvPr/>
        </p:nvSpPr>
        <p:spPr>
          <a:xfrm>
            <a:off x="603504" y="1472184"/>
            <a:ext cx="530352" cy="530352"/>
          </a:xfrm>
          <a:prstGeom prst="ellipse">
            <a:avLst/>
          </a:prstGeom>
          <a:solidFill>
            <a:schemeClr val="accent3"/>
          </a:solidFill>
          <a:ln w="6350">
            <a:solidFill>
              <a:schemeClr val="accent3"/>
            </a:solidFill>
            <a:prstDash val="solid"/>
          </a:ln>
        </p:spPr>
      </p:sp>
      <p:pic>
        <p:nvPicPr>
          <p:cNvPr id="4" name="icon 281" descr="preencoded.png">    </p:cNvPr>
          <p:cNvPicPr>
            <a:picLocks noChangeAspect="1"/>
          </p:cNvPicPr>
          <p:nvPr/>
        </p:nvPicPr>
        <p:blipFill>
          <a:blip r:embed="rId1"/>
          <a:stretch>
            <a:fillRect/>
          </a:stretch>
        </p:blipFill>
        <p:spPr>
          <a:xfrm>
            <a:off x="730788" y="1599468"/>
            <a:ext cx="275783" cy="275783"/>
          </a:xfrm>
          <a:prstGeom prst="rect">
            <a:avLst/>
          </a:prstGeom>
        </p:spPr>
      </p:pic>
      <p:sp>
        <p:nvSpPr>
          <p:cNvPr id="5" name="text 282"/>
          <p:cNvSpPr txBox="1"/>
          <p:nvPr/>
        </p:nvSpPr>
        <p:spPr>
          <a:xfrm>
            <a:off x="1371600" y="1371600"/>
            <a:ext cx="4846320" cy="365760"/>
          </a:xfrm>
          <a:prstGeom prst="rect">
            <a:avLst/>
          </a:prstGeom>
          <a:noFill/>
          <a:ln/>
        </p:spPr>
        <p:txBody>
          <a:bodyPr wrap="square" lIns="0" tIns="0" rIns="0" bIns="0" rtlCol="0" anchor="ctr"/>
          <a:lstStyle/>
          <a:p>
            <a:pPr indent="0" marL="0">
              <a:buNone/>
            </a:pPr>
            <a:r>
              <a:rPr lang="en-US" sz="1600" b="1" dirty="0">
                <a:solidFill>
                  <a:schemeClr val="tx1"/>
                </a:solidFill>
              </a:rPr>
              <a:t>Uncommitted mess in your working files</a:t>
            </a:r>
            <a:endParaRPr lang="en-US" sz="1600" dirty="0"/>
          </a:p>
        </p:txBody>
      </p:sp>
      <p:sp>
        <p:nvSpPr>
          <p:cNvPr id="6" name="text 283"/>
          <p:cNvSpPr txBox="1"/>
          <p:nvPr/>
        </p:nvSpPr>
        <p:spPr>
          <a:xfrm>
            <a:off x="1371600" y="1755648"/>
            <a:ext cx="4846320" cy="548640"/>
          </a:xfrm>
          <a:prstGeom prst="rect">
            <a:avLst/>
          </a:prstGeom>
          <a:noFill/>
          <a:ln/>
        </p:spPr>
        <p:txBody>
          <a:bodyPr wrap="square" lIns="0" tIns="0" rIns="0" bIns="0" rtlCol="0" anchor="t"/>
          <a:lstStyle/>
          <a:p>
            <a:pPr indent="0" marL="0">
              <a:buNone/>
            </a:pPr>
            <a:r>
              <a:rPr lang="en-US" sz="1300" dirty="0">
                <a:solidFill>
                  <a:schemeClr val="tx2"/>
                </a:solidFill>
              </a:rPr>
              <a:t>Nothing has been committed yet. Look first, then discard or set aside.</a:t>
            </a:r>
            <a:endParaRPr lang="en-US" sz="1300" dirty="0"/>
          </a:p>
        </p:txBody>
      </p:sp>
      <p:sp>
        <p:nvSpPr>
          <p:cNvPr id="7" name="code block 284"/>
          <p:cNvSpPr/>
          <p:nvPr/>
        </p:nvSpPr>
        <p:spPr>
          <a:xfrm>
            <a:off x="6492240" y="1371600"/>
            <a:ext cx="5120640" cy="914400"/>
          </a:xfrm>
          <a:prstGeom prst="roundRect">
            <a:avLst>
              <a:gd name="adj" fmla="val 10000"/>
            </a:avLst>
          </a:prstGeom>
          <a:solidFill>
            <a:schemeClr val="bg2"/>
          </a:solidFill>
          <a:ln w="9525">
            <a:solidFill>
              <a:schemeClr val="bg2"/>
            </a:solidFill>
            <a:prstDash val="solid"/>
          </a:ln>
        </p:spPr>
      </p:sp>
      <p:sp>
        <p:nvSpPr>
          <p:cNvPr id="8" name="code 285"/>
          <p:cNvSpPr txBox="1"/>
          <p:nvPr/>
        </p:nvSpPr>
        <p:spPr>
          <a:xfrm>
            <a:off x="6629400" y="1481328"/>
            <a:ext cx="4846320" cy="694944"/>
          </a:xfrm>
          <a:prstGeom prst="rect">
            <a:avLst/>
          </a:prstGeom>
          <a:noFill/>
          <a:ln/>
        </p:spPr>
        <p:txBody>
          <a:bodyPr wrap="square" lIns="0" tIns="0" rIns="0" bIns="0" rtlCol="0" anchor="ctr"/>
          <a:lstStyle/>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status</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restore .</a:t>
            </a:r>
            <a:pPr indent="0" marL="0">
              <a:lnSpc>
                <a:spcPct val="105000"/>
              </a:lnSpc>
              <a:buNone/>
            </a:pPr>
            <a:r>
              <a:rPr lang="en-US" sz="1150" dirty="0">
                <a:solidFill>
                  <a:schemeClr val="accent4"/>
                </a:solidFill>
                <a:latin typeface="Courier New" pitchFamily="34" charset="0"/>
                <a:ea typeface="Courier New" pitchFamily="34" charset="-122"/>
                <a:cs typeface="Courier New" pitchFamily="34" charset="-120"/>
              </a:rPr>
              <a:t>      # discard changes</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stash</a:t>
            </a:r>
            <a:pPr indent="0" marL="0">
              <a:lnSpc>
                <a:spcPct val="105000"/>
              </a:lnSpc>
              <a:buNone/>
            </a:pPr>
            <a:r>
              <a:rPr lang="en-US" sz="1150" dirty="0">
                <a:solidFill>
                  <a:schemeClr val="accent4"/>
                </a:solidFill>
                <a:latin typeface="Courier New" pitchFamily="34" charset="0"/>
                <a:ea typeface="Courier New" pitchFamily="34" charset="-122"/>
                <a:cs typeface="Courier New" pitchFamily="34" charset="-120"/>
              </a:rPr>
              <a:t>          # or set them aside</a:t>
            </a:r>
            <a:endParaRPr lang="en-US" sz="1150" dirty="0"/>
          </a:p>
        </p:txBody>
      </p:sp>
      <p:sp>
        <p:nvSpPr>
          <p:cNvPr id="9" name="icon circle 286"/>
          <p:cNvSpPr/>
          <p:nvPr/>
        </p:nvSpPr>
        <p:spPr>
          <a:xfrm>
            <a:off x="603504" y="2551176"/>
            <a:ext cx="530352" cy="530352"/>
          </a:xfrm>
          <a:prstGeom prst="ellipse">
            <a:avLst/>
          </a:prstGeom>
          <a:solidFill>
            <a:schemeClr val="accent3"/>
          </a:solidFill>
          <a:ln w="6350">
            <a:solidFill>
              <a:schemeClr val="accent3"/>
            </a:solidFill>
            <a:prstDash val="solid"/>
          </a:ln>
        </p:spPr>
      </p:sp>
      <p:pic>
        <p:nvPicPr>
          <p:cNvPr id="10" name="icon 287" descr="preencoded.png">    </p:cNvPr>
          <p:cNvPicPr>
            <a:picLocks noChangeAspect="1"/>
          </p:cNvPicPr>
          <p:nvPr/>
        </p:nvPicPr>
        <p:blipFill>
          <a:blip r:embed="rId2"/>
          <a:stretch>
            <a:fillRect/>
          </a:stretch>
        </p:blipFill>
        <p:spPr>
          <a:xfrm>
            <a:off x="730788" y="2678460"/>
            <a:ext cx="275783" cy="275783"/>
          </a:xfrm>
          <a:prstGeom prst="rect">
            <a:avLst/>
          </a:prstGeom>
        </p:spPr>
      </p:pic>
      <p:sp>
        <p:nvSpPr>
          <p:cNvPr id="11" name="text 288"/>
          <p:cNvSpPr txBox="1"/>
          <p:nvPr/>
        </p:nvSpPr>
        <p:spPr>
          <a:xfrm>
            <a:off x="1371600" y="2450592"/>
            <a:ext cx="4846320" cy="365760"/>
          </a:xfrm>
          <a:prstGeom prst="rect">
            <a:avLst/>
          </a:prstGeom>
          <a:noFill/>
          <a:ln/>
        </p:spPr>
        <p:txBody>
          <a:bodyPr wrap="square" lIns="0" tIns="0" rIns="0" bIns="0" rtlCol="0" anchor="ctr"/>
          <a:lstStyle/>
          <a:p>
            <a:pPr indent="0" marL="0">
              <a:buNone/>
            </a:pPr>
            <a:r>
              <a:rPr lang="en-US" sz="1600" b="1" dirty="0">
                <a:solidFill>
                  <a:schemeClr val="tx1"/>
                </a:solidFill>
              </a:rPr>
              <a:t>The last commit was wrong, not pushed yet</a:t>
            </a:r>
            <a:endParaRPr lang="en-US" sz="1600" dirty="0"/>
          </a:p>
        </p:txBody>
      </p:sp>
      <p:sp>
        <p:nvSpPr>
          <p:cNvPr id="12" name="text 289"/>
          <p:cNvSpPr txBox="1"/>
          <p:nvPr/>
        </p:nvSpPr>
        <p:spPr>
          <a:xfrm>
            <a:off x="1371600" y="2834640"/>
            <a:ext cx="4846320" cy="548640"/>
          </a:xfrm>
          <a:prstGeom prst="rect">
            <a:avLst/>
          </a:prstGeom>
          <a:noFill/>
          <a:ln/>
        </p:spPr>
        <p:txBody>
          <a:bodyPr wrap="square" lIns="0" tIns="0" rIns="0" bIns="0" rtlCol="0" anchor="t"/>
          <a:lstStyle/>
          <a:p>
            <a:pPr indent="0" marL="0">
              <a:buNone/>
            </a:pPr>
            <a:r>
              <a:rPr lang="en-US" sz="1300" dirty="0">
                <a:solidFill>
                  <a:schemeClr val="tx2"/>
                </a:solidFill>
              </a:rPr>
              <a:t>Undo the commit but keep the edits so you can fix and recommit.</a:t>
            </a:r>
            <a:endParaRPr lang="en-US" sz="1300" dirty="0"/>
          </a:p>
        </p:txBody>
      </p:sp>
      <p:sp>
        <p:nvSpPr>
          <p:cNvPr id="13" name="code block 290"/>
          <p:cNvSpPr/>
          <p:nvPr/>
        </p:nvSpPr>
        <p:spPr>
          <a:xfrm>
            <a:off x="6492240" y="2450592"/>
            <a:ext cx="5120640" cy="914400"/>
          </a:xfrm>
          <a:prstGeom prst="roundRect">
            <a:avLst>
              <a:gd name="adj" fmla="val 10000"/>
            </a:avLst>
          </a:prstGeom>
          <a:solidFill>
            <a:schemeClr val="bg2"/>
          </a:solidFill>
          <a:ln w="9525">
            <a:solidFill>
              <a:schemeClr val="bg2"/>
            </a:solidFill>
            <a:prstDash val="solid"/>
          </a:ln>
        </p:spPr>
      </p:sp>
      <p:sp>
        <p:nvSpPr>
          <p:cNvPr id="14" name="code 291"/>
          <p:cNvSpPr txBox="1"/>
          <p:nvPr/>
        </p:nvSpPr>
        <p:spPr>
          <a:xfrm>
            <a:off x="6629400" y="2560320"/>
            <a:ext cx="4846320" cy="694944"/>
          </a:xfrm>
          <a:prstGeom prst="rect">
            <a:avLst/>
          </a:prstGeom>
          <a:noFill/>
          <a:ln/>
        </p:spPr>
        <p:txBody>
          <a:bodyPr wrap="square" lIns="0" tIns="0" rIns="0" bIns="0" rtlCol="0" anchor="ctr"/>
          <a:lstStyle/>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reset --soft HEAD~1</a:t>
            </a:r>
            <a:endParaRPr lang="en-US" sz="1150" dirty="0"/>
          </a:p>
        </p:txBody>
      </p:sp>
      <p:sp>
        <p:nvSpPr>
          <p:cNvPr id="15" name="icon circle 292"/>
          <p:cNvSpPr/>
          <p:nvPr/>
        </p:nvSpPr>
        <p:spPr>
          <a:xfrm>
            <a:off x="603504" y="3630168"/>
            <a:ext cx="530352" cy="530352"/>
          </a:xfrm>
          <a:prstGeom prst="ellipse">
            <a:avLst/>
          </a:prstGeom>
          <a:solidFill>
            <a:schemeClr val="accent3"/>
          </a:solidFill>
          <a:ln w="6350">
            <a:solidFill>
              <a:schemeClr val="accent3"/>
            </a:solidFill>
            <a:prstDash val="solid"/>
          </a:ln>
        </p:spPr>
      </p:sp>
      <p:pic>
        <p:nvPicPr>
          <p:cNvPr id="16" name="icon 293" descr="preencoded.png">    </p:cNvPr>
          <p:cNvPicPr>
            <a:picLocks noChangeAspect="1"/>
          </p:cNvPicPr>
          <p:nvPr/>
        </p:nvPicPr>
        <p:blipFill>
          <a:blip r:embed="rId3"/>
          <a:stretch>
            <a:fillRect/>
          </a:stretch>
        </p:blipFill>
        <p:spPr>
          <a:xfrm>
            <a:off x="730788" y="3757452"/>
            <a:ext cx="275783" cy="275783"/>
          </a:xfrm>
          <a:prstGeom prst="rect">
            <a:avLst/>
          </a:prstGeom>
        </p:spPr>
      </p:pic>
      <p:sp>
        <p:nvSpPr>
          <p:cNvPr id="17" name="text 294"/>
          <p:cNvSpPr txBox="1"/>
          <p:nvPr/>
        </p:nvSpPr>
        <p:spPr>
          <a:xfrm>
            <a:off x="1371600" y="3529584"/>
            <a:ext cx="4846320" cy="365760"/>
          </a:xfrm>
          <a:prstGeom prst="rect">
            <a:avLst/>
          </a:prstGeom>
          <a:noFill/>
          <a:ln/>
        </p:spPr>
        <p:txBody>
          <a:bodyPr wrap="square" lIns="0" tIns="0" rIns="0" bIns="0" rtlCol="0" anchor="ctr"/>
          <a:lstStyle/>
          <a:p>
            <a:pPr indent="0" marL="0">
              <a:buNone/>
            </a:pPr>
            <a:r>
              <a:rPr lang="en-US" sz="1600" b="1" dirty="0">
                <a:solidFill>
                  <a:schemeClr val="tx1"/>
                </a:solidFill>
              </a:rPr>
              <a:t>The whole branch is a dead end</a:t>
            </a:r>
            <a:endParaRPr lang="en-US" sz="1600" dirty="0"/>
          </a:p>
        </p:txBody>
      </p:sp>
      <p:sp>
        <p:nvSpPr>
          <p:cNvPr id="18" name="text 295"/>
          <p:cNvSpPr txBox="1"/>
          <p:nvPr/>
        </p:nvSpPr>
        <p:spPr>
          <a:xfrm>
            <a:off x="1371600" y="3913632"/>
            <a:ext cx="4846320" cy="548640"/>
          </a:xfrm>
          <a:prstGeom prst="rect">
            <a:avLst/>
          </a:prstGeom>
          <a:noFill/>
          <a:ln/>
        </p:spPr>
        <p:txBody>
          <a:bodyPr wrap="square" lIns="0" tIns="0" rIns="0" bIns="0" rtlCol="0" anchor="t"/>
          <a:lstStyle/>
          <a:p>
            <a:pPr indent="0" marL="0">
              <a:buNone/>
            </a:pPr>
            <a:r>
              <a:rPr lang="en-US" sz="1300" dirty="0">
                <a:solidFill>
                  <a:schemeClr val="tx2"/>
                </a:solidFill>
              </a:rPr>
              <a:t>Walk away. main was never touched.</a:t>
            </a:r>
            <a:endParaRPr lang="en-US" sz="1300" dirty="0"/>
          </a:p>
        </p:txBody>
      </p:sp>
      <p:sp>
        <p:nvSpPr>
          <p:cNvPr id="19" name="code block 296"/>
          <p:cNvSpPr/>
          <p:nvPr/>
        </p:nvSpPr>
        <p:spPr>
          <a:xfrm>
            <a:off x="6492240" y="3529584"/>
            <a:ext cx="5120640" cy="914400"/>
          </a:xfrm>
          <a:prstGeom prst="roundRect">
            <a:avLst>
              <a:gd name="adj" fmla="val 10000"/>
            </a:avLst>
          </a:prstGeom>
          <a:solidFill>
            <a:schemeClr val="bg2"/>
          </a:solidFill>
          <a:ln w="9525">
            <a:solidFill>
              <a:schemeClr val="bg2"/>
            </a:solidFill>
            <a:prstDash val="solid"/>
          </a:ln>
        </p:spPr>
      </p:sp>
      <p:sp>
        <p:nvSpPr>
          <p:cNvPr id="20" name="code 297"/>
          <p:cNvSpPr txBox="1"/>
          <p:nvPr/>
        </p:nvSpPr>
        <p:spPr>
          <a:xfrm>
            <a:off x="6629400" y="3639312"/>
            <a:ext cx="4846320" cy="694944"/>
          </a:xfrm>
          <a:prstGeom prst="rect">
            <a:avLst/>
          </a:prstGeom>
          <a:noFill/>
          <a:ln/>
        </p:spPr>
        <p:txBody>
          <a:bodyPr wrap="square" lIns="0" tIns="0" rIns="0" bIns="0" rtlCol="0" anchor="ctr"/>
          <a:lstStyle/>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switch main</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branch -D feature/x</a:t>
            </a:r>
            <a:endParaRPr lang="en-US" sz="1150" dirty="0"/>
          </a:p>
        </p:txBody>
      </p:sp>
      <p:sp>
        <p:nvSpPr>
          <p:cNvPr id="21" name="icon circle 298"/>
          <p:cNvSpPr/>
          <p:nvPr/>
        </p:nvSpPr>
        <p:spPr>
          <a:xfrm>
            <a:off x="603504" y="4709160"/>
            <a:ext cx="530352" cy="530352"/>
          </a:xfrm>
          <a:prstGeom prst="ellipse">
            <a:avLst/>
          </a:prstGeom>
          <a:solidFill>
            <a:schemeClr val="accent3"/>
          </a:solidFill>
          <a:ln w="6350">
            <a:solidFill>
              <a:schemeClr val="accent3"/>
            </a:solidFill>
            <a:prstDash val="solid"/>
          </a:ln>
        </p:spPr>
      </p:sp>
      <p:pic>
        <p:nvPicPr>
          <p:cNvPr id="22" name="icon 299" descr="preencoded.png">    </p:cNvPr>
          <p:cNvPicPr>
            <a:picLocks noChangeAspect="1"/>
          </p:cNvPicPr>
          <p:nvPr/>
        </p:nvPicPr>
        <p:blipFill>
          <a:blip r:embed="rId4"/>
          <a:stretch>
            <a:fillRect/>
          </a:stretch>
        </p:blipFill>
        <p:spPr>
          <a:xfrm>
            <a:off x="730788" y="4836444"/>
            <a:ext cx="275783" cy="275783"/>
          </a:xfrm>
          <a:prstGeom prst="rect">
            <a:avLst/>
          </a:prstGeom>
        </p:spPr>
      </p:pic>
      <p:sp>
        <p:nvSpPr>
          <p:cNvPr id="23" name="text 300"/>
          <p:cNvSpPr txBox="1"/>
          <p:nvPr/>
        </p:nvSpPr>
        <p:spPr>
          <a:xfrm>
            <a:off x="1371600" y="4608576"/>
            <a:ext cx="4846320" cy="365760"/>
          </a:xfrm>
          <a:prstGeom prst="rect">
            <a:avLst/>
          </a:prstGeom>
          <a:noFill/>
          <a:ln/>
        </p:spPr>
        <p:txBody>
          <a:bodyPr wrap="square" lIns="0" tIns="0" rIns="0" bIns="0" rtlCol="0" anchor="ctr"/>
          <a:lstStyle/>
          <a:p>
            <a:pPr indent="0" marL="0">
              <a:buNone/>
            </a:pPr>
            <a:r>
              <a:rPr lang="en-US" sz="1600" b="1" dirty="0">
                <a:solidFill>
                  <a:schemeClr val="tx1"/>
                </a:solidFill>
              </a:rPr>
              <a:t>A bad change already merged to main</a:t>
            </a:r>
            <a:endParaRPr lang="en-US" sz="1600" dirty="0"/>
          </a:p>
        </p:txBody>
      </p:sp>
      <p:sp>
        <p:nvSpPr>
          <p:cNvPr id="24" name="text 301"/>
          <p:cNvSpPr txBox="1"/>
          <p:nvPr/>
        </p:nvSpPr>
        <p:spPr>
          <a:xfrm>
            <a:off x="1371600" y="4992624"/>
            <a:ext cx="4846320" cy="548640"/>
          </a:xfrm>
          <a:prstGeom prst="rect">
            <a:avLst/>
          </a:prstGeom>
          <a:noFill/>
          <a:ln/>
        </p:spPr>
        <p:txBody>
          <a:bodyPr wrap="square" lIns="0" tIns="0" rIns="0" bIns="0" rtlCol="0" anchor="t"/>
          <a:lstStyle/>
          <a:p>
            <a:pPr indent="0" marL="0">
              <a:buNone/>
            </a:pPr>
            <a:r>
              <a:rPr lang="en-US" sz="1300" dirty="0">
                <a:solidFill>
                  <a:schemeClr val="tx2"/>
                </a:solidFill>
              </a:rPr>
              <a:t>Add a new commit that reverses it. Never rewrite shared history.</a:t>
            </a:r>
            <a:endParaRPr lang="en-US" sz="1300" dirty="0"/>
          </a:p>
        </p:txBody>
      </p:sp>
      <p:sp>
        <p:nvSpPr>
          <p:cNvPr id="25" name="code block 302"/>
          <p:cNvSpPr/>
          <p:nvPr/>
        </p:nvSpPr>
        <p:spPr>
          <a:xfrm>
            <a:off x="6492240" y="4608576"/>
            <a:ext cx="5120640" cy="914400"/>
          </a:xfrm>
          <a:prstGeom prst="roundRect">
            <a:avLst>
              <a:gd name="adj" fmla="val 10000"/>
            </a:avLst>
          </a:prstGeom>
          <a:solidFill>
            <a:schemeClr val="bg2"/>
          </a:solidFill>
          <a:ln w="9525">
            <a:solidFill>
              <a:schemeClr val="bg2"/>
            </a:solidFill>
            <a:prstDash val="solid"/>
          </a:ln>
        </p:spPr>
      </p:sp>
      <p:sp>
        <p:nvSpPr>
          <p:cNvPr id="26" name="code 303"/>
          <p:cNvSpPr txBox="1"/>
          <p:nvPr/>
        </p:nvSpPr>
        <p:spPr>
          <a:xfrm>
            <a:off x="6629400" y="4718304"/>
            <a:ext cx="4846320" cy="694944"/>
          </a:xfrm>
          <a:prstGeom prst="rect">
            <a:avLst/>
          </a:prstGeom>
          <a:noFill/>
          <a:ln/>
        </p:spPr>
        <p:txBody>
          <a:bodyPr wrap="square" lIns="0" tIns="0" rIns="0" bIns="0" rtlCol="0" anchor="ctr"/>
          <a:lstStyle/>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log --oneline</a:t>
            </a:r>
            <a:pPr indent="0" marL="0">
              <a:lnSpc>
                <a:spcPct val="105000"/>
              </a:lnSpc>
              <a:buNone/>
            </a:pPr>
            <a:r>
              <a:rPr lang="en-US" sz="1150" dirty="0">
                <a:solidFill>
                  <a:schemeClr val="accent4"/>
                </a:solidFill>
                <a:latin typeface="Courier New" pitchFamily="34" charset="0"/>
                <a:ea typeface="Courier New" pitchFamily="34" charset="-122"/>
                <a:cs typeface="Courier New" pitchFamily="34" charset="-120"/>
              </a:rPr>
              <a:t>      # find the sha</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git revert &lt;sha&gt;</a:t>
            </a:r>
            <a:endParaRPr lang="en-US" sz="1150" dirty="0"/>
          </a:p>
        </p:txBody>
      </p:sp>
      <p:sp>
        <p:nvSpPr>
          <p:cNvPr id="27" name="card 304"/>
          <p:cNvSpPr/>
          <p:nvPr/>
        </p:nvSpPr>
        <p:spPr>
          <a:xfrm>
            <a:off x="548640" y="5760720"/>
            <a:ext cx="11064240" cy="457200"/>
          </a:xfrm>
          <a:prstGeom prst="roundRect">
            <a:avLst>
              <a:gd name="adj" fmla="val 20000"/>
            </a:avLst>
          </a:prstGeom>
          <a:solidFill>
            <a:schemeClr val="accent3"/>
          </a:solidFill>
          <a:ln w="9525">
            <a:solidFill>
              <a:schemeClr val="accent3"/>
            </a:solidFill>
            <a:prstDash val="solid"/>
          </a:ln>
        </p:spPr>
      </p:sp>
      <p:sp>
        <p:nvSpPr>
          <p:cNvPr id="28" name="text 305"/>
          <p:cNvSpPr txBox="1"/>
          <p:nvPr/>
        </p:nvSpPr>
        <p:spPr>
          <a:xfrm>
            <a:off x="822960" y="5760720"/>
            <a:ext cx="10515600" cy="457200"/>
          </a:xfrm>
          <a:prstGeom prst="rect">
            <a:avLst/>
          </a:prstGeom>
          <a:noFill/>
          <a:ln/>
        </p:spPr>
        <p:txBody>
          <a:bodyPr wrap="square" lIns="0" tIns="0" rIns="0" bIns="0" rtlCol="0" anchor="ctr"/>
          <a:lstStyle/>
          <a:p>
            <a:pPr indent="0" marL="0">
              <a:buNone/>
            </a:pPr>
            <a:r>
              <a:rPr lang="en-US" sz="1400" b="1" dirty="0">
                <a:solidFill>
                  <a:schemeClr val="bg1"/>
                </a:solidFill>
              </a:rPr>
              <a:t>Because the work lived on a branch, none of these touch main. That is the whole point.</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CI/CD: branches plus automation</a:t>
            </a:r>
            <a:endParaRPr lang="en-US" sz="3000" dirty="0"/>
          </a:p>
        </p:txBody>
      </p:sp>
      <p:sp>
        <p:nvSpPr>
          <p:cNvPr id="3" name="card 306"/>
          <p:cNvSpPr/>
          <p:nvPr/>
        </p:nvSpPr>
        <p:spPr>
          <a:xfrm>
            <a:off x="548640" y="1371600"/>
            <a:ext cx="1627632" cy="640080"/>
          </a:xfrm>
          <a:prstGeom prst="roundRect">
            <a:avLst>
              <a:gd name="adj" fmla="val 50000"/>
            </a:avLst>
          </a:prstGeom>
          <a:solidFill>
            <a:schemeClr val="bg2"/>
          </a:solidFill>
          <a:ln w="9525">
            <a:solidFill>
              <a:schemeClr val="bg2"/>
            </a:solidFill>
            <a:prstDash val="solid"/>
          </a:ln>
        </p:spPr>
      </p:sp>
      <p:sp>
        <p:nvSpPr>
          <p:cNvPr id="4" name="text 307"/>
          <p:cNvSpPr txBox="1"/>
          <p:nvPr/>
        </p:nvSpPr>
        <p:spPr>
          <a:xfrm>
            <a:off x="548640"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tx1"/>
                </a:solidFill>
              </a:rPr>
              <a:t>Push to branch</a:t>
            </a:r>
            <a:endParaRPr lang="en-US" sz="1250" dirty="0"/>
          </a:p>
        </p:txBody>
      </p:sp>
      <p:sp>
        <p:nvSpPr>
          <p:cNvPr id="5" name="arrow 308"/>
          <p:cNvSpPr/>
          <p:nvPr/>
        </p:nvSpPr>
        <p:spPr>
          <a:xfrm>
            <a:off x="2212848" y="1563624"/>
            <a:ext cx="182880" cy="256032"/>
          </a:xfrm>
          <a:prstGeom prst="rightArrow">
            <a:avLst/>
          </a:prstGeom>
          <a:solidFill>
            <a:schemeClr val="accent1"/>
          </a:solidFill>
          <a:ln w="6350">
            <a:solidFill>
              <a:schemeClr val="accent1"/>
            </a:solidFill>
            <a:prstDash val="solid"/>
          </a:ln>
        </p:spPr>
      </p:sp>
      <p:sp>
        <p:nvSpPr>
          <p:cNvPr id="6" name="card 309"/>
          <p:cNvSpPr/>
          <p:nvPr/>
        </p:nvSpPr>
        <p:spPr>
          <a:xfrm>
            <a:off x="2435962" y="1371600"/>
            <a:ext cx="1627632" cy="640080"/>
          </a:xfrm>
          <a:prstGeom prst="roundRect">
            <a:avLst>
              <a:gd name="adj" fmla="val 50000"/>
            </a:avLst>
          </a:prstGeom>
          <a:solidFill>
            <a:schemeClr val="bg2"/>
          </a:solidFill>
          <a:ln w="9525">
            <a:solidFill>
              <a:schemeClr val="bg2"/>
            </a:solidFill>
            <a:prstDash val="solid"/>
          </a:ln>
        </p:spPr>
      </p:sp>
      <p:sp>
        <p:nvSpPr>
          <p:cNvPr id="7" name="text 310"/>
          <p:cNvSpPr txBox="1"/>
          <p:nvPr/>
        </p:nvSpPr>
        <p:spPr>
          <a:xfrm>
            <a:off x="2435962"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tx1"/>
                </a:solidFill>
              </a:rPr>
              <a:t>Open PR</a:t>
            </a:r>
            <a:endParaRPr lang="en-US" sz="1250" dirty="0"/>
          </a:p>
        </p:txBody>
      </p:sp>
      <p:sp>
        <p:nvSpPr>
          <p:cNvPr id="8" name="arrow 311"/>
          <p:cNvSpPr/>
          <p:nvPr/>
        </p:nvSpPr>
        <p:spPr>
          <a:xfrm>
            <a:off x="4100170" y="1563624"/>
            <a:ext cx="182880" cy="256032"/>
          </a:xfrm>
          <a:prstGeom prst="rightArrow">
            <a:avLst/>
          </a:prstGeom>
          <a:solidFill>
            <a:schemeClr val="accent1"/>
          </a:solidFill>
          <a:ln w="6350">
            <a:solidFill>
              <a:schemeClr val="accent1"/>
            </a:solidFill>
            <a:prstDash val="solid"/>
          </a:ln>
        </p:spPr>
      </p:sp>
      <p:sp>
        <p:nvSpPr>
          <p:cNvPr id="9" name="card 312"/>
          <p:cNvSpPr/>
          <p:nvPr/>
        </p:nvSpPr>
        <p:spPr>
          <a:xfrm>
            <a:off x="4323283" y="1371600"/>
            <a:ext cx="1627632" cy="640080"/>
          </a:xfrm>
          <a:prstGeom prst="roundRect">
            <a:avLst>
              <a:gd name="adj" fmla="val 50000"/>
            </a:avLst>
          </a:prstGeom>
          <a:solidFill>
            <a:schemeClr val="accent1"/>
          </a:solidFill>
          <a:ln w="9525">
            <a:solidFill>
              <a:schemeClr val="accent1"/>
            </a:solidFill>
            <a:prstDash val="solid"/>
          </a:ln>
        </p:spPr>
      </p:sp>
      <p:sp>
        <p:nvSpPr>
          <p:cNvPr id="10" name="text 313"/>
          <p:cNvSpPr txBox="1"/>
          <p:nvPr/>
        </p:nvSpPr>
        <p:spPr>
          <a:xfrm>
            <a:off x="4323283"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tx1"/>
                </a:solidFill>
              </a:rPr>
              <a:t>CI runs tests &amp; lint</a:t>
            </a:r>
            <a:endParaRPr lang="en-US" sz="1250" dirty="0"/>
          </a:p>
        </p:txBody>
      </p:sp>
      <p:sp>
        <p:nvSpPr>
          <p:cNvPr id="11" name="arrow 314"/>
          <p:cNvSpPr/>
          <p:nvPr/>
        </p:nvSpPr>
        <p:spPr>
          <a:xfrm>
            <a:off x="5987491" y="1563624"/>
            <a:ext cx="182880" cy="256032"/>
          </a:xfrm>
          <a:prstGeom prst="rightArrow">
            <a:avLst/>
          </a:prstGeom>
          <a:solidFill>
            <a:schemeClr val="accent1"/>
          </a:solidFill>
          <a:ln w="6350">
            <a:solidFill>
              <a:schemeClr val="accent1"/>
            </a:solidFill>
            <a:prstDash val="solid"/>
          </a:ln>
        </p:spPr>
      </p:sp>
      <p:sp>
        <p:nvSpPr>
          <p:cNvPr id="12" name="card 315"/>
          <p:cNvSpPr/>
          <p:nvPr/>
        </p:nvSpPr>
        <p:spPr>
          <a:xfrm>
            <a:off x="6210605" y="1371600"/>
            <a:ext cx="1627632" cy="640080"/>
          </a:xfrm>
          <a:prstGeom prst="roundRect">
            <a:avLst>
              <a:gd name="adj" fmla="val 50000"/>
            </a:avLst>
          </a:prstGeom>
          <a:solidFill>
            <a:schemeClr val="bg2"/>
          </a:solidFill>
          <a:ln w="9525">
            <a:solidFill>
              <a:schemeClr val="bg2"/>
            </a:solidFill>
            <a:prstDash val="solid"/>
          </a:ln>
        </p:spPr>
      </p:sp>
      <p:sp>
        <p:nvSpPr>
          <p:cNvPr id="13" name="text 316"/>
          <p:cNvSpPr txBox="1"/>
          <p:nvPr/>
        </p:nvSpPr>
        <p:spPr>
          <a:xfrm>
            <a:off x="6210605"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tx1"/>
                </a:solidFill>
              </a:rPr>
              <a:t>Checks pass</a:t>
            </a:r>
            <a:endParaRPr lang="en-US" sz="1250" dirty="0"/>
          </a:p>
        </p:txBody>
      </p:sp>
      <p:sp>
        <p:nvSpPr>
          <p:cNvPr id="14" name="arrow 317"/>
          <p:cNvSpPr/>
          <p:nvPr/>
        </p:nvSpPr>
        <p:spPr>
          <a:xfrm>
            <a:off x="7874813" y="1563624"/>
            <a:ext cx="182880" cy="256032"/>
          </a:xfrm>
          <a:prstGeom prst="rightArrow">
            <a:avLst/>
          </a:prstGeom>
          <a:solidFill>
            <a:schemeClr val="accent1"/>
          </a:solidFill>
          <a:ln w="6350">
            <a:solidFill>
              <a:schemeClr val="accent1"/>
            </a:solidFill>
            <a:prstDash val="solid"/>
          </a:ln>
        </p:spPr>
      </p:sp>
      <p:sp>
        <p:nvSpPr>
          <p:cNvPr id="15" name="card 318"/>
          <p:cNvSpPr/>
          <p:nvPr/>
        </p:nvSpPr>
        <p:spPr>
          <a:xfrm>
            <a:off x="8097926" y="1371600"/>
            <a:ext cx="1627632" cy="640080"/>
          </a:xfrm>
          <a:prstGeom prst="roundRect">
            <a:avLst>
              <a:gd name="adj" fmla="val 50000"/>
            </a:avLst>
          </a:prstGeom>
          <a:solidFill>
            <a:schemeClr val="bg2"/>
          </a:solidFill>
          <a:ln w="9525">
            <a:solidFill>
              <a:schemeClr val="bg2"/>
            </a:solidFill>
            <a:prstDash val="solid"/>
          </a:ln>
        </p:spPr>
      </p:sp>
      <p:sp>
        <p:nvSpPr>
          <p:cNvPr id="16" name="text 319"/>
          <p:cNvSpPr txBox="1"/>
          <p:nvPr/>
        </p:nvSpPr>
        <p:spPr>
          <a:xfrm>
            <a:off x="8097926"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tx1"/>
                </a:solidFill>
              </a:rPr>
              <a:t>Merge to main</a:t>
            </a:r>
            <a:endParaRPr lang="en-US" sz="1250" dirty="0"/>
          </a:p>
        </p:txBody>
      </p:sp>
      <p:sp>
        <p:nvSpPr>
          <p:cNvPr id="17" name="arrow 320"/>
          <p:cNvSpPr/>
          <p:nvPr/>
        </p:nvSpPr>
        <p:spPr>
          <a:xfrm>
            <a:off x="9762134" y="1563624"/>
            <a:ext cx="182880" cy="256032"/>
          </a:xfrm>
          <a:prstGeom prst="rightArrow">
            <a:avLst/>
          </a:prstGeom>
          <a:solidFill>
            <a:schemeClr val="accent1"/>
          </a:solidFill>
          <a:ln w="6350">
            <a:solidFill>
              <a:schemeClr val="accent1"/>
            </a:solidFill>
            <a:prstDash val="solid"/>
          </a:ln>
        </p:spPr>
      </p:sp>
      <p:sp>
        <p:nvSpPr>
          <p:cNvPr id="18" name="card 321"/>
          <p:cNvSpPr/>
          <p:nvPr/>
        </p:nvSpPr>
        <p:spPr>
          <a:xfrm>
            <a:off x="9985248" y="1371600"/>
            <a:ext cx="1627632" cy="640080"/>
          </a:xfrm>
          <a:prstGeom prst="roundRect">
            <a:avLst>
              <a:gd name="adj" fmla="val 50000"/>
            </a:avLst>
          </a:prstGeom>
          <a:solidFill>
            <a:schemeClr val="accent3"/>
          </a:solidFill>
          <a:ln w="9525">
            <a:solidFill>
              <a:schemeClr val="accent3"/>
            </a:solidFill>
            <a:prstDash val="solid"/>
          </a:ln>
        </p:spPr>
      </p:sp>
      <p:sp>
        <p:nvSpPr>
          <p:cNvPr id="19" name="text 322"/>
          <p:cNvSpPr txBox="1"/>
          <p:nvPr/>
        </p:nvSpPr>
        <p:spPr>
          <a:xfrm>
            <a:off x="9985248" y="1371600"/>
            <a:ext cx="1627632" cy="640080"/>
          </a:xfrm>
          <a:prstGeom prst="rect">
            <a:avLst/>
          </a:prstGeom>
          <a:noFill/>
          <a:ln/>
        </p:spPr>
        <p:txBody>
          <a:bodyPr wrap="square" lIns="635" tIns="635" rIns="635" bIns="635" rtlCol="0" anchor="ctr"/>
          <a:lstStyle/>
          <a:p>
            <a:pPr algn="ctr" indent="0" marL="0">
              <a:buNone/>
            </a:pPr>
            <a:r>
              <a:rPr lang="en-US" sz="1250" b="1" dirty="0">
                <a:solidFill>
                  <a:schemeClr val="bg1"/>
                </a:solidFill>
              </a:rPr>
              <a:t>CD deploys</a:t>
            </a:r>
            <a:endParaRPr lang="en-US" sz="1250" dirty="0"/>
          </a:p>
        </p:txBody>
      </p:sp>
      <p:sp>
        <p:nvSpPr>
          <p:cNvPr id="20" name="card 323"/>
          <p:cNvSpPr/>
          <p:nvPr/>
        </p:nvSpPr>
        <p:spPr>
          <a:xfrm>
            <a:off x="548640" y="2331720"/>
            <a:ext cx="5394960" cy="1097280"/>
          </a:xfrm>
          <a:prstGeom prst="roundRect">
            <a:avLst>
              <a:gd name="adj" fmla="val 10000"/>
            </a:avLst>
          </a:prstGeom>
          <a:solidFill>
            <a:schemeClr val="bg2"/>
          </a:solidFill>
          <a:ln w="9525">
            <a:solidFill>
              <a:schemeClr val="bg2"/>
            </a:solidFill>
            <a:prstDash val="solid"/>
          </a:ln>
        </p:spPr>
      </p:sp>
      <p:sp>
        <p:nvSpPr>
          <p:cNvPr id="21" name="text 324"/>
          <p:cNvSpPr txBox="1"/>
          <p:nvPr/>
        </p:nvSpPr>
        <p:spPr>
          <a:xfrm>
            <a:off x="822960" y="2450592"/>
            <a:ext cx="4846320" cy="274320"/>
          </a:xfrm>
          <a:prstGeom prst="rect">
            <a:avLst/>
          </a:prstGeom>
          <a:noFill/>
          <a:ln/>
        </p:spPr>
        <p:txBody>
          <a:bodyPr wrap="square" lIns="0" tIns="0" rIns="0" bIns="0" rtlCol="0" anchor="ctr"/>
          <a:lstStyle/>
          <a:p>
            <a:pPr indent="0" marL="0">
              <a:buNone/>
            </a:pPr>
            <a:r>
              <a:rPr lang="en-US" sz="1150" b="1" spc="150" kern="0" dirty="0">
                <a:solidFill>
                  <a:schemeClr val="accent3"/>
                </a:solidFill>
              </a:rPr>
              <a:t>CONTINUOUS INTEGRATION</a:t>
            </a:r>
            <a:endParaRPr lang="en-US" sz="1150" dirty="0"/>
          </a:p>
        </p:txBody>
      </p:sp>
      <p:sp>
        <p:nvSpPr>
          <p:cNvPr id="22" name="text 325"/>
          <p:cNvSpPr txBox="1"/>
          <p:nvPr/>
        </p:nvSpPr>
        <p:spPr>
          <a:xfrm>
            <a:off x="822960" y="2743200"/>
            <a:ext cx="4846320" cy="640080"/>
          </a:xfrm>
          <a:prstGeom prst="rect">
            <a:avLst/>
          </a:prstGeom>
          <a:noFill/>
          <a:ln/>
        </p:spPr>
        <p:txBody>
          <a:bodyPr wrap="square" lIns="0" tIns="0" rIns="0" bIns="0" rtlCol="0" anchor="t"/>
          <a:lstStyle/>
          <a:p>
            <a:pPr indent="0" marL="0">
              <a:buNone/>
            </a:pPr>
            <a:r>
              <a:rPr lang="en-US" sz="1300" dirty="0">
                <a:solidFill>
                  <a:schemeClr val="tx2"/>
                </a:solidFill>
              </a:rPr>
              <a:t>Every push to a branch triggers automated tests. Problems surface on the branch, before they reach main.</a:t>
            </a:r>
            <a:endParaRPr lang="en-US" sz="1300" dirty="0"/>
          </a:p>
        </p:txBody>
      </p:sp>
      <p:sp>
        <p:nvSpPr>
          <p:cNvPr id="23" name="card 326"/>
          <p:cNvSpPr/>
          <p:nvPr/>
        </p:nvSpPr>
        <p:spPr>
          <a:xfrm>
            <a:off x="548640" y="3566160"/>
            <a:ext cx="5394960" cy="1097280"/>
          </a:xfrm>
          <a:prstGeom prst="roundRect">
            <a:avLst>
              <a:gd name="adj" fmla="val 10000"/>
            </a:avLst>
          </a:prstGeom>
          <a:solidFill>
            <a:schemeClr val="bg2"/>
          </a:solidFill>
          <a:ln w="9525">
            <a:solidFill>
              <a:schemeClr val="bg2"/>
            </a:solidFill>
            <a:prstDash val="solid"/>
          </a:ln>
        </p:spPr>
      </p:sp>
      <p:sp>
        <p:nvSpPr>
          <p:cNvPr id="24" name="text 327"/>
          <p:cNvSpPr txBox="1"/>
          <p:nvPr/>
        </p:nvSpPr>
        <p:spPr>
          <a:xfrm>
            <a:off x="822960" y="3685032"/>
            <a:ext cx="4846320" cy="274320"/>
          </a:xfrm>
          <a:prstGeom prst="rect">
            <a:avLst/>
          </a:prstGeom>
          <a:noFill/>
          <a:ln/>
        </p:spPr>
        <p:txBody>
          <a:bodyPr wrap="square" lIns="0" tIns="0" rIns="0" bIns="0" rtlCol="0" anchor="ctr"/>
          <a:lstStyle/>
          <a:p>
            <a:pPr indent="0" marL="0">
              <a:buNone/>
            </a:pPr>
            <a:r>
              <a:rPr lang="en-US" sz="1150" b="1" spc="150" kern="0" dirty="0">
                <a:solidFill>
                  <a:schemeClr val="accent3"/>
                </a:solidFill>
              </a:rPr>
              <a:t>CONTINUOUS DELIVERY / DEPLOYMENT</a:t>
            </a:r>
            <a:endParaRPr lang="en-US" sz="1150" dirty="0"/>
          </a:p>
        </p:txBody>
      </p:sp>
      <p:sp>
        <p:nvSpPr>
          <p:cNvPr id="25" name="text 328"/>
          <p:cNvSpPr txBox="1"/>
          <p:nvPr/>
        </p:nvSpPr>
        <p:spPr>
          <a:xfrm>
            <a:off x="822960" y="3977640"/>
            <a:ext cx="4846320" cy="640080"/>
          </a:xfrm>
          <a:prstGeom prst="rect">
            <a:avLst/>
          </a:prstGeom>
          <a:noFill/>
          <a:ln/>
        </p:spPr>
        <p:txBody>
          <a:bodyPr wrap="square" lIns="0" tIns="0" rIns="0" bIns="0" rtlCol="0" anchor="t"/>
          <a:lstStyle/>
          <a:p>
            <a:pPr indent="0" marL="0">
              <a:buNone/>
            </a:pPr>
            <a:r>
              <a:rPr lang="en-US" sz="1300" dirty="0">
                <a:solidFill>
                  <a:schemeClr val="tx2"/>
                </a:solidFill>
              </a:rPr>
              <a:t>Merges to main are built and released automatically: a Streamlit dashboard, a model API, a nightly pipeline.</a:t>
            </a:r>
            <a:endParaRPr lang="en-US" sz="1300" dirty="0"/>
          </a:p>
        </p:txBody>
      </p:sp>
      <p:sp>
        <p:nvSpPr>
          <p:cNvPr id="26" name="card 329"/>
          <p:cNvSpPr/>
          <p:nvPr/>
        </p:nvSpPr>
        <p:spPr>
          <a:xfrm>
            <a:off x="548640" y="4800600"/>
            <a:ext cx="5394960" cy="1325880"/>
          </a:xfrm>
          <a:prstGeom prst="roundRect">
            <a:avLst>
              <a:gd name="adj" fmla="val 8276"/>
            </a:avLst>
          </a:prstGeom>
          <a:solidFill>
            <a:schemeClr val="bg2"/>
          </a:solidFill>
          <a:ln w="9525">
            <a:solidFill>
              <a:schemeClr val="bg2"/>
            </a:solidFill>
            <a:prstDash val="solid"/>
          </a:ln>
        </p:spPr>
      </p:sp>
      <p:sp>
        <p:nvSpPr>
          <p:cNvPr id="27" name="text 330"/>
          <p:cNvSpPr txBox="1"/>
          <p:nvPr/>
        </p:nvSpPr>
        <p:spPr>
          <a:xfrm>
            <a:off x="822960" y="4919472"/>
            <a:ext cx="4846320" cy="274320"/>
          </a:xfrm>
          <a:prstGeom prst="rect">
            <a:avLst/>
          </a:prstGeom>
          <a:noFill/>
          <a:ln/>
        </p:spPr>
        <p:txBody>
          <a:bodyPr wrap="square" lIns="0" tIns="0" rIns="0" bIns="0" rtlCol="0" anchor="ctr"/>
          <a:lstStyle/>
          <a:p>
            <a:pPr indent="0" marL="0">
              <a:buNone/>
            </a:pPr>
            <a:r>
              <a:rPr lang="en-US" sz="1150" b="1" spc="150" kern="0" dirty="0">
                <a:solidFill>
                  <a:schemeClr val="accent3"/>
                </a:solidFill>
              </a:rPr>
              <a:t>BRANCH PROTECTION</a:t>
            </a:r>
            <a:endParaRPr lang="en-US" sz="1150" dirty="0"/>
          </a:p>
        </p:txBody>
      </p:sp>
      <p:sp>
        <p:nvSpPr>
          <p:cNvPr id="28" name="text 331"/>
          <p:cNvSpPr txBox="1"/>
          <p:nvPr/>
        </p:nvSpPr>
        <p:spPr>
          <a:xfrm>
            <a:off x="822960" y="5212080"/>
            <a:ext cx="4846320" cy="868680"/>
          </a:xfrm>
          <a:prstGeom prst="rect">
            <a:avLst/>
          </a:prstGeom>
          <a:noFill/>
          <a:ln/>
        </p:spPr>
        <p:txBody>
          <a:bodyPr wrap="square" lIns="0" tIns="0" rIns="0" bIns="0" rtlCol="0" anchor="t"/>
          <a:lstStyle/>
          <a:p>
            <a:pPr indent="0" marL="0">
              <a:buNone/>
            </a:pPr>
            <a:r>
              <a:rPr lang="en-US" sz="1300" dirty="0">
                <a:solidFill>
                  <a:schemeClr val="tx2"/>
                </a:solidFill>
              </a:rPr>
              <a:t>On GitHub, protect main: require a pull request, require the checks to pass, allow no direct pushes. Then the only way into main is a reviewed, tested branch.</a:t>
            </a:r>
            <a:endParaRPr lang="en-US" sz="1300" dirty="0"/>
          </a:p>
        </p:txBody>
      </p:sp>
      <p:sp>
        <p:nvSpPr>
          <p:cNvPr id="29" name="code block 332"/>
          <p:cNvSpPr/>
          <p:nvPr/>
        </p:nvSpPr>
        <p:spPr>
          <a:xfrm>
            <a:off x="6309360" y="2331720"/>
            <a:ext cx="5303520" cy="2560320"/>
          </a:xfrm>
          <a:prstGeom prst="roundRect">
            <a:avLst>
              <a:gd name="adj" fmla="val 3571"/>
            </a:avLst>
          </a:prstGeom>
          <a:solidFill>
            <a:schemeClr val="bg2"/>
          </a:solidFill>
          <a:ln w="9525">
            <a:solidFill>
              <a:schemeClr val="bg2"/>
            </a:solidFill>
            <a:prstDash val="solid"/>
          </a:ln>
        </p:spPr>
      </p:sp>
      <p:sp>
        <p:nvSpPr>
          <p:cNvPr id="30" name="code 333"/>
          <p:cNvSpPr txBox="1"/>
          <p:nvPr/>
        </p:nvSpPr>
        <p:spPr>
          <a:xfrm>
            <a:off x="6446520" y="2441448"/>
            <a:ext cx="5029200" cy="2340864"/>
          </a:xfrm>
          <a:prstGeom prst="rect">
            <a:avLst/>
          </a:prstGeom>
          <a:noFill/>
          <a:ln/>
        </p:spPr>
        <p:txBody>
          <a:bodyPr wrap="square" lIns="0" tIns="0" rIns="0" bIns="0" rtlCol="0" anchor="t"/>
          <a:lstStyle/>
          <a:p>
            <a:pPr indent="0" marL="0">
              <a:lnSpc>
                <a:spcPct val="105000"/>
              </a:lnSpc>
              <a:buNone/>
            </a:pPr>
            <a:r>
              <a:rPr lang="en-US" sz="1150" dirty="0">
                <a:solidFill>
                  <a:schemeClr val="accent4"/>
                </a:solidFill>
                <a:latin typeface="Courier New" pitchFamily="34" charset="0"/>
                <a:ea typeface="Courier New" pitchFamily="34" charset="-122"/>
                <a:cs typeface="Courier New" pitchFamily="34" charset="-120"/>
              </a:rPr>
              <a:t># .github/workflows/test.yml</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name: tests</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on: [pull_request]</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jobs:</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test:</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runs-on: ubuntu-latest</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steps:</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 uses: actions/checkout@v4</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 uses: actions/setup-python@v5</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with: { python-version: "3.12" }</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 run: pip install -r requirements.txt</a:t>
            </a:r>
            <a:endParaRPr lang="en-US" sz="1150" dirty="0"/>
          </a:p>
          <a:p>
            <a:pPr indent="0" marL="0">
              <a:lnSpc>
                <a:spcPct val="105000"/>
              </a:lnSpc>
              <a:buNone/>
            </a:pPr>
            <a:r>
              <a:rPr lang="en-US" sz="1150" dirty="0">
                <a:solidFill>
                  <a:schemeClr val="accent3"/>
                </a:solidFill>
                <a:latin typeface="Courier New" pitchFamily="34" charset="0"/>
                <a:ea typeface="Courier New" pitchFamily="34" charset="-122"/>
                <a:cs typeface="Courier New" pitchFamily="34" charset="-120"/>
              </a:rPr>
              <a:t>      - run: pytest</a:t>
            </a:r>
            <a:endParaRPr lang="en-US" sz="1150" dirty="0"/>
          </a:p>
        </p:txBody>
      </p:sp>
      <p:sp>
        <p:nvSpPr>
          <p:cNvPr id="31" name="icon circle 334"/>
          <p:cNvSpPr/>
          <p:nvPr/>
        </p:nvSpPr>
        <p:spPr>
          <a:xfrm>
            <a:off x="6355080" y="5303520"/>
            <a:ext cx="457200" cy="457200"/>
          </a:xfrm>
          <a:prstGeom prst="ellipse">
            <a:avLst/>
          </a:prstGeom>
          <a:solidFill>
            <a:schemeClr val="accent3"/>
          </a:solidFill>
          <a:ln w="6350">
            <a:solidFill>
              <a:schemeClr val="accent3"/>
            </a:solidFill>
            <a:prstDash val="solid"/>
          </a:ln>
        </p:spPr>
      </p:sp>
      <p:pic>
        <p:nvPicPr>
          <p:cNvPr id="32" name="icon 335" descr="preencoded.png">    </p:cNvPr>
          <p:cNvPicPr>
            <a:picLocks noChangeAspect="1"/>
          </p:cNvPicPr>
          <p:nvPr/>
        </p:nvPicPr>
        <p:blipFill>
          <a:blip r:embed="rId1"/>
          <a:stretch>
            <a:fillRect/>
          </a:stretch>
        </p:blipFill>
        <p:spPr>
          <a:xfrm>
            <a:off x="6464808" y="5413248"/>
            <a:ext cx="237744" cy="237744"/>
          </a:xfrm>
          <a:prstGeom prst="rect">
            <a:avLst/>
          </a:prstGeom>
        </p:spPr>
      </p:pic>
      <p:sp>
        <p:nvSpPr>
          <p:cNvPr id="33" name="text 336"/>
          <p:cNvSpPr txBox="1"/>
          <p:nvPr/>
        </p:nvSpPr>
        <p:spPr>
          <a:xfrm>
            <a:off x="6949440" y="5166360"/>
            <a:ext cx="4663440" cy="868680"/>
          </a:xfrm>
          <a:prstGeom prst="rect">
            <a:avLst/>
          </a:prstGeom>
          <a:noFill/>
          <a:ln/>
        </p:spPr>
        <p:txBody>
          <a:bodyPr wrap="square" lIns="0" tIns="0" rIns="0" bIns="0" rtlCol="0" anchor="ctr"/>
          <a:lstStyle/>
          <a:p>
            <a:pPr indent="0" marL="0">
              <a:buNone/>
            </a:pPr>
            <a:r>
              <a:rPr lang="en-US" sz="1250" i="1" dirty="0">
                <a:solidFill>
                  <a:schemeClr val="tx2"/>
                </a:solidFill>
              </a:rPr>
              <a:t>Ask Claude Code: "add a GitHub Actions workflow that runs pytest on every pull request." It will write this file; you review and merge it like any other change.</a:t>
            </a:r>
            <a:endParaRPr lang="en-US" sz="125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Your first branch, today</a:t>
            </a:r>
            <a:endParaRPr lang="en-US" sz="3000" dirty="0"/>
          </a:p>
        </p:txBody>
      </p:sp>
      <p:sp>
        <p:nvSpPr>
          <p:cNvPr id="3" name="card 337"/>
          <p:cNvSpPr/>
          <p:nvPr/>
        </p:nvSpPr>
        <p:spPr>
          <a:xfrm>
            <a:off x="548640" y="1325880"/>
            <a:ext cx="5943600" cy="4800600"/>
          </a:xfrm>
          <a:prstGeom prst="roundRect">
            <a:avLst>
              <a:gd name="adj" fmla="val 2286"/>
            </a:avLst>
          </a:prstGeom>
          <a:solidFill>
            <a:schemeClr val="bg2"/>
          </a:solidFill>
          <a:ln w="9525">
            <a:solidFill>
              <a:schemeClr val="bg2"/>
            </a:solidFill>
            <a:prstDash val="solid"/>
          </a:ln>
        </p:spPr>
      </p:sp>
      <p:sp>
        <p:nvSpPr>
          <p:cNvPr id="4" name="text 338"/>
          <p:cNvSpPr txBox="1"/>
          <p:nvPr/>
        </p:nvSpPr>
        <p:spPr>
          <a:xfrm>
            <a:off x="822960" y="1508760"/>
            <a:ext cx="539496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TRY IT IN A REPO YOU OWN</a:t>
            </a:r>
            <a:endParaRPr lang="en-US" sz="1200" dirty="0"/>
          </a:p>
        </p:txBody>
      </p:sp>
      <p:sp>
        <p:nvSpPr>
          <p:cNvPr id="5" name="number 339"/>
          <p:cNvSpPr/>
          <p:nvPr/>
        </p:nvSpPr>
        <p:spPr>
          <a:xfrm>
            <a:off x="859536" y="2002536"/>
            <a:ext cx="384048" cy="384048"/>
          </a:xfrm>
          <a:prstGeom prst="ellipse">
            <a:avLst/>
          </a:prstGeom>
          <a:solidFill>
            <a:schemeClr val="accent3"/>
          </a:solidFill>
          <a:ln w="6350">
            <a:solidFill>
              <a:schemeClr val="accent3"/>
            </a:solidFill>
            <a:prstDash val="solid"/>
          </a:ln>
        </p:spPr>
      </p:sp>
      <p:sp>
        <p:nvSpPr>
          <p:cNvPr id="6" name="text 340"/>
          <p:cNvSpPr txBox="1"/>
          <p:nvPr/>
        </p:nvSpPr>
        <p:spPr>
          <a:xfrm>
            <a:off x="859536" y="20025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7" name="exercise 1"/>
          <p:cNvSpPr txBox="1"/>
          <p:nvPr/>
        </p:nvSpPr>
        <p:spPr>
          <a:xfrm>
            <a:off x="1417320" y="1920240"/>
            <a:ext cx="4800600" cy="685800"/>
          </a:xfrm>
          <a:prstGeom prst="rect">
            <a:avLst/>
          </a:prstGeom>
          <a:noFill/>
          <a:ln/>
        </p:spPr>
        <p:txBody>
          <a:bodyPr wrap="square" lIns="0" tIns="0" rIns="0" bIns="0" rtlCol="0" anchor="ctr"/>
          <a:lstStyle/>
          <a:p>
            <a:pPr indent="0" marL="0">
              <a:buNone/>
            </a:pPr>
            <a:r>
              <a:rPr lang="en-US" sz="1350" dirty="0">
                <a:solidFill>
                  <a:schemeClr val="accent3"/>
                </a:solidFill>
                <a:latin typeface="Courier New" pitchFamily="34" charset="0"/>
                <a:ea typeface="Courier New" pitchFamily="34" charset="-122"/>
                <a:cs typeface="Courier New" pitchFamily="34" charset="-120"/>
              </a:rPr>
              <a:t>git switch -c feature/hello</a:t>
            </a:r>
            <a:endParaRPr lang="en-US" sz="1350" dirty="0"/>
          </a:p>
          <a:p>
            <a:pPr indent="0" marL="0">
              <a:buNone/>
            </a:pPr>
            <a:r>
              <a:rPr lang="en-US" sz="1350" dirty="0">
                <a:solidFill>
                  <a:schemeClr val="tx2"/>
                </a:solidFill>
              </a:rPr>
              <a:t>from an up-to-date main.</a:t>
            </a:r>
            <a:endParaRPr lang="en-US" sz="1350" dirty="0"/>
          </a:p>
        </p:txBody>
      </p:sp>
      <p:sp>
        <p:nvSpPr>
          <p:cNvPr id="8" name="number 341"/>
          <p:cNvSpPr/>
          <p:nvPr/>
        </p:nvSpPr>
        <p:spPr>
          <a:xfrm>
            <a:off x="859536" y="2825496"/>
            <a:ext cx="384048" cy="384048"/>
          </a:xfrm>
          <a:prstGeom prst="ellipse">
            <a:avLst/>
          </a:prstGeom>
          <a:solidFill>
            <a:schemeClr val="accent3"/>
          </a:solidFill>
          <a:ln w="6350">
            <a:solidFill>
              <a:schemeClr val="accent3"/>
            </a:solidFill>
            <a:prstDash val="solid"/>
          </a:ln>
        </p:spPr>
      </p:sp>
      <p:sp>
        <p:nvSpPr>
          <p:cNvPr id="9" name="text 342"/>
          <p:cNvSpPr txBox="1"/>
          <p:nvPr/>
        </p:nvSpPr>
        <p:spPr>
          <a:xfrm>
            <a:off x="859536" y="28254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0" name="exercise 2"/>
          <p:cNvSpPr txBox="1"/>
          <p:nvPr/>
        </p:nvSpPr>
        <p:spPr>
          <a:xfrm>
            <a:off x="1417320" y="2743200"/>
            <a:ext cx="4800600" cy="685800"/>
          </a:xfrm>
          <a:prstGeom prst="rect">
            <a:avLst/>
          </a:prstGeom>
          <a:noFill/>
          <a:ln/>
        </p:spPr>
        <p:txBody>
          <a:bodyPr wrap="square" lIns="0" tIns="0" rIns="0" bIns="0" rtlCol="0" anchor="ctr"/>
          <a:lstStyle/>
          <a:p>
            <a:pPr indent="0" marL="0">
              <a:buNone/>
            </a:pPr>
            <a:r>
              <a:rPr lang="en-US" sz="1350" dirty="0">
                <a:solidFill>
                  <a:schemeClr val="tx2"/>
                </a:solidFill>
              </a:rPr>
              <a:t>Open Claude Code and ask for one small improvement: a README section, a test, a docstring.</a:t>
            </a:r>
            <a:endParaRPr lang="en-US" sz="1350" dirty="0"/>
          </a:p>
        </p:txBody>
      </p:sp>
      <p:sp>
        <p:nvSpPr>
          <p:cNvPr id="11" name="number 343"/>
          <p:cNvSpPr/>
          <p:nvPr/>
        </p:nvSpPr>
        <p:spPr>
          <a:xfrm>
            <a:off x="859536" y="3648456"/>
            <a:ext cx="384048" cy="384048"/>
          </a:xfrm>
          <a:prstGeom prst="ellipse">
            <a:avLst/>
          </a:prstGeom>
          <a:solidFill>
            <a:schemeClr val="accent3"/>
          </a:solidFill>
          <a:ln w="6350">
            <a:solidFill>
              <a:schemeClr val="accent3"/>
            </a:solidFill>
            <a:prstDash val="solid"/>
          </a:ln>
        </p:spPr>
      </p:sp>
      <p:sp>
        <p:nvSpPr>
          <p:cNvPr id="12" name="text 344"/>
          <p:cNvSpPr txBox="1"/>
          <p:nvPr/>
        </p:nvSpPr>
        <p:spPr>
          <a:xfrm>
            <a:off x="859536" y="364845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3" name="exercise 3"/>
          <p:cNvSpPr txBox="1"/>
          <p:nvPr/>
        </p:nvSpPr>
        <p:spPr>
          <a:xfrm>
            <a:off x="1417320" y="3566160"/>
            <a:ext cx="4800600" cy="685800"/>
          </a:xfrm>
          <a:prstGeom prst="rect">
            <a:avLst/>
          </a:prstGeom>
          <a:noFill/>
          <a:ln/>
        </p:spPr>
        <p:txBody>
          <a:bodyPr wrap="square" lIns="0" tIns="0" rIns="0" bIns="0" rtlCol="0" anchor="ctr"/>
          <a:lstStyle/>
          <a:p>
            <a:pPr indent="0" marL="0">
              <a:buNone/>
            </a:pPr>
            <a:r>
              <a:rPr lang="en-US" sz="1350" dirty="0">
                <a:solidFill>
                  <a:schemeClr val="tx2"/>
                </a:solidFill>
              </a:rPr>
              <a:t>Ask it to commit, then read every line of</a:t>
            </a:r>
            <a:endParaRPr lang="en-US" sz="1350" dirty="0"/>
          </a:p>
          <a:p>
            <a:pPr indent="0" marL="0">
              <a:buNone/>
            </a:pPr>
            <a:r>
              <a:rPr lang="en-US" sz="1350" dirty="0">
                <a:solidFill>
                  <a:schemeClr val="accent3"/>
                </a:solidFill>
                <a:latin typeface="Courier New" pitchFamily="34" charset="0"/>
                <a:ea typeface="Courier New" pitchFamily="34" charset="-122"/>
                <a:cs typeface="Courier New" pitchFamily="34" charset="-120"/>
              </a:rPr>
              <a:t>git diff main...feature/hello</a:t>
            </a:r>
            <a:endParaRPr lang="en-US" sz="1350" dirty="0"/>
          </a:p>
        </p:txBody>
      </p:sp>
      <p:sp>
        <p:nvSpPr>
          <p:cNvPr id="14" name="number 345"/>
          <p:cNvSpPr/>
          <p:nvPr/>
        </p:nvSpPr>
        <p:spPr>
          <a:xfrm>
            <a:off x="859536" y="4471416"/>
            <a:ext cx="384048" cy="384048"/>
          </a:xfrm>
          <a:prstGeom prst="ellipse">
            <a:avLst/>
          </a:prstGeom>
          <a:solidFill>
            <a:schemeClr val="accent3"/>
          </a:solidFill>
          <a:ln w="6350">
            <a:solidFill>
              <a:schemeClr val="accent3"/>
            </a:solidFill>
            <a:prstDash val="solid"/>
          </a:ln>
        </p:spPr>
      </p:sp>
      <p:sp>
        <p:nvSpPr>
          <p:cNvPr id="15" name="text 346"/>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6" name="exercise 4"/>
          <p:cNvSpPr txBox="1"/>
          <p:nvPr/>
        </p:nvSpPr>
        <p:spPr>
          <a:xfrm>
            <a:off x="1417320" y="4389120"/>
            <a:ext cx="4800600" cy="685800"/>
          </a:xfrm>
          <a:prstGeom prst="rect">
            <a:avLst/>
          </a:prstGeom>
          <a:noFill/>
          <a:ln/>
        </p:spPr>
        <p:txBody>
          <a:bodyPr wrap="square" lIns="0" tIns="0" rIns="0" bIns="0" rtlCol="0" anchor="ctr"/>
          <a:lstStyle/>
          <a:p>
            <a:pPr indent="0" marL="0">
              <a:buNone/>
            </a:pPr>
            <a:r>
              <a:rPr lang="en-US" sz="1350" dirty="0">
                <a:solidFill>
                  <a:schemeClr val="accent3"/>
                </a:solidFill>
                <a:latin typeface="Courier New" pitchFamily="34" charset="0"/>
                <a:ea typeface="Courier New" pitchFamily="34" charset="-122"/>
                <a:cs typeface="Courier New" pitchFamily="34" charset="-120"/>
              </a:rPr>
              <a:t>git push -u origin feature/hello</a:t>
            </a:r>
            <a:pPr indent="0" marL="0">
              <a:buNone/>
            </a:pPr>
            <a:r>
              <a:rPr lang="en-US" sz="1350" dirty="0">
                <a:solidFill>
                  <a:schemeClr val="tx2"/>
                </a:solidFill>
              </a:rPr>
              <a:t>, then</a:t>
            </a:r>
            <a:endParaRPr lang="en-US" sz="1350" dirty="0"/>
          </a:p>
          <a:p>
            <a:pPr indent="0" marL="0">
              <a:buNone/>
            </a:pPr>
            <a:r>
              <a:rPr lang="en-US" sz="1350" dirty="0">
                <a:solidFill>
                  <a:schemeClr val="accent3"/>
                </a:solidFill>
                <a:latin typeface="Courier New" pitchFamily="34" charset="0"/>
                <a:ea typeface="Courier New" pitchFamily="34" charset="-122"/>
                <a:cs typeface="Courier New" pitchFamily="34" charset="-120"/>
              </a:rPr>
              <a:t>gh pr create --fill</a:t>
            </a:r>
            <a:pPr indent="0" marL="0">
              <a:buNone/>
            </a:pPr>
            <a:r>
              <a:rPr lang="en-US" sz="1350" dirty="0">
                <a:solidFill>
                  <a:schemeClr val="tx2"/>
                </a:solidFill>
              </a:rPr>
              <a:t>.</a:t>
            </a:r>
            <a:endParaRPr lang="en-US" sz="1350" dirty="0"/>
          </a:p>
        </p:txBody>
      </p:sp>
      <p:sp>
        <p:nvSpPr>
          <p:cNvPr id="17" name="number 347"/>
          <p:cNvSpPr/>
          <p:nvPr/>
        </p:nvSpPr>
        <p:spPr>
          <a:xfrm>
            <a:off x="859536" y="5294376"/>
            <a:ext cx="384048" cy="384048"/>
          </a:xfrm>
          <a:prstGeom prst="ellipse">
            <a:avLst/>
          </a:prstGeom>
          <a:solidFill>
            <a:schemeClr val="accent3"/>
          </a:solidFill>
          <a:ln w="6350">
            <a:solidFill>
              <a:schemeClr val="accent3"/>
            </a:solidFill>
            <a:prstDash val="solid"/>
          </a:ln>
        </p:spPr>
      </p:sp>
      <p:sp>
        <p:nvSpPr>
          <p:cNvPr id="18" name="text 348"/>
          <p:cNvSpPr txBox="1"/>
          <p:nvPr/>
        </p:nvSpPr>
        <p:spPr>
          <a:xfrm>
            <a:off x="859536" y="52943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19" name="exercise 5"/>
          <p:cNvSpPr txBox="1"/>
          <p:nvPr/>
        </p:nvSpPr>
        <p:spPr>
          <a:xfrm>
            <a:off x="1417320" y="5212080"/>
            <a:ext cx="4800600" cy="685800"/>
          </a:xfrm>
          <a:prstGeom prst="rect">
            <a:avLst/>
          </a:prstGeom>
          <a:noFill/>
          <a:ln/>
        </p:spPr>
        <p:txBody>
          <a:bodyPr wrap="square" lIns="0" tIns="0" rIns="0" bIns="0" rtlCol="0" anchor="ctr"/>
          <a:lstStyle/>
          <a:p>
            <a:pPr indent="0" marL="0">
              <a:buNone/>
            </a:pPr>
            <a:r>
              <a:rPr lang="en-US" sz="1350" dirty="0">
                <a:solidFill>
                  <a:schemeClr val="tx2"/>
                </a:solidFill>
              </a:rPr>
              <a:t>Merge on GitHub, </a:t>
            </a:r>
            <a:pPr indent="0" marL="0">
              <a:buNone/>
            </a:pPr>
            <a:r>
              <a:rPr lang="en-US" sz="1350" dirty="0">
                <a:solidFill>
                  <a:schemeClr val="accent3"/>
                </a:solidFill>
                <a:latin typeface="Courier New" pitchFamily="34" charset="0"/>
                <a:ea typeface="Courier New" pitchFamily="34" charset="-122"/>
                <a:cs typeface="Courier New" pitchFamily="34" charset="-120"/>
              </a:rPr>
              <a:t>git switch main &amp;&amp; git pull</a:t>
            </a:r>
            <a:pPr indent="0" marL="0">
              <a:buNone/>
            </a:pPr>
            <a:r>
              <a:rPr lang="en-US" sz="1350" dirty="0">
                <a:solidFill>
                  <a:schemeClr val="tx2"/>
                </a:solidFill>
              </a:rPr>
              <a:t>, and delete the branch.</a:t>
            </a:r>
            <a:endParaRPr lang="en-US" sz="1350" dirty="0"/>
          </a:p>
        </p:txBody>
      </p:sp>
      <p:sp>
        <p:nvSpPr>
          <p:cNvPr id="20" name="text 349"/>
          <p:cNvSpPr txBox="1"/>
          <p:nvPr/>
        </p:nvSpPr>
        <p:spPr>
          <a:xfrm>
            <a:off x="6949440" y="1508760"/>
            <a:ext cx="4663440" cy="274320"/>
          </a:xfrm>
          <a:prstGeom prst="rect">
            <a:avLst/>
          </a:prstGeom>
          <a:noFill/>
          <a:ln/>
        </p:spPr>
        <p:txBody>
          <a:bodyPr wrap="square" lIns="0" tIns="0" rIns="0" bIns="0" rtlCol="0" anchor="ctr"/>
          <a:lstStyle/>
          <a:p>
            <a:pPr indent="0" marL="0">
              <a:buNone/>
            </a:pPr>
            <a:r>
              <a:rPr lang="en-US" sz="1200" b="1" spc="150" kern="0" dirty="0">
                <a:solidFill>
                  <a:schemeClr val="accent3"/>
                </a:solidFill>
              </a:rPr>
              <a:t>REMEMBER</a:t>
            </a:r>
            <a:endParaRPr lang="en-US" sz="1200" dirty="0"/>
          </a:p>
        </p:txBody>
      </p:sp>
      <p:sp>
        <p:nvSpPr>
          <p:cNvPr id="21" name="icon circle 350"/>
          <p:cNvSpPr/>
          <p:nvPr/>
        </p:nvSpPr>
        <p:spPr>
          <a:xfrm>
            <a:off x="6949440" y="1965960"/>
            <a:ext cx="548640" cy="548640"/>
          </a:xfrm>
          <a:prstGeom prst="ellipse">
            <a:avLst/>
          </a:prstGeom>
          <a:solidFill>
            <a:schemeClr val="accent1"/>
          </a:solidFill>
          <a:ln w="6350">
            <a:solidFill>
              <a:schemeClr val="accent1"/>
            </a:solidFill>
            <a:prstDash val="solid"/>
          </a:ln>
        </p:spPr>
      </p:sp>
      <p:pic>
        <p:nvPicPr>
          <p:cNvPr id="22" name="icon 351" descr="preencoded.png">    </p:cNvPr>
          <p:cNvPicPr>
            <a:picLocks noChangeAspect="1"/>
          </p:cNvPicPr>
          <p:nvPr/>
        </p:nvPicPr>
        <p:blipFill>
          <a:blip r:embed="rId1"/>
          <a:stretch>
            <a:fillRect/>
          </a:stretch>
        </p:blipFill>
        <p:spPr>
          <a:xfrm>
            <a:off x="7081114" y="2097634"/>
            <a:ext cx="285293" cy="285293"/>
          </a:xfrm>
          <a:prstGeom prst="rect">
            <a:avLst/>
          </a:prstGeom>
        </p:spPr>
      </p:pic>
      <p:sp>
        <p:nvSpPr>
          <p:cNvPr id="23" name="text 352"/>
          <p:cNvSpPr txBox="1"/>
          <p:nvPr/>
        </p:nvSpPr>
        <p:spPr>
          <a:xfrm>
            <a:off x="7726680" y="1920240"/>
            <a:ext cx="3886200" cy="365760"/>
          </a:xfrm>
          <a:prstGeom prst="rect">
            <a:avLst/>
          </a:prstGeom>
          <a:noFill/>
          <a:ln/>
        </p:spPr>
        <p:txBody>
          <a:bodyPr wrap="square" lIns="0" tIns="0" rIns="0" bIns="0" rtlCol="0" anchor="ctr"/>
          <a:lstStyle/>
          <a:p>
            <a:pPr indent="0" marL="0">
              <a:buNone/>
            </a:pPr>
            <a:r>
              <a:rPr lang="en-US" sz="1600" b="1" dirty="0">
                <a:solidFill>
                  <a:schemeClr val="tx1"/>
                </a:solidFill>
              </a:rPr>
              <a:t>main is the version you trust</a:t>
            </a:r>
            <a:endParaRPr lang="en-US" sz="1600" dirty="0"/>
          </a:p>
        </p:txBody>
      </p:sp>
      <p:sp>
        <p:nvSpPr>
          <p:cNvPr id="24" name="text 353"/>
          <p:cNvSpPr txBox="1"/>
          <p:nvPr/>
        </p:nvSpPr>
        <p:spPr>
          <a:xfrm>
            <a:off x="7726680" y="2304288"/>
            <a:ext cx="3886200" cy="548640"/>
          </a:xfrm>
          <a:prstGeom prst="rect">
            <a:avLst/>
          </a:prstGeom>
          <a:noFill/>
          <a:ln/>
        </p:spPr>
        <p:txBody>
          <a:bodyPr wrap="square" lIns="0" tIns="0" rIns="0" bIns="0" rtlCol="0" anchor="t"/>
          <a:lstStyle/>
          <a:p>
            <a:pPr indent="0" marL="0">
              <a:buNone/>
            </a:pPr>
            <a:r>
              <a:rPr lang="en-US" sz="1350" dirty="0">
                <a:solidFill>
                  <a:schemeClr val="tx2"/>
                </a:solidFill>
              </a:rPr>
              <a:t>It only changes by merge, never by direct edits.</a:t>
            </a:r>
            <a:endParaRPr lang="en-US" sz="1350" dirty="0"/>
          </a:p>
        </p:txBody>
      </p:sp>
      <p:sp>
        <p:nvSpPr>
          <p:cNvPr id="25" name="icon circle 354"/>
          <p:cNvSpPr/>
          <p:nvPr/>
        </p:nvSpPr>
        <p:spPr>
          <a:xfrm>
            <a:off x="6949440" y="3154680"/>
            <a:ext cx="548640" cy="548640"/>
          </a:xfrm>
          <a:prstGeom prst="ellipse">
            <a:avLst/>
          </a:prstGeom>
          <a:solidFill>
            <a:schemeClr val="accent1"/>
          </a:solidFill>
          <a:ln w="6350">
            <a:solidFill>
              <a:schemeClr val="accent1"/>
            </a:solidFill>
            <a:prstDash val="solid"/>
          </a:ln>
        </p:spPr>
      </p:sp>
      <p:pic>
        <p:nvPicPr>
          <p:cNvPr id="26" name="icon 355" descr="preencoded.png">    </p:cNvPr>
          <p:cNvPicPr>
            <a:picLocks noChangeAspect="1"/>
          </p:cNvPicPr>
          <p:nvPr/>
        </p:nvPicPr>
        <p:blipFill>
          <a:blip r:embed="rId2"/>
          <a:stretch>
            <a:fillRect/>
          </a:stretch>
        </p:blipFill>
        <p:spPr>
          <a:xfrm>
            <a:off x="7081114" y="3286354"/>
            <a:ext cx="285293" cy="285293"/>
          </a:xfrm>
          <a:prstGeom prst="rect">
            <a:avLst/>
          </a:prstGeom>
        </p:spPr>
      </p:pic>
      <p:sp>
        <p:nvSpPr>
          <p:cNvPr id="27" name="text 356"/>
          <p:cNvSpPr txBox="1"/>
          <p:nvPr/>
        </p:nvSpPr>
        <p:spPr>
          <a:xfrm>
            <a:off x="7726680" y="3108960"/>
            <a:ext cx="3886200" cy="365760"/>
          </a:xfrm>
          <a:prstGeom prst="rect">
            <a:avLst/>
          </a:prstGeom>
          <a:noFill/>
          <a:ln/>
        </p:spPr>
        <p:txBody>
          <a:bodyPr wrap="square" lIns="0" tIns="0" rIns="0" bIns="0" rtlCol="0" anchor="ctr"/>
          <a:lstStyle/>
          <a:p>
            <a:pPr indent="0" marL="0">
              <a:buNone/>
            </a:pPr>
            <a:r>
              <a:rPr lang="en-US" sz="1600" b="1" dirty="0">
                <a:solidFill>
                  <a:schemeClr val="tx1"/>
                </a:solidFill>
              </a:rPr>
              <a:t>A branch is cheap and disposable</a:t>
            </a:r>
            <a:endParaRPr lang="en-US" sz="1600" dirty="0"/>
          </a:p>
        </p:txBody>
      </p:sp>
      <p:sp>
        <p:nvSpPr>
          <p:cNvPr id="28" name="text 357"/>
          <p:cNvSpPr txBox="1"/>
          <p:nvPr/>
        </p:nvSpPr>
        <p:spPr>
          <a:xfrm>
            <a:off x="7726680" y="3493008"/>
            <a:ext cx="3886200" cy="548640"/>
          </a:xfrm>
          <a:prstGeom prst="rect">
            <a:avLst/>
          </a:prstGeom>
          <a:noFill/>
          <a:ln/>
        </p:spPr>
        <p:txBody>
          <a:bodyPr wrap="square" lIns="0" tIns="0" rIns="0" bIns="0" rtlCol="0" anchor="t"/>
          <a:lstStyle/>
          <a:p>
            <a:pPr indent="0" marL="0">
              <a:buNone/>
            </a:pPr>
            <a:r>
              <a:rPr lang="en-US" sz="1350" dirty="0">
                <a:solidFill>
                  <a:schemeClr val="tx2"/>
                </a:solidFill>
              </a:rPr>
              <a:t>It is the boundary for what Claude Code can touch.</a:t>
            </a:r>
            <a:endParaRPr lang="en-US" sz="1350" dirty="0"/>
          </a:p>
        </p:txBody>
      </p:sp>
      <p:sp>
        <p:nvSpPr>
          <p:cNvPr id="29" name="icon circle 358"/>
          <p:cNvSpPr/>
          <p:nvPr/>
        </p:nvSpPr>
        <p:spPr>
          <a:xfrm>
            <a:off x="6949440" y="4343400"/>
            <a:ext cx="548640" cy="548640"/>
          </a:xfrm>
          <a:prstGeom prst="ellipse">
            <a:avLst/>
          </a:prstGeom>
          <a:solidFill>
            <a:schemeClr val="accent1"/>
          </a:solidFill>
          <a:ln w="6350">
            <a:solidFill>
              <a:schemeClr val="accent1"/>
            </a:solidFill>
            <a:prstDash val="solid"/>
          </a:ln>
        </p:spPr>
      </p:sp>
      <p:pic>
        <p:nvPicPr>
          <p:cNvPr id="30" name="icon 359" descr="preencoded.png">    </p:cNvPr>
          <p:cNvPicPr>
            <a:picLocks noChangeAspect="1"/>
          </p:cNvPicPr>
          <p:nvPr/>
        </p:nvPicPr>
        <p:blipFill>
          <a:blip r:embed="rId3"/>
          <a:stretch>
            <a:fillRect/>
          </a:stretch>
        </p:blipFill>
        <p:spPr>
          <a:xfrm>
            <a:off x="7081114" y="4475074"/>
            <a:ext cx="285293" cy="285293"/>
          </a:xfrm>
          <a:prstGeom prst="rect">
            <a:avLst/>
          </a:prstGeom>
        </p:spPr>
      </p:pic>
      <p:sp>
        <p:nvSpPr>
          <p:cNvPr id="31" name="text 360"/>
          <p:cNvSpPr txBox="1"/>
          <p:nvPr/>
        </p:nvSpPr>
        <p:spPr>
          <a:xfrm>
            <a:off x="7726680" y="4297680"/>
            <a:ext cx="3886200" cy="365760"/>
          </a:xfrm>
          <a:prstGeom prst="rect">
            <a:avLst/>
          </a:prstGeom>
          <a:noFill/>
          <a:ln/>
        </p:spPr>
        <p:txBody>
          <a:bodyPr wrap="square" lIns="0" tIns="0" rIns="0" bIns="0" rtlCol="0" anchor="ctr"/>
          <a:lstStyle/>
          <a:p>
            <a:pPr indent="0" marL="0">
              <a:buNone/>
            </a:pPr>
            <a:r>
              <a:rPr lang="en-US" sz="1600" b="1" dirty="0">
                <a:solidFill>
                  <a:schemeClr val="tx1"/>
                </a:solidFill>
              </a:rPr>
              <a:t>PRs and CI replace guesswork</a:t>
            </a:r>
            <a:endParaRPr lang="en-US" sz="1600" dirty="0"/>
          </a:p>
        </p:txBody>
      </p:sp>
      <p:sp>
        <p:nvSpPr>
          <p:cNvPr id="32" name="text 361"/>
          <p:cNvSpPr txBox="1"/>
          <p:nvPr/>
        </p:nvSpPr>
        <p:spPr>
          <a:xfrm>
            <a:off x="7726680" y="4681728"/>
            <a:ext cx="3886200" cy="548640"/>
          </a:xfrm>
          <a:prstGeom prst="rect">
            <a:avLst/>
          </a:prstGeom>
          <a:noFill/>
          <a:ln/>
        </p:spPr>
        <p:txBody>
          <a:bodyPr wrap="square" lIns="0" tIns="0" rIns="0" bIns="0" rtlCol="0" anchor="t"/>
          <a:lstStyle/>
          <a:p>
            <a:pPr indent="0" marL="0">
              <a:buNone/>
            </a:pPr>
            <a:r>
              <a:rPr lang="en-US" sz="1350" dirty="0">
                <a:solidFill>
                  <a:schemeClr val="tx2"/>
                </a:solidFill>
              </a:rPr>
              <a:t>"I think it works" becomes "the checks passed."</a:t>
            </a:r>
            <a:endParaRPr lang="en-US" sz="1350" dirty="0"/>
          </a:p>
        </p:txBody>
      </p:sp>
      <p:sp>
        <p:nvSpPr>
          <p:cNvPr id="33" name="text 362"/>
          <p:cNvSpPr txBox="1"/>
          <p:nvPr/>
        </p:nvSpPr>
        <p:spPr>
          <a:xfrm>
            <a:off x="6949440" y="5486400"/>
            <a:ext cx="4663440" cy="548640"/>
          </a:xfrm>
          <a:prstGeom prst="rect">
            <a:avLst/>
          </a:prstGeom>
          <a:noFill/>
          <a:ln/>
        </p:spPr>
        <p:txBody>
          <a:bodyPr wrap="square" lIns="0" tIns="0" rIns="0" bIns="0" rtlCol="0" anchor="ctr"/>
          <a:lstStyle/>
          <a:p>
            <a:pPr indent="0" marL="0">
              <a:buNone/>
            </a:pPr>
            <a:r>
              <a:rPr lang="en-US" sz="1400" i="1" dirty="0">
                <a:solidFill>
                  <a:schemeClr val="accent3"/>
                </a:solidFill>
              </a:rPr>
              <a:t>Next step: protect main and add a CI workflow to your project repo.</a:t>
            </a:r>
            <a:endParaRPr lang="en-US" sz="14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1"/>
                </a:solidFill>
              </a:rPr>
              <a:t>References: go deeper on branches</a:t>
            </a:r>
            <a:endParaRPr lang="en-US" sz="3000" dirty="0"/>
          </a:p>
        </p:txBody>
      </p:sp>
      <p:sp>
        <p:nvSpPr>
          <p:cNvPr id="3" name="card 363"/>
          <p:cNvSpPr/>
          <p:nvPr/>
        </p:nvSpPr>
        <p:spPr>
          <a:xfrm>
            <a:off x="548640" y="1325880"/>
            <a:ext cx="11064240" cy="1508760"/>
          </a:xfrm>
          <a:prstGeom prst="roundRect">
            <a:avLst>
              <a:gd name="adj" fmla="val 7273"/>
            </a:avLst>
          </a:prstGeom>
          <a:solidFill>
            <a:schemeClr val="bg2"/>
          </a:solidFill>
          <a:ln w="9525">
            <a:solidFill>
              <a:schemeClr val="bg2"/>
            </a:solidFill>
            <a:prstDash val="solid"/>
          </a:ln>
        </p:spPr>
      </p:sp>
      <p:sp>
        <p:nvSpPr>
          <p:cNvPr id="4" name="number 364"/>
          <p:cNvSpPr/>
          <p:nvPr/>
        </p:nvSpPr>
        <p:spPr>
          <a:xfrm>
            <a:off x="841248" y="1499616"/>
            <a:ext cx="420624" cy="420624"/>
          </a:xfrm>
          <a:prstGeom prst="ellipse">
            <a:avLst/>
          </a:prstGeom>
          <a:solidFill>
            <a:schemeClr val="accent3"/>
          </a:solidFill>
          <a:ln w="6350">
            <a:solidFill>
              <a:schemeClr val="accent3"/>
            </a:solidFill>
            <a:prstDash val="solid"/>
          </a:ln>
        </p:spPr>
      </p:sp>
      <p:sp>
        <p:nvSpPr>
          <p:cNvPr id="5" name="text 365"/>
          <p:cNvSpPr txBox="1"/>
          <p:nvPr/>
        </p:nvSpPr>
        <p:spPr>
          <a:xfrm>
            <a:off x="841248" y="1499616"/>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6" name="text 366"/>
          <p:cNvSpPr txBox="1"/>
          <p:nvPr/>
        </p:nvSpPr>
        <p:spPr>
          <a:xfrm>
            <a:off x="1508760" y="1463040"/>
            <a:ext cx="9875520" cy="365760"/>
          </a:xfrm>
          <a:prstGeom prst="rect">
            <a:avLst/>
          </a:prstGeom>
          <a:noFill/>
          <a:ln/>
        </p:spPr>
        <p:txBody>
          <a:bodyPr wrap="square" lIns="0" tIns="0" rIns="0" bIns="0" rtlCol="0" anchor="ctr"/>
          <a:lstStyle/>
          <a:p>
            <a:pPr indent="0" marL="0">
              <a:buNone/>
            </a:pPr>
            <a:r>
              <a:rPr lang="en-US" sz="1600" b="1" dirty="0">
                <a:solidFill>
                  <a:schemeClr val="tx1"/>
                </a:solidFill>
              </a:rPr>
              <a:t>GitHub Docs — Branches</a:t>
            </a:r>
            <a:endParaRPr lang="en-US" sz="1600" dirty="0"/>
          </a:p>
        </p:txBody>
      </p:sp>
      <p:sp>
        <p:nvSpPr>
          <p:cNvPr id="7" name="reference link 1"/>
          <p:cNvSpPr txBox="1"/>
          <p:nvPr/>
        </p:nvSpPr>
        <p:spPr>
          <a:xfrm>
            <a:off x="1508760" y="1810512"/>
            <a:ext cx="9875520" cy="274320"/>
          </a:xfrm>
          <a:prstGeom prst="rect">
            <a:avLst/>
          </a:prstGeom>
          <a:noFill/>
          <a:ln/>
        </p:spPr>
        <p:txBody>
          <a:bodyPr wrap="square" lIns="0" tIns="0" rIns="0" bIns="0" rtlCol="0" anchor="ctr"/>
          <a:lstStyle/>
          <a:p>
            <a:pPr indent="0" marL="0">
              <a:buNone/>
            </a:pPr>
            <a:r>
              <a:rPr lang="en-US" sz="1150" u="sng" dirty="0">
                <a:solidFill>
                  <a:schemeClr val="accent3"/>
                </a:solidFill>
                <a:latin typeface="Courier New" pitchFamily="34" charset="0"/>
                <a:ea typeface="Courier New" pitchFamily="34" charset="-122"/>
                <a:cs typeface="Courier New" pitchFamily="34" charset="-120"/>
                <a:hlinkClick r:id="rId1" invalidUrl="" action="" tgtFrame="" tooltip="GitHub Docs — Branches" history="1" highlightClick="0" endSnd="0">
                  <a:extLst>
                    <a:ext uri="{A12FA001-AC4F-418D-AE19-62706E023703}">
                      <ahyp:hlinkClr xmlns:ahyp="http://schemas.microsoft.com/office/drawing/2018/hyperlinkcolor" val="tx"/>
                    </a:ext>
                  </a:extLst>
                </a:hlinkClick>
              </a:rPr>
              <a:t>https://docs.github.com/en/pull-requests/reference/branches</a:t>
            </a:r>
            <a:endParaRPr lang="en-US" sz="1150" dirty="0"/>
          </a:p>
        </p:txBody>
      </p:sp>
      <p:sp>
        <p:nvSpPr>
          <p:cNvPr id="8" name="text 367"/>
          <p:cNvSpPr txBox="1"/>
          <p:nvPr/>
        </p:nvSpPr>
        <p:spPr>
          <a:xfrm>
            <a:off x="1508760" y="2103120"/>
            <a:ext cx="9875520" cy="713232"/>
          </a:xfrm>
          <a:prstGeom prst="rect">
            <a:avLst/>
          </a:prstGeom>
          <a:noFill/>
          <a:ln/>
        </p:spPr>
        <p:txBody>
          <a:bodyPr wrap="square" lIns="0" tIns="0" rIns="0" bIns="0" rtlCol="0" anchor="t"/>
          <a:lstStyle/>
          <a:p>
            <a:pPr indent="0" marL="0">
              <a:buNone/>
            </a:pPr>
            <a:r>
              <a:rPr lang="en-US" sz="1300" dirty="0">
                <a:solidFill>
                  <a:schemeClr val="tx2"/>
                </a:solidFill>
              </a:rPr>
              <a:t>GitHub’s official reference explains how branches isolate work, what the default branch does, and how protected branches enforce review and merge requirements. Start here for the core concepts and how branches relate to pull requests on GitHub.</a:t>
            </a:r>
            <a:endParaRPr lang="en-US" sz="1300" dirty="0"/>
          </a:p>
        </p:txBody>
      </p:sp>
      <p:sp>
        <p:nvSpPr>
          <p:cNvPr id="9" name="card 368"/>
          <p:cNvSpPr/>
          <p:nvPr/>
        </p:nvSpPr>
        <p:spPr>
          <a:xfrm>
            <a:off x="548640" y="2971800"/>
            <a:ext cx="11064240" cy="1508760"/>
          </a:xfrm>
          <a:prstGeom prst="roundRect">
            <a:avLst>
              <a:gd name="adj" fmla="val 7273"/>
            </a:avLst>
          </a:prstGeom>
          <a:solidFill>
            <a:schemeClr val="bg2"/>
          </a:solidFill>
          <a:ln w="9525">
            <a:solidFill>
              <a:schemeClr val="bg2"/>
            </a:solidFill>
            <a:prstDash val="solid"/>
          </a:ln>
        </p:spPr>
      </p:sp>
      <p:sp>
        <p:nvSpPr>
          <p:cNvPr id="10" name="number 369"/>
          <p:cNvSpPr/>
          <p:nvPr/>
        </p:nvSpPr>
        <p:spPr>
          <a:xfrm>
            <a:off x="841248" y="3145536"/>
            <a:ext cx="420624" cy="420624"/>
          </a:xfrm>
          <a:prstGeom prst="ellipse">
            <a:avLst/>
          </a:prstGeom>
          <a:solidFill>
            <a:schemeClr val="accent3"/>
          </a:solidFill>
          <a:ln w="6350">
            <a:solidFill>
              <a:schemeClr val="accent3"/>
            </a:solidFill>
            <a:prstDash val="solid"/>
          </a:ln>
        </p:spPr>
      </p:sp>
      <p:sp>
        <p:nvSpPr>
          <p:cNvPr id="11" name="text 370"/>
          <p:cNvSpPr txBox="1"/>
          <p:nvPr/>
        </p:nvSpPr>
        <p:spPr>
          <a:xfrm>
            <a:off x="841248" y="3145536"/>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371"/>
          <p:cNvSpPr txBox="1"/>
          <p:nvPr/>
        </p:nvSpPr>
        <p:spPr>
          <a:xfrm>
            <a:off x="1508760" y="3108960"/>
            <a:ext cx="9875520" cy="365760"/>
          </a:xfrm>
          <a:prstGeom prst="rect">
            <a:avLst/>
          </a:prstGeom>
          <a:noFill/>
          <a:ln/>
        </p:spPr>
        <p:txBody>
          <a:bodyPr wrap="square" lIns="0" tIns="0" rIns="0" bIns="0" rtlCol="0" anchor="ctr"/>
          <a:lstStyle/>
          <a:p>
            <a:pPr indent="0" marL="0">
              <a:buNone/>
            </a:pPr>
            <a:r>
              <a:rPr lang="en-US" sz="1600" b="1" dirty="0">
                <a:solidFill>
                  <a:schemeClr val="tx1"/>
                </a:solidFill>
              </a:rPr>
              <a:t>GitHub Docs — GitHub Flow</a:t>
            </a:r>
            <a:endParaRPr lang="en-US" sz="1600" dirty="0"/>
          </a:p>
        </p:txBody>
      </p:sp>
      <p:sp>
        <p:nvSpPr>
          <p:cNvPr id="13" name="reference link 2"/>
          <p:cNvSpPr txBox="1"/>
          <p:nvPr/>
        </p:nvSpPr>
        <p:spPr>
          <a:xfrm>
            <a:off x="1508760" y="3456432"/>
            <a:ext cx="9875520" cy="274320"/>
          </a:xfrm>
          <a:prstGeom prst="rect">
            <a:avLst/>
          </a:prstGeom>
          <a:noFill/>
          <a:ln/>
        </p:spPr>
        <p:txBody>
          <a:bodyPr wrap="square" lIns="0" tIns="0" rIns="0" bIns="0" rtlCol="0" anchor="ctr"/>
          <a:lstStyle/>
          <a:p>
            <a:pPr indent="0" marL="0">
              <a:buNone/>
            </a:pPr>
            <a:r>
              <a:rPr lang="en-US" sz="1150" u="sng" dirty="0">
                <a:solidFill>
                  <a:schemeClr val="accent3"/>
                </a:solidFill>
                <a:latin typeface="Courier New" pitchFamily="34" charset="0"/>
                <a:ea typeface="Courier New" pitchFamily="34" charset="-122"/>
                <a:cs typeface="Courier New" pitchFamily="34" charset="-120"/>
                <a:hlinkClick r:id="rId2" invalidUrl="" action="" tgtFrame="" tooltip="GitHub Docs — GitHub Flow" history="1" highlightClick="0" endSnd="0">
                  <a:extLst>
                    <a:ext uri="{A12FA001-AC4F-418D-AE19-62706E023703}">
                      <ahyp:hlinkClr xmlns:ahyp="http://schemas.microsoft.com/office/drawing/2018/hyperlinkcolor" val="tx"/>
                    </a:ext>
                  </a:extLst>
                </a:hlinkClick>
              </a:rPr>
              <a:t>https://docs.github.com/en/get-started/using-github/github-flow</a:t>
            </a:r>
            <a:endParaRPr lang="en-US" sz="1150" dirty="0"/>
          </a:p>
        </p:txBody>
      </p:sp>
      <p:sp>
        <p:nvSpPr>
          <p:cNvPr id="14" name="text 372"/>
          <p:cNvSpPr txBox="1"/>
          <p:nvPr/>
        </p:nvSpPr>
        <p:spPr>
          <a:xfrm>
            <a:off x="1508760" y="3749040"/>
            <a:ext cx="9875520" cy="713232"/>
          </a:xfrm>
          <a:prstGeom prst="rect">
            <a:avLst/>
          </a:prstGeom>
          <a:noFill/>
          <a:ln/>
        </p:spPr>
        <p:txBody>
          <a:bodyPr wrap="square" lIns="0" tIns="0" rIns="0" bIns="0" rtlCol="0" anchor="t"/>
          <a:lstStyle/>
          <a:p>
            <a:pPr indent="0" marL="0">
              <a:buNone/>
            </a:pPr>
            <a:r>
              <a:rPr lang="en-US" sz="1300" dirty="0">
                <a:solidFill>
                  <a:schemeClr val="tx2"/>
                </a:solidFill>
              </a:rPr>
              <a:t>This practical guide walks through the complete workflow: create a branch, commit and push changes, open a pull request, address feedback, merge, and delete the finished branch. It is particularly useful for establishing a consistent collaboration process for student projects or development teams.</a:t>
            </a:r>
            <a:endParaRPr lang="en-US" sz="1300" dirty="0"/>
          </a:p>
        </p:txBody>
      </p:sp>
      <p:sp>
        <p:nvSpPr>
          <p:cNvPr id="15" name="card 373"/>
          <p:cNvSpPr/>
          <p:nvPr/>
        </p:nvSpPr>
        <p:spPr>
          <a:xfrm>
            <a:off x="548640" y="4617720"/>
            <a:ext cx="11064240" cy="1508760"/>
          </a:xfrm>
          <a:prstGeom prst="roundRect">
            <a:avLst>
              <a:gd name="adj" fmla="val 7273"/>
            </a:avLst>
          </a:prstGeom>
          <a:solidFill>
            <a:schemeClr val="bg2"/>
          </a:solidFill>
          <a:ln w="9525">
            <a:solidFill>
              <a:schemeClr val="bg2"/>
            </a:solidFill>
            <a:prstDash val="solid"/>
          </a:ln>
        </p:spPr>
      </p:sp>
      <p:sp>
        <p:nvSpPr>
          <p:cNvPr id="16" name="number 374"/>
          <p:cNvSpPr/>
          <p:nvPr/>
        </p:nvSpPr>
        <p:spPr>
          <a:xfrm>
            <a:off x="841248" y="4791456"/>
            <a:ext cx="420624" cy="420624"/>
          </a:xfrm>
          <a:prstGeom prst="ellipse">
            <a:avLst/>
          </a:prstGeom>
          <a:solidFill>
            <a:schemeClr val="accent3"/>
          </a:solidFill>
          <a:ln w="6350">
            <a:solidFill>
              <a:schemeClr val="accent3"/>
            </a:solidFill>
            <a:prstDash val="solid"/>
          </a:ln>
        </p:spPr>
      </p:sp>
      <p:sp>
        <p:nvSpPr>
          <p:cNvPr id="17" name="text 375"/>
          <p:cNvSpPr txBox="1"/>
          <p:nvPr/>
        </p:nvSpPr>
        <p:spPr>
          <a:xfrm>
            <a:off x="841248" y="4791456"/>
            <a:ext cx="420624" cy="42062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8" name="text 376"/>
          <p:cNvSpPr txBox="1"/>
          <p:nvPr/>
        </p:nvSpPr>
        <p:spPr>
          <a:xfrm>
            <a:off x="1508760" y="4754880"/>
            <a:ext cx="9875520" cy="365760"/>
          </a:xfrm>
          <a:prstGeom prst="rect">
            <a:avLst/>
          </a:prstGeom>
          <a:noFill/>
          <a:ln/>
        </p:spPr>
        <p:txBody>
          <a:bodyPr wrap="square" lIns="0" tIns="0" rIns="0" bIns="0" rtlCol="0" anchor="ctr"/>
          <a:lstStyle/>
          <a:p>
            <a:pPr indent="0" marL="0">
              <a:buNone/>
            </a:pPr>
            <a:r>
              <a:rPr lang="en-US" sz="1600" b="1" dirty="0">
                <a:solidFill>
                  <a:schemeClr val="tx1"/>
                </a:solidFill>
              </a:rPr>
              <a:t>Pro Git — Git Branching, Chapter 3</a:t>
            </a:r>
            <a:endParaRPr lang="en-US" sz="1600" dirty="0"/>
          </a:p>
        </p:txBody>
      </p:sp>
      <p:sp>
        <p:nvSpPr>
          <p:cNvPr id="19" name="reference link 3"/>
          <p:cNvSpPr txBox="1"/>
          <p:nvPr/>
        </p:nvSpPr>
        <p:spPr>
          <a:xfrm>
            <a:off x="1508760" y="5102352"/>
            <a:ext cx="9875520" cy="274320"/>
          </a:xfrm>
          <a:prstGeom prst="rect">
            <a:avLst/>
          </a:prstGeom>
          <a:noFill/>
          <a:ln/>
        </p:spPr>
        <p:txBody>
          <a:bodyPr wrap="square" lIns="0" tIns="0" rIns="0" bIns="0" rtlCol="0" anchor="ctr"/>
          <a:lstStyle/>
          <a:p>
            <a:pPr indent="0" marL="0">
              <a:buNone/>
            </a:pPr>
            <a:r>
              <a:rPr lang="en-US" sz="1150" u="sng" dirty="0">
                <a:solidFill>
                  <a:schemeClr val="accent3"/>
                </a:solidFill>
                <a:latin typeface="Courier New" pitchFamily="34" charset="0"/>
                <a:ea typeface="Courier New" pitchFamily="34" charset="-122"/>
                <a:cs typeface="Courier New" pitchFamily="34" charset="-120"/>
                <a:hlinkClick r:id="rId3" invalidUrl="" action="" tgtFrame="" tooltip="Pro Git — Git Branching, Chapter 3" history="1" highlightClick="0" endSnd="0">
                  <a:extLst>
                    <a:ext uri="{A12FA001-AC4F-418D-AE19-62706E023703}">
                      <ahyp:hlinkClr xmlns:ahyp="http://schemas.microsoft.com/office/drawing/2018/hyperlinkcolor" val="tx"/>
                    </a:ext>
                  </a:extLst>
                </a:hlinkClick>
              </a:rPr>
              <a:t>https://git-scm.com/book/en/v2/Git-Branching-Branches-in-a-Nutshell</a:t>
            </a:r>
            <a:endParaRPr lang="en-US" sz="1150" dirty="0"/>
          </a:p>
        </p:txBody>
      </p:sp>
      <p:sp>
        <p:nvSpPr>
          <p:cNvPr id="20" name="text 377"/>
          <p:cNvSpPr txBox="1"/>
          <p:nvPr/>
        </p:nvSpPr>
        <p:spPr>
          <a:xfrm>
            <a:off x="1508760" y="5394960"/>
            <a:ext cx="9875520" cy="713232"/>
          </a:xfrm>
          <a:prstGeom prst="rect">
            <a:avLst/>
          </a:prstGeom>
          <a:noFill/>
          <a:ln/>
        </p:spPr>
        <p:txBody>
          <a:bodyPr wrap="square" lIns="0" tIns="0" rIns="0" bIns="0" rtlCol="0" anchor="t"/>
          <a:lstStyle/>
          <a:p>
            <a:pPr indent="0" marL="0">
              <a:buNone/>
            </a:pPr>
            <a:r>
              <a:rPr lang="en-US" sz="1300" dirty="0">
                <a:solidFill>
                  <a:schemeClr val="tx2"/>
                </a:solidFill>
              </a:rPr>
              <a:t>Hosted on Git’s official website, this book explains the underlying mechanics of branches using diagrams and command-line examples, beginning with branches as movable pointers to commits. Continue through Chapter 3 for branching and merging, branch management, remote branches, and rebasing—the deeper foundation for understanding what GitHub does with your repository.</a:t>
            </a:r>
            <a:endParaRPr lang="en-US" sz="1300" dirty="0"/>
          </a:p>
        </p:txBody>
      </p:sp>
      <p:sp>
        <p:nvSpPr>
          <p:cNvPr id="25" name="Slide Number Placeholder 0"/>
          <p:cNvSpPr>
            <a:spLocks noGrp="1"/>
          </p:cNvSpPr>
          <p:nvPr>
            <p:ph type="sldNum" sz="quarter" idx="4294967295"/>
          </p:nvPr>
        </p:nvSpPr>
        <p:spPr>
          <a:xfrm>
            <a:off x="10972800" y="6382512"/>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Teal Trust">
  <a:themeElements>
    <a:clrScheme name="Teal Trust">
      <a:dk1>
        <a:srgbClr val="FFFFFF"/>
      </a:dk1>
      <a:lt1>
        <a:srgbClr val="012E36"/>
      </a:lt1>
      <a:dk2>
        <a:srgbClr val="CFE9EA"/>
      </a:dk2>
      <a:lt2>
        <a:srgbClr val="063F49"/>
      </a:lt2>
      <a:accent1>
        <a:srgbClr val="028090"/>
      </a:accent1>
      <a:accent2>
        <a:srgbClr val="00A896"/>
      </a:accent2>
      <a:accent3>
        <a:srgbClr val="02C39A"/>
      </a:accent3>
      <a:accent4>
        <a:srgbClr val="8FBFC4"/>
      </a:accent4>
      <a:accent5>
        <a:srgbClr val="F2B35C"/>
      </a:accent5>
      <a:accent6>
        <a:srgbClr val="E07A5F"/>
      </a:accent6>
      <a:hlink>
        <a:srgbClr val="02C39A"/>
      </a:hlink>
      <a:folHlink>
        <a:srgbClr val="8FBFC4"/>
      </a:folHlink>
    </a:clrScheme>
    <a:fontScheme name="Teal Trus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Branches for Agentic Coding</dc:title>
  <dc:subject>PptxGenJS Presentation</dc:subject>
  <dc:creator>Andy</dc:creator>
  <cp:lastModifiedBy>Andy</cp:lastModifiedBy>
  <cp:revision>1</cp:revision>
  <dcterms:created xsi:type="dcterms:W3CDTF">2026-10-04T13:16:42Z</dcterms:created>
  <dcterms:modified xsi:type="dcterms:W3CDTF">2026-10-04T13:16:42Z</dcterms:modified>
</cp:coreProperties>
</file>